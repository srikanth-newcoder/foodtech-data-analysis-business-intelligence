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0" r:id="rId4"/>
    <p:sldId id="281" r:id="rId5"/>
    <p:sldId id="282" r:id="rId6"/>
    <p:sldId id="283" r:id="rId7"/>
    <p:sldId id="284" r:id="rId8"/>
    <p:sldId id="285" r:id="rId9"/>
    <p:sldId id="264" r:id="rId10"/>
    <p:sldId id="286" r:id="rId11"/>
    <p:sldId id="287" r:id="rId12"/>
    <p:sldId id="266" r:id="rId13"/>
    <p:sldId id="288" r:id="rId14"/>
    <p:sldId id="290" r:id="rId15"/>
    <p:sldId id="289" r:id="rId16"/>
    <p:sldId id="291" r:id="rId17"/>
    <p:sldId id="292" r:id="rId18"/>
    <p:sldId id="293" r:id="rId19"/>
    <p:sldId id="294" r:id="rId20"/>
    <p:sldId id="296" r:id="rId21"/>
    <p:sldId id="295" r:id="rId22"/>
    <p:sldId id="297" r:id="rId23"/>
    <p:sldId id="298" r:id="rId24"/>
    <p:sldId id="299" r:id="rId25"/>
    <p:sldId id="300" r:id="rId26"/>
    <p:sldId id="301" r:id="rId27"/>
    <p:sldId id="303" r:id="rId28"/>
    <p:sldId id="304"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EF4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F95AC7-739F-41D1-A101-4AB7FBD64AD4}" type="doc">
      <dgm:prSet loTypeId="urn:microsoft.com/office/officeart/2005/8/layout/matrix1" loCatId="matrix" qsTypeId="urn:microsoft.com/office/officeart/2005/8/quickstyle/simple1" qsCatId="simple" csTypeId="urn:microsoft.com/office/officeart/2005/8/colors/accent1_1" csCatId="accent1" phldr="1"/>
      <dgm:spPr/>
      <dgm:t>
        <a:bodyPr/>
        <a:lstStyle/>
        <a:p>
          <a:endParaRPr lang="en-US"/>
        </a:p>
      </dgm:t>
    </dgm:pt>
    <dgm:pt modelId="{5268F9B1-B762-425A-9F82-9DBCAF29898C}">
      <dgm:prSet phldrT="[Text]" phldr="0" custT="1"/>
      <dgm:spPr/>
      <dgm:t>
        <a:bodyPr/>
        <a:lstStyle/>
        <a:p>
          <a:r>
            <a:rPr lang="en-US" sz="2000" b="1">
              <a:latin typeface="+mj-lt"/>
            </a:rPr>
            <a:t>Business Objectives and Analytical Scope</a:t>
          </a:r>
          <a:endParaRPr lang="en-US" sz="2000" b="1" dirty="0">
            <a:latin typeface="+mj-lt"/>
          </a:endParaRPr>
        </a:p>
      </dgm:t>
    </dgm:pt>
    <dgm:pt modelId="{E3A9873F-1B33-46CA-AF66-684FACCC00FC}" type="parTrans" cxnId="{2EE7551C-84EF-45A2-854E-9A5C4ECE0111}">
      <dgm:prSet/>
      <dgm:spPr/>
      <dgm:t>
        <a:bodyPr/>
        <a:lstStyle/>
        <a:p>
          <a:endParaRPr lang="en-US"/>
        </a:p>
      </dgm:t>
    </dgm:pt>
    <dgm:pt modelId="{1ABAF384-28C4-4DF5-B7DB-9ED1DBFAFA4F}" type="sibTrans" cxnId="{2EE7551C-84EF-45A2-854E-9A5C4ECE0111}">
      <dgm:prSet/>
      <dgm:spPr/>
      <dgm:t>
        <a:bodyPr/>
        <a:lstStyle/>
        <a:p>
          <a:endParaRPr lang="en-US"/>
        </a:p>
      </dgm:t>
    </dgm:pt>
    <dgm:pt modelId="{260FCEE8-984B-42D6-85C8-A8F2AAB025D0}">
      <dgm:prSet phldrT="[Text]" phldr="0" custT="1"/>
      <dgm:spPr/>
      <dgm:t>
        <a:bodyPr/>
        <a:lstStyle/>
        <a:p>
          <a:pPr algn="ctr">
            <a:buNone/>
          </a:pPr>
          <a:endParaRPr lang="en-US" sz="1600" b="1" dirty="0"/>
        </a:p>
        <a:p>
          <a:pPr algn="ctr">
            <a:buNone/>
          </a:pPr>
          <a:endParaRPr lang="en-US" sz="1600" b="1" dirty="0"/>
        </a:p>
        <a:p>
          <a:pPr algn="ctr">
            <a:buNone/>
          </a:pPr>
          <a:r>
            <a:rPr lang="en-US" sz="1600" b="1" dirty="0">
              <a:solidFill>
                <a:srgbClr val="FF0000"/>
              </a:solidFill>
            </a:rPr>
            <a:t>Objective 1:  Identify Market Expansion Opportunities </a:t>
          </a:r>
        </a:p>
        <a:p>
          <a:pPr algn="ctr">
            <a:buNone/>
          </a:pPr>
          <a:r>
            <a:rPr lang="en-US" sz="1400" b="1" dirty="0"/>
            <a:t>Analyze regional demand, revenue potential, customer segments and cuisine preferences to identify high-potential markets for expansion</a:t>
          </a:r>
        </a:p>
        <a:p>
          <a:pPr algn="ctr">
            <a:buNone/>
          </a:pPr>
          <a:r>
            <a:rPr lang="en-US" sz="1400" b="1" dirty="0"/>
            <a:t>Key analysis areas:</a:t>
          </a:r>
        </a:p>
        <a:p>
          <a:pPr algn="ctr">
            <a:buFont typeface="Arial" panose="020B0604020202020204" pitchFamily="34" charset="0"/>
            <a:buChar char="•"/>
          </a:pPr>
          <a:r>
            <a:rPr lang="en-US" sz="1400" b="1" dirty="0"/>
            <a:t>* Regional Revenue and Demand</a:t>
          </a:r>
        </a:p>
        <a:p>
          <a:pPr algn="ctr">
            <a:buFont typeface="Arial" panose="020B0604020202020204" pitchFamily="34" charset="0"/>
            <a:buChar char="•"/>
          </a:pPr>
          <a:r>
            <a:rPr lang="en-US" sz="1400" b="1" dirty="0"/>
            <a:t>* Customer segment contribution</a:t>
          </a:r>
        </a:p>
        <a:p>
          <a:pPr algn="ctr">
            <a:buFont typeface="Arial" panose="020B0604020202020204" pitchFamily="34" charset="0"/>
            <a:buChar char="•"/>
          </a:pPr>
          <a:r>
            <a:rPr lang="en-US" sz="1400" b="1" dirty="0"/>
            <a:t>* Cuisine performance</a:t>
          </a:r>
        </a:p>
      </dgm:t>
    </dgm:pt>
    <dgm:pt modelId="{C49915B4-813E-449E-9200-B03A095621BE}" type="parTrans" cxnId="{F2BFA892-3845-4F77-8773-04E33F9B9C56}">
      <dgm:prSet/>
      <dgm:spPr/>
      <dgm:t>
        <a:bodyPr/>
        <a:lstStyle/>
        <a:p>
          <a:endParaRPr lang="en-US"/>
        </a:p>
      </dgm:t>
    </dgm:pt>
    <dgm:pt modelId="{E4C3A268-6746-4E02-8163-77B028430ADC}" type="sibTrans" cxnId="{F2BFA892-3845-4F77-8773-04E33F9B9C56}">
      <dgm:prSet/>
      <dgm:spPr/>
      <dgm:t>
        <a:bodyPr/>
        <a:lstStyle/>
        <a:p>
          <a:endParaRPr lang="en-US"/>
        </a:p>
      </dgm:t>
    </dgm:pt>
    <dgm:pt modelId="{BE815BEE-2145-46FF-B1AB-563C1859BAA4}">
      <dgm:prSet phldrT="[Text]" custT="1"/>
      <dgm:spPr/>
      <dgm:t>
        <a:bodyPr/>
        <a:lstStyle/>
        <a:p>
          <a:endParaRPr lang="en-US" sz="1600" b="1" dirty="0"/>
        </a:p>
        <a:p>
          <a:endParaRPr lang="en-US" sz="1600" b="1" dirty="0"/>
        </a:p>
        <a:p>
          <a:r>
            <a:rPr lang="en-US" sz="1600" b="1" dirty="0">
              <a:solidFill>
                <a:srgbClr val="FF0000"/>
              </a:solidFill>
            </a:rPr>
            <a:t>Objective 2: Improve Delivery and Logistics Efficiency</a:t>
          </a:r>
        </a:p>
        <a:p>
          <a:r>
            <a:rPr lang="en-US" sz="1400" b="1" dirty="0"/>
            <a:t>Evaluate delivery time, vehicle performance, delivery partner efficiency, and operational factors affecting delivery performance</a:t>
          </a:r>
          <a:r>
            <a:rPr lang="en-US" sz="1400" dirty="0"/>
            <a:t>.</a:t>
          </a:r>
        </a:p>
        <a:p>
          <a:r>
            <a:rPr lang="en-US" sz="1400" b="1" dirty="0"/>
            <a:t>Key analysis areas:</a:t>
          </a:r>
        </a:p>
        <a:p>
          <a:r>
            <a:rPr lang="en-US" sz="1400" b="1" dirty="0"/>
            <a:t>*Delivery-time categories</a:t>
          </a:r>
        </a:p>
        <a:p>
          <a:r>
            <a:rPr lang="en-US" sz="1400" b="1" dirty="0"/>
            <a:t>* Vehicle-wise performance</a:t>
          </a:r>
        </a:p>
        <a:p>
          <a:r>
            <a:rPr lang="en-US" sz="1400" b="1" dirty="0"/>
            <a:t>* Delivery speed and efficiency</a:t>
          </a:r>
        </a:p>
      </dgm:t>
    </dgm:pt>
    <dgm:pt modelId="{3008B454-2C0B-4486-94F9-3E515680B60A}" type="parTrans" cxnId="{34A55369-CE00-4236-8E75-E9BDF5F479FE}">
      <dgm:prSet/>
      <dgm:spPr/>
      <dgm:t>
        <a:bodyPr/>
        <a:lstStyle/>
        <a:p>
          <a:endParaRPr lang="en-US"/>
        </a:p>
      </dgm:t>
    </dgm:pt>
    <dgm:pt modelId="{AA0B3329-4FA7-4673-AA37-88ABBAE2FD2F}" type="sibTrans" cxnId="{34A55369-CE00-4236-8E75-E9BDF5F479FE}">
      <dgm:prSet/>
      <dgm:spPr/>
      <dgm:t>
        <a:bodyPr/>
        <a:lstStyle/>
        <a:p>
          <a:endParaRPr lang="en-US"/>
        </a:p>
      </dgm:t>
    </dgm:pt>
    <dgm:pt modelId="{D73BDCFD-0DA8-4107-A398-D3AEE01C1693}">
      <dgm:prSet phldrT="[Text]" phldr="0" custT="1"/>
      <dgm:spPr/>
      <dgm:t>
        <a:bodyPr/>
        <a:lstStyle/>
        <a:p>
          <a:pPr>
            <a:buNone/>
          </a:pPr>
          <a:r>
            <a:rPr lang="en-US" sz="1600" b="1" dirty="0">
              <a:solidFill>
                <a:srgbClr val="FF0000"/>
              </a:solidFill>
              <a:latin typeface="+mn-lt"/>
            </a:rPr>
            <a:t>Objective 3: Understand Customer Behavior and Loyalty</a:t>
          </a:r>
        </a:p>
        <a:p>
          <a:pPr>
            <a:buNone/>
          </a:pPr>
          <a:r>
            <a:rPr lang="en-US" sz="1400" b="1" dirty="0">
              <a:latin typeface="+mn-lt"/>
            </a:rPr>
            <a:t>Examine customer purchasing patterns, spending behavior, ratings and segment level performance to support customer retention</a:t>
          </a:r>
          <a:r>
            <a:rPr lang="en-US" sz="1400" dirty="0">
              <a:latin typeface="+mn-lt"/>
            </a:rPr>
            <a:t>.</a:t>
          </a:r>
        </a:p>
        <a:p>
          <a:pPr>
            <a:buNone/>
          </a:pPr>
          <a:r>
            <a:rPr lang="en-US" sz="1400" b="1" dirty="0">
              <a:latin typeface="+mn-lt"/>
            </a:rPr>
            <a:t>Key analysis areas:</a:t>
          </a:r>
        </a:p>
        <a:p>
          <a:pPr>
            <a:buFont typeface="Arial" panose="020B0604020202020204" pitchFamily="34" charset="0"/>
            <a:buNone/>
          </a:pPr>
          <a:r>
            <a:rPr lang="en-US" sz="1400" b="1" dirty="0">
              <a:latin typeface="+mn-lt"/>
            </a:rPr>
            <a:t>* Customer spending patterns</a:t>
          </a:r>
        </a:p>
        <a:p>
          <a:pPr>
            <a:buFont typeface="Arial" panose="020B0604020202020204" pitchFamily="34" charset="0"/>
            <a:buNone/>
          </a:pPr>
          <a:r>
            <a:rPr lang="en-US" sz="1400" b="1" dirty="0">
              <a:latin typeface="+mn-lt"/>
            </a:rPr>
            <a:t>* Customer segment</a:t>
          </a:r>
        </a:p>
        <a:p>
          <a:pPr>
            <a:buFont typeface="Arial" panose="020B0604020202020204" pitchFamily="34" charset="0"/>
            <a:buNone/>
          </a:pPr>
          <a:r>
            <a:rPr lang="en-US" sz="1400" b="1" dirty="0">
              <a:latin typeface="+mn-lt"/>
            </a:rPr>
            <a:t>* Ratings and engagement</a:t>
          </a:r>
        </a:p>
      </dgm:t>
    </dgm:pt>
    <dgm:pt modelId="{7E953B49-80FA-4640-A7B1-B5E4C9759B70}" type="parTrans" cxnId="{D6C12CA8-D844-404B-A86A-DDE97CF67454}">
      <dgm:prSet/>
      <dgm:spPr/>
      <dgm:t>
        <a:bodyPr/>
        <a:lstStyle/>
        <a:p>
          <a:endParaRPr lang="en-US"/>
        </a:p>
      </dgm:t>
    </dgm:pt>
    <dgm:pt modelId="{769C985E-E45E-462F-A617-1AB6C5519DC9}" type="sibTrans" cxnId="{D6C12CA8-D844-404B-A86A-DDE97CF67454}">
      <dgm:prSet/>
      <dgm:spPr/>
      <dgm:t>
        <a:bodyPr/>
        <a:lstStyle/>
        <a:p>
          <a:endParaRPr lang="en-US"/>
        </a:p>
      </dgm:t>
    </dgm:pt>
    <dgm:pt modelId="{8FA28835-26E9-4982-B156-EFCBC2E96D03}">
      <dgm:prSet phldrT="[Text]" phldr="0" custT="1"/>
      <dgm:spPr/>
      <dgm:t>
        <a:bodyPr/>
        <a:lstStyle/>
        <a:p>
          <a:r>
            <a:rPr lang="en-US" sz="1600" b="1" dirty="0">
              <a:solidFill>
                <a:srgbClr val="FF0000"/>
              </a:solidFill>
            </a:rPr>
            <a:t>Objective 4: Evaluate overall business performance</a:t>
          </a:r>
        </a:p>
        <a:p>
          <a:r>
            <a:rPr lang="en-US" sz="1400" b="1" dirty="0"/>
            <a:t>Assess restaurant, cuisine, delivery and monthly business trends to support operational planning and strategic decision-making</a:t>
          </a:r>
        </a:p>
        <a:p>
          <a:r>
            <a:rPr lang="en-US" sz="1400" b="1" dirty="0"/>
            <a:t>Key analysis areas:</a:t>
          </a:r>
        </a:p>
        <a:p>
          <a:r>
            <a:rPr lang="en-US" sz="1400" b="1" dirty="0"/>
            <a:t>* Restaurant performance</a:t>
          </a:r>
        </a:p>
        <a:p>
          <a:r>
            <a:rPr lang="en-US" sz="1400" b="1" dirty="0"/>
            <a:t>* Revenue and order trends</a:t>
          </a:r>
        </a:p>
        <a:p>
          <a:r>
            <a:rPr lang="en-US" sz="1400" b="1" dirty="0"/>
            <a:t>* Operational performance</a:t>
          </a:r>
        </a:p>
      </dgm:t>
    </dgm:pt>
    <dgm:pt modelId="{9E8F8361-ED4D-4140-85EF-0C0607F5E616}" type="parTrans" cxnId="{DDD43665-EB93-4C46-883D-567C98F64416}">
      <dgm:prSet/>
      <dgm:spPr/>
      <dgm:t>
        <a:bodyPr/>
        <a:lstStyle/>
        <a:p>
          <a:endParaRPr lang="en-US"/>
        </a:p>
      </dgm:t>
    </dgm:pt>
    <dgm:pt modelId="{7E704226-CA26-4C68-A95A-AA0D41DB9BDA}" type="sibTrans" cxnId="{DDD43665-EB93-4C46-883D-567C98F64416}">
      <dgm:prSet/>
      <dgm:spPr/>
      <dgm:t>
        <a:bodyPr/>
        <a:lstStyle/>
        <a:p>
          <a:endParaRPr lang="en-US"/>
        </a:p>
      </dgm:t>
    </dgm:pt>
    <dgm:pt modelId="{09F57878-A1E3-49AE-8304-88A1621E544F}" type="pres">
      <dgm:prSet presAssocID="{9FF95AC7-739F-41D1-A101-4AB7FBD64AD4}" presName="diagram" presStyleCnt="0">
        <dgm:presLayoutVars>
          <dgm:chMax val="1"/>
          <dgm:dir/>
          <dgm:animLvl val="ctr"/>
          <dgm:resizeHandles val="exact"/>
        </dgm:presLayoutVars>
      </dgm:prSet>
      <dgm:spPr/>
    </dgm:pt>
    <dgm:pt modelId="{9BEBE7BB-E42B-4476-8A42-36ABD994D772}" type="pres">
      <dgm:prSet presAssocID="{9FF95AC7-739F-41D1-A101-4AB7FBD64AD4}" presName="matrix" presStyleCnt="0"/>
      <dgm:spPr/>
    </dgm:pt>
    <dgm:pt modelId="{356955B4-6222-4067-A430-D49426E6D952}" type="pres">
      <dgm:prSet presAssocID="{9FF95AC7-739F-41D1-A101-4AB7FBD64AD4}" presName="tile1" presStyleLbl="node1" presStyleIdx="0" presStyleCnt="4" custLinFactNeighborY="-445"/>
      <dgm:spPr/>
    </dgm:pt>
    <dgm:pt modelId="{12E45051-F2FE-4201-B428-EB6069B24A62}" type="pres">
      <dgm:prSet presAssocID="{9FF95AC7-739F-41D1-A101-4AB7FBD64AD4}" presName="tile1text" presStyleLbl="node1" presStyleIdx="0" presStyleCnt="4">
        <dgm:presLayoutVars>
          <dgm:chMax val="0"/>
          <dgm:chPref val="0"/>
          <dgm:bulletEnabled val="1"/>
        </dgm:presLayoutVars>
      </dgm:prSet>
      <dgm:spPr/>
    </dgm:pt>
    <dgm:pt modelId="{C9578589-9D23-4EC6-80D5-D9463D446359}" type="pres">
      <dgm:prSet presAssocID="{9FF95AC7-739F-41D1-A101-4AB7FBD64AD4}" presName="tile2" presStyleLbl="node1" presStyleIdx="1" presStyleCnt="4" custLinFactNeighborX="2108" custLinFactNeighborY="-1004"/>
      <dgm:spPr/>
    </dgm:pt>
    <dgm:pt modelId="{91ADAFFB-C2C2-4688-A2C9-C50D08AF2571}" type="pres">
      <dgm:prSet presAssocID="{9FF95AC7-739F-41D1-A101-4AB7FBD64AD4}" presName="tile2text" presStyleLbl="node1" presStyleIdx="1" presStyleCnt="4">
        <dgm:presLayoutVars>
          <dgm:chMax val="0"/>
          <dgm:chPref val="0"/>
          <dgm:bulletEnabled val="1"/>
        </dgm:presLayoutVars>
      </dgm:prSet>
      <dgm:spPr/>
    </dgm:pt>
    <dgm:pt modelId="{6CFDAE43-1329-4C1C-AA70-D7ED48F02174}" type="pres">
      <dgm:prSet presAssocID="{9FF95AC7-739F-41D1-A101-4AB7FBD64AD4}" presName="tile3" presStyleLbl="node1" presStyleIdx="2" presStyleCnt="4"/>
      <dgm:spPr/>
    </dgm:pt>
    <dgm:pt modelId="{4FD819D5-1020-441C-A55B-F8673E2514B9}" type="pres">
      <dgm:prSet presAssocID="{9FF95AC7-739F-41D1-A101-4AB7FBD64AD4}" presName="tile3text" presStyleLbl="node1" presStyleIdx="2" presStyleCnt="4">
        <dgm:presLayoutVars>
          <dgm:chMax val="0"/>
          <dgm:chPref val="0"/>
          <dgm:bulletEnabled val="1"/>
        </dgm:presLayoutVars>
      </dgm:prSet>
      <dgm:spPr/>
    </dgm:pt>
    <dgm:pt modelId="{CD3B6828-7AF1-4686-AF7D-BA5709F3824E}" type="pres">
      <dgm:prSet presAssocID="{9FF95AC7-739F-41D1-A101-4AB7FBD64AD4}" presName="tile4" presStyleLbl="node1" presStyleIdx="3" presStyleCnt="4"/>
      <dgm:spPr/>
    </dgm:pt>
    <dgm:pt modelId="{EA8F3243-2452-466D-A8E7-22ADF81D30D3}" type="pres">
      <dgm:prSet presAssocID="{9FF95AC7-739F-41D1-A101-4AB7FBD64AD4}" presName="tile4text" presStyleLbl="node1" presStyleIdx="3" presStyleCnt="4">
        <dgm:presLayoutVars>
          <dgm:chMax val="0"/>
          <dgm:chPref val="0"/>
          <dgm:bulletEnabled val="1"/>
        </dgm:presLayoutVars>
      </dgm:prSet>
      <dgm:spPr/>
    </dgm:pt>
    <dgm:pt modelId="{29CD2DEF-83AB-4D8A-B95A-211A2DE9D873}" type="pres">
      <dgm:prSet presAssocID="{9FF95AC7-739F-41D1-A101-4AB7FBD64AD4}" presName="centerTile" presStyleLbl="fgShp" presStyleIdx="0" presStyleCnt="1">
        <dgm:presLayoutVars>
          <dgm:chMax val="0"/>
          <dgm:chPref val="0"/>
        </dgm:presLayoutVars>
      </dgm:prSet>
      <dgm:spPr/>
    </dgm:pt>
  </dgm:ptLst>
  <dgm:cxnLst>
    <dgm:cxn modelId="{6E15570D-DD53-4268-A7B2-12BBC2D8F0E8}" type="presOf" srcId="{8FA28835-26E9-4982-B156-EFCBC2E96D03}" destId="{EA8F3243-2452-466D-A8E7-22ADF81D30D3}" srcOrd="1" destOrd="0" presId="urn:microsoft.com/office/officeart/2005/8/layout/matrix1"/>
    <dgm:cxn modelId="{D613AB12-8223-4A7A-B242-961E260171E0}" type="presOf" srcId="{BE815BEE-2145-46FF-B1AB-563C1859BAA4}" destId="{91ADAFFB-C2C2-4688-A2C9-C50D08AF2571}" srcOrd="1" destOrd="0" presId="urn:microsoft.com/office/officeart/2005/8/layout/matrix1"/>
    <dgm:cxn modelId="{2EE7551C-84EF-45A2-854E-9A5C4ECE0111}" srcId="{9FF95AC7-739F-41D1-A101-4AB7FBD64AD4}" destId="{5268F9B1-B762-425A-9F82-9DBCAF29898C}" srcOrd="0" destOrd="0" parTransId="{E3A9873F-1B33-46CA-AF66-684FACCC00FC}" sibTransId="{1ABAF384-28C4-4DF5-B7DB-9ED1DBFAFA4F}"/>
    <dgm:cxn modelId="{27994D1E-5AD7-426B-A526-84EC5B8B0DA8}" type="presOf" srcId="{D73BDCFD-0DA8-4107-A398-D3AEE01C1693}" destId="{6CFDAE43-1329-4C1C-AA70-D7ED48F02174}" srcOrd="0" destOrd="0" presId="urn:microsoft.com/office/officeart/2005/8/layout/matrix1"/>
    <dgm:cxn modelId="{86692D2D-B646-4210-BD06-0B588F11AB89}" type="presOf" srcId="{BE815BEE-2145-46FF-B1AB-563C1859BAA4}" destId="{C9578589-9D23-4EC6-80D5-D9463D446359}" srcOrd="0" destOrd="0" presId="urn:microsoft.com/office/officeart/2005/8/layout/matrix1"/>
    <dgm:cxn modelId="{DDD43665-EB93-4C46-883D-567C98F64416}" srcId="{5268F9B1-B762-425A-9F82-9DBCAF29898C}" destId="{8FA28835-26E9-4982-B156-EFCBC2E96D03}" srcOrd="3" destOrd="0" parTransId="{9E8F8361-ED4D-4140-85EF-0C0607F5E616}" sibTransId="{7E704226-CA26-4C68-A95A-AA0D41DB9BDA}"/>
    <dgm:cxn modelId="{34A55369-CE00-4236-8E75-E9BDF5F479FE}" srcId="{5268F9B1-B762-425A-9F82-9DBCAF29898C}" destId="{BE815BEE-2145-46FF-B1AB-563C1859BAA4}" srcOrd="1" destOrd="0" parTransId="{3008B454-2C0B-4486-94F9-3E515680B60A}" sibTransId="{AA0B3329-4FA7-4673-AA37-88ABBAE2FD2F}"/>
    <dgm:cxn modelId="{480CBC50-23CE-46E7-855B-BE37CD9514BA}" type="presOf" srcId="{260FCEE8-984B-42D6-85C8-A8F2AAB025D0}" destId="{12E45051-F2FE-4201-B428-EB6069B24A62}" srcOrd="1" destOrd="0" presId="urn:microsoft.com/office/officeart/2005/8/layout/matrix1"/>
    <dgm:cxn modelId="{3B9A9490-ADBB-43AA-AFDD-1086E55A5E05}" type="presOf" srcId="{8FA28835-26E9-4982-B156-EFCBC2E96D03}" destId="{CD3B6828-7AF1-4686-AF7D-BA5709F3824E}" srcOrd="0" destOrd="0" presId="urn:microsoft.com/office/officeart/2005/8/layout/matrix1"/>
    <dgm:cxn modelId="{F2BFA892-3845-4F77-8773-04E33F9B9C56}" srcId="{5268F9B1-B762-425A-9F82-9DBCAF29898C}" destId="{260FCEE8-984B-42D6-85C8-A8F2AAB025D0}" srcOrd="0" destOrd="0" parTransId="{C49915B4-813E-449E-9200-B03A095621BE}" sibTransId="{E4C3A268-6746-4E02-8163-77B028430ADC}"/>
    <dgm:cxn modelId="{356A61A7-1308-4AEC-ADB7-CC44CE2A57C6}" type="presOf" srcId="{5268F9B1-B762-425A-9F82-9DBCAF29898C}" destId="{29CD2DEF-83AB-4D8A-B95A-211A2DE9D873}" srcOrd="0" destOrd="0" presId="urn:microsoft.com/office/officeart/2005/8/layout/matrix1"/>
    <dgm:cxn modelId="{D6C12CA8-D844-404B-A86A-DDE97CF67454}" srcId="{5268F9B1-B762-425A-9F82-9DBCAF29898C}" destId="{D73BDCFD-0DA8-4107-A398-D3AEE01C1693}" srcOrd="2" destOrd="0" parTransId="{7E953B49-80FA-4640-A7B1-B5E4C9759B70}" sibTransId="{769C985E-E45E-462F-A617-1AB6C5519DC9}"/>
    <dgm:cxn modelId="{D35CA4BF-AAE9-4532-9081-5B0193DF1947}" type="presOf" srcId="{9FF95AC7-739F-41D1-A101-4AB7FBD64AD4}" destId="{09F57878-A1E3-49AE-8304-88A1621E544F}" srcOrd="0" destOrd="0" presId="urn:microsoft.com/office/officeart/2005/8/layout/matrix1"/>
    <dgm:cxn modelId="{275F00DD-060A-4953-AF12-94A45552F8FD}" type="presOf" srcId="{260FCEE8-984B-42D6-85C8-A8F2AAB025D0}" destId="{356955B4-6222-4067-A430-D49426E6D952}" srcOrd="0" destOrd="0" presId="urn:microsoft.com/office/officeart/2005/8/layout/matrix1"/>
    <dgm:cxn modelId="{9775BCEE-C4DA-459D-BB31-053CF61F9644}" type="presOf" srcId="{D73BDCFD-0DA8-4107-A398-D3AEE01C1693}" destId="{4FD819D5-1020-441C-A55B-F8673E2514B9}" srcOrd="1" destOrd="0" presId="urn:microsoft.com/office/officeart/2005/8/layout/matrix1"/>
    <dgm:cxn modelId="{AC697D0B-8449-454A-B4D6-FCE5561932B8}" type="presParOf" srcId="{09F57878-A1E3-49AE-8304-88A1621E544F}" destId="{9BEBE7BB-E42B-4476-8A42-36ABD994D772}" srcOrd="0" destOrd="0" presId="urn:microsoft.com/office/officeart/2005/8/layout/matrix1"/>
    <dgm:cxn modelId="{A72CEB7F-4EB1-4CE3-9D84-2478E1BBA42B}" type="presParOf" srcId="{9BEBE7BB-E42B-4476-8A42-36ABD994D772}" destId="{356955B4-6222-4067-A430-D49426E6D952}" srcOrd="0" destOrd="0" presId="urn:microsoft.com/office/officeart/2005/8/layout/matrix1"/>
    <dgm:cxn modelId="{1CF8ACFD-DCE7-4111-8399-CADB32A5713D}" type="presParOf" srcId="{9BEBE7BB-E42B-4476-8A42-36ABD994D772}" destId="{12E45051-F2FE-4201-B428-EB6069B24A62}" srcOrd="1" destOrd="0" presId="urn:microsoft.com/office/officeart/2005/8/layout/matrix1"/>
    <dgm:cxn modelId="{89E62288-B9F7-4551-BFE0-03A9F6A6D604}" type="presParOf" srcId="{9BEBE7BB-E42B-4476-8A42-36ABD994D772}" destId="{C9578589-9D23-4EC6-80D5-D9463D446359}" srcOrd="2" destOrd="0" presId="urn:microsoft.com/office/officeart/2005/8/layout/matrix1"/>
    <dgm:cxn modelId="{F70207F1-88C9-4DDD-B193-A4DE8B4AA35D}" type="presParOf" srcId="{9BEBE7BB-E42B-4476-8A42-36ABD994D772}" destId="{91ADAFFB-C2C2-4688-A2C9-C50D08AF2571}" srcOrd="3" destOrd="0" presId="urn:microsoft.com/office/officeart/2005/8/layout/matrix1"/>
    <dgm:cxn modelId="{A32632D5-B7B0-44EF-B141-363EFAA00CD7}" type="presParOf" srcId="{9BEBE7BB-E42B-4476-8A42-36ABD994D772}" destId="{6CFDAE43-1329-4C1C-AA70-D7ED48F02174}" srcOrd="4" destOrd="0" presId="urn:microsoft.com/office/officeart/2005/8/layout/matrix1"/>
    <dgm:cxn modelId="{A368907E-498F-499E-9157-B022DA3CBD07}" type="presParOf" srcId="{9BEBE7BB-E42B-4476-8A42-36ABD994D772}" destId="{4FD819D5-1020-441C-A55B-F8673E2514B9}" srcOrd="5" destOrd="0" presId="urn:microsoft.com/office/officeart/2005/8/layout/matrix1"/>
    <dgm:cxn modelId="{4F1BA6D4-E30B-42F1-9266-6929F01BCEAE}" type="presParOf" srcId="{9BEBE7BB-E42B-4476-8A42-36ABD994D772}" destId="{CD3B6828-7AF1-4686-AF7D-BA5709F3824E}" srcOrd="6" destOrd="0" presId="urn:microsoft.com/office/officeart/2005/8/layout/matrix1"/>
    <dgm:cxn modelId="{1F4B27C3-5FBA-4763-8495-64496D839F46}" type="presParOf" srcId="{9BEBE7BB-E42B-4476-8A42-36ABD994D772}" destId="{EA8F3243-2452-466D-A8E7-22ADF81D30D3}" srcOrd="7" destOrd="0" presId="urn:microsoft.com/office/officeart/2005/8/layout/matrix1"/>
    <dgm:cxn modelId="{7BAA9FF1-42BD-45D9-8ABF-4C145D61846A}" type="presParOf" srcId="{09F57878-A1E3-49AE-8304-88A1621E544F}" destId="{29CD2DEF-83AB-4D8A-B95A-211A2DE9D873}"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F68DF6-5101-402F-9CD7-F0B42959FA56}" type="doc">
      <dgm:prSet loTypeId="urn:microsoft.com/office/officeart/2005/8/layout/matrix3" loCatId="matrix" qsTypeId="urn:microsoft.com/office/officeart/2005/8/quickstyle/simple1" qsCatId="simple" csTypeId="urn:microsoft.com/office/officeart/2005/8/colors/accent1_1" csCatId="accent1" phldr="1"/>
      <dgm:spPr/>
      <dgm:t>
        <a:bodyPr/>
        <a:lstStyle/>
        <a:p>
          <a:endParaRPr lang="en-US"/>
        </a:p>
      </dgm:t>
    </dgm:pt>
    <dgm:pt modelId="{E9CD509B-70D8-4268-A420-DCA4591B4CC8}">
      <dgm:prSet phldrT="[Text]" phldr="0" custT="1"/>
      <dgm:spPr/>
      <dgm:t>
        <a:bodyPr/>
        <a:lstStyle/>
        <a:p>
          <a:r>
            <a:rPr lang="en-US" sz="2400" b="1" dirty="0">
              <a:solidFill>
                <a:schemeClr val="accent1"/>
              </a:solidFill>
              <a:latin typeface="+mn-lt"/>
            </a:rPr>
            <a:t>Customers</a:t>
          </a:r>
          <a:r>
            <a:rPr lang="en-US" sz="1800" dirty="0">
              <a:latin typeface="+mn-lt"/>
            </a:rPr>
            <a:t> </a:t>
          </a:r>
        </a:p>
        <a:p>
          <a:r>
            <a:rPr lang="en-US" sz="1800" b="1" dirty="0">
              <a:solidFill>
                <a:srgbClr val="FF0000"/>
              </a:solidFill>
              <a:latin typeface="+mn-lt"/>
            </a:rPr>
            <a:t>Key attributes: </a:t>
          </a:r>
          <a:r>
            <a:rPr lang="en-US" sz="1800" b="1" dirty="0">
              <a:latin typeface="+mn-lt"/>
            </a:rPr>
            <a:t>Customer type, Age group, City, Total Orders, Average spend, Preferred cuisine</a:t>
          </a:r>
        </a:p>
        <a:p>
          <a:r>
            <a:rPr lang="en-US" sz="1800" b="1" dirty="0">
              <a:solidFill>
                <a:srgbClr val="00B050"/>
              </a:solidFill>
              <a:latin typeface="+mn-lt"/>
            </a:rPr>
            <a:t>Business use: </a:t>
          </a:r>
          <a:r>
            <a:rPr lang="en-US" sz="1800" b="1" dirty="0">
              <a:latin typeface="+mn-lt"/>
            </a:rPr>
            <a:t>Customer Segmentation, Spending behavior and loyalty analysis</a:t>
          </a:r>
        </a:p>
      </dgm:t>
    </dgm:pt>
    <dgm:pt modelId="{382FE72D-CB37-4D67-806A-2A90E95A4969}" type="parTrans" cxnId="{C6349DF9-20F8-4EB1-82F7-0234F2A31D09}">
      <dgm:prSet/>
      <dgm:spPr/>
      <dgm:t>
        <a:bodyPr/>
        <a:lstStyle/>
        <a:p>
          <a:endParaRPr lang="en-US"/>
        </a:p>
      </dgm:t>
    </dgm:pt>
    <dgm:pt modelId="{5768B453-8CFB-4EFD-A1A3-F5169C2985A6}" type="sibTrans" cxnId="{C6349DF9-20F8-4EB1-82F7-0234F2A31D09}">
      <dgm:prSet/>
      <dgm:spPr/>
      <dgm:t>
        <a:bodyPr/>
        <a:lstStyle/>
        <a:p>
          <a:endParaRPr lang="en-US"/>
        </a:p>
      </dgm:t>
    </dgm:pt>
    <dgm:pt modelId="{902CA5E2-5D9F-4BC0-9F61-8AD2788A38AD}">
      <dgm:prSet phldrT="[Text]" phldr="0" custT="1"/>
      <dgm:spPr/>
      <dgm:t>
        <a:bodyPr/>
        <a:lstStyle/>
        <a:p>
          <a:r>
            <a:rPr lang="en-US" sz="2400" b="1" kern="1200" dirty="0">
              <a:solidFill>
                <a:schemeClr val="accent1"/>
              </a:solidFill>
            </a:rPr>
            <a:t>Orders</a:t>
          </a:r>
        </a:p>
        <a:p>
          <a:r>
            <a:rPr lang="en-US" sz="1800" b="1" kern="1200" dirty="0">
              <a:solidFill>
                <a:srgbClr val="FF0000"/>
              </a:solidFill>
            </a:rPr>
            <a:t>Key attributes: </a:t>
          </a:r>
          <a:r>
            <a:rPr lang="en-US" sz="1800" b="1" kern="1200" dirty="0">
              <a:solidFill>
                <a:schemeClr val="tx1"/>
              </a:solidFill>
            </a:rPr>
            <a:t>Order value, Final amount, Region, Delivery Time, Rating, Payment method, Festival Flag</a:t>
          </a:r>
        </a:p>
        <a:p>
          <a:r>
            <a:rPr lang="en-US" sz="1800" b="1" kern="1200" dirty="0">
              <a:solidFill>
                <a:srgbClr val="00B050"/>
              </a:solidFill>
              <a:latin typeface="Corbel" panose="020B0503020204020204"/>
              <a:ea typeface="+mn-ea"/>
              <a:cs typeface="+mn-cs"/>
            </a:rPr>
            <a:t>Business use: </a:t>
          </a:r>
          <a:r>
            <a:rPr lang="en-US" sz="1800" b="1" kern="1200" dirty="0">
              <a:solidFill>
                <a:schemeClr val="tx1"/>
              </a:solidFill>
              <a:latin typeface="+mn-lt"/>
              <a:ea typeface="+mn-ea"/>
              <a:cs typeface="+mn-cs"/>
            </a:rPr>
            <a:t>Revenue, Demand, Delivery and seasonal trend analysis</a:t>
          </a:r>
          <a:endParaRPr lang="en-US" sz="1800" b="1" kern="1200" dirty="0">
            <a:solidFill>
              <a:srgbClr val="00B050"/>
            </a:solidFill>
            <a:latin typeface="Corbel" panose="020B0503020204020204"/>
            <a:ea typeface="+mn-ea"/>
            <a:cs typeface="+mn-cs"/>
          </a:endParaRPr>
        </a:p>
      </dgm:t>
    </dgm:pt>
    <dgm:pt modelId="{3BEE16F3-1A2A-4ECF-BDCA-AECE5FD6D2B7}" type="parTrans" cxnId="{4E5214B9-2546-4C27-81C0-2711137DD01B}">
      <dgm:prSet/>
      <dgm:spPr/>
      <dgm:t>
        <a:bodyPr/>
        <a:lstStyle/>
        <a:p>
          <a:endParaRPr lang="en-US"/>
        </a:p>
      </dgm:t>
    </dgm:pt>
    <dgm:pt modelId="{C518FED6-D5C3-41AB-9292-3D5993519951}" type="sibTrans" cxnId="{4E5214B9-2546-4C27-81C0-2711137DD01B}">
      <dgm:prSet/>
      <dgm:spPr/>
      <dgm:t>
        <a:bodyPr/>
        <a:lstStyle/>
        <a:p>
          <a:endParaRPr lang="en-US"/>
        </a:p>
      </dgm:t>
    </dgm:pt>
    <dgm:pt modelId="{BBBCD40F-EAD9-4FF3-B5A8-C40D4621B7F9}">
      <dgm:prSet phldrT="[Text]" phldr="0" custT="1"/>
      <dgm:spPr>
        <a:solidFill>
          <a:prstClr val="white">
            <a:hueOff val="0"/>
            <a:satOff val="0"/>
            <a:lumOff val="0"/>
            <a:alphaOff val="0"/>
          </a:prstClr>
        </a:solidFill>
        <a:ln w="15875" cap="rnd" cmpd="sng" algn="ctr">
          <a:solidFill>
            <a:srgbClr val="30ACEC">
              <a:shade val="80000"/>
              <a:hueOff val="0"/>
              <a:satOff val="0"/>
              <a:lumOff val="0"/>
              <a:alphaOff val="0"/>
            </a:srgbClr>
          </a:solidFill>
          <a:prstDash val="solid"/>
        </a:ln>
        <a:effectLst/>
      </dgm:spPr>
      <dgm:t>
        <a:bodyPr spcFirstLastPara="0" vert="horz" wrap="square" lIns="243840" tIns="243840" rIns="243840" bIns="243840" numCol="1" spcCol="1270" anchor="ctr" anchorCtr="0"/>
        <a:lstStyle/>
        <a:p>
          <a:pPr marL="0" lvl="0" indent="0" algn="ctr" defTabSz="2844800">
            <a:lnSpc>
              <a:spcPct val="90000"/>
            </a:lnSpc>
            <a:spcBef>
              <a:spcPct val="0"/>
            </a:spcBef>
            <a:spcAft>
              <a:spcPct val="35000"/>
            </a:spcAft>
            <a:buNone/>
          </a:pPr>
          <a:r>
            <a:rPr lang="en-US" sz="2400" b="1" kern="1200" dirty="0">
              <a:solidFill>
                <a:schemeClr val="accent1"/>
              </a:solidFill>
              <a:latin typeface="+mj-lt"/>
              <a:ea typeface="+mn-ea"/>
              <a:cs typeface="+mn-cs"/>
            </a:rPr>
            <a:t>Restaurants</a:t>
          </a:r>
        </a:p>
        <a:p>
          <a:pPr marL="0" lvl="0" indent="0" algn="ctr" defTabSz="2844800">
            <a:lnSpc>
              <a:spcPct val="90000"/>
            </a:lnSpc>
            <a:spcBef>
              <a:spcPct val="0"/>
            </a:spcBef>
            <a:spcAft>
              <a:spcPct val="35000"/>
            </a:spcAft>
            <a:buNone/>
          </a:pPr>
          <a:r>
            <a:rPr lang="en-US" sz="1800" b="1" kern="1200" dirty="0">
              <a:solidFill>
                <a:srgbClr val="FF0000"/>
              </a:solidFill>
              <a:latin typeface="+mn-lt"/>
              <a:ea typeface="+mn-ea"/>
              <a:cs typeface="+mn-cs"/>
            </a:rPr>
            <a:t>Key attributes: </a:t>
          </a:r>
          <a:r>
            <a:rPr lang="en-US" sz="1800" b="1" kern="1200" dirty="0">
              <a:solidFill>
                <a:schemeClr val="tx1"/>
              </a:solidFill>
              <a:latin typeface="+mn-lt"/>
              <a:ea typeface="+mn-ea"/>
              <a:cs typeface="+mn-cs"/>
            </a:rPr>
            <a:t>Cuisine Type, Average rating, Preparation time, Daily Capacity</a:t>
          </a:r>
        </a:p>
        <a:p>
          <a:pPr marL="0" lvl="0" indent="0" algn="ctr" defTabSz="2844800">
            <a:lnSpc>
              <a:spcPct val="90000"/>
            </a:lnSpc>
            <a:spcBef>
              <a:spcPct val="0"/>
            </a:spcBef>
            <a:spcAft>
              <a:spcPct val="35000"/>
            </a:spcAft>
            <a:buNone/>
          </a:pPr>
          <a:r>
            <a:rPr lang="en-US" sz="1800" b="1" kern="1200" dirty="0">
              <a:solidFill>
                <a:srgbClr val="00B050"/>
              </a:solidFill>
              <a:latin typeface="+mn-lt"/>
              <a:ea typeface="+mn-ea"/>
              <a:cs typeface="+mn-cs"/>
            </a:rPr>
            <a:t>Business use: </a:t>
          </a:r>
          <a:r>
            <a:rPr lang="en-US" sz="1800" b="1" kern="1200" dirty="0">
              <a:solidFill>
                <a:schemeClr val="tx1"/>
              </a:solidFill>
              <a:latin typeface="+mn-lt"/>
              <a:ea typeface="+mn-ea"/>
              <a:cs typeface="+mn-cs"/>
            </a:rPr>
            <a:t>Restaurant performance and operational efficiency analysis</a:t>
          </a:r>
          <a:endParaRPr lang="en-US" sz="1800" b="1" kern="1200" dirty="0">
            <a:solidFill>
              <a:srgbClr val="00B050"/>
            </a:solidFill>
            <a:latin typeface="+mn-lt"/>
            <a:ea typeface="+mn-ea"/>
            <a:cs typeface="+mn-cs"/>
          </a:endParaRPr>
        </a:p>
      </dgm:t>
    </dgm:pt>
    <dgm:pt modelId="{8BC21D3D-E61F-4AAA-8ABE-6D1642190977}" type="parTrans" cxnId="{E8919A62-332C-4693-802E-40BC1B37AC97}">
      <dgm:prSet/>
      <dgm:spPr/>
      <dgm:t>
        <a:bodyPr/>
        <a:lstStyle/>
        <a:p>
          <a:endParaRPr lang="en-US"/>
        </a:p>
      </dgm:t>
    </dgm:pt>
    <dgm:pt modelId="{26FE88A0-ED78-466A-9579-E1CBBB94104C}" type="sibTrans" cxnId="{E8919A62-332C-4693-802E-40BC1B37AC97}">
      <dgm:prSet/>
      <dgm:spPr/>
      <dgm:t>
        <a:bodyPr/>
        <a:lstStyle/>
        <a:p>
          <a:endParaRPr lang="en-US"/>
        </a:p>
      </dgm:t>
    </dgm:pt>
    <dgm:pt modelId="{E417BD57-CA54-4514-8642-C76611ACEECE}">
      <dgm:prSet phldrT="[Text]" phldr="0" custT="1"/>
      <dgm:spPr/>
      <dgm:t>
        <a:bodyPr/>
        <a:lstStyle/>
        <a:p>
          <a:r>
            <a:rPr lang="en-US" sz="2400" b="1" kern="1200" dirty="0">
              <a:solidFill>
                <a:schemeClr val="accent1"/>
              </a:solidFill>
              <a:latin typeface="+mj-lt"/>
            </a:rPr>
            <a:t>Delivery Partners</a:t>
          </a:r>
        </a:p>
        <a:p>
          <a:r>
            <a:rPr lang="en-US" sz="1800" b="1" kern="1200" dirty="0">
              <a:solidFill>
                <a:srgbClr val="FF0000"/>
              </a:solidFill>
              <a:latin typeface="+mn-lt"/>
            </a:rPr>
            <a:t>Key attributes: </a:t>
          </a:r>
          <a:r>
            <a:rPr lang="en-US" sz="1800" b="1" kern="1200" dirty="0">
              <a:solidFill>
                <a:schemeClr val="tx1"/>
              </a:solidFill>
              <a:latin typeface="+mn-lt"/>
            </a:rPr>
            <a:t>Vehicle type, Delivery speed, Successful/Delayed Deliveries, Customer rating, Efficiency score</a:t>
          </a:r>
        </a:p>
        <a:p>
          <a:r>
            <a:rPr lang="en-US" sz="1800" b="1" kern="1200" dirty="0">
              <a:solidFill>
                <a:srgbClr val="00B050"/>
              </a:solidFill>
              <a:latin typeface="Corbel" panose="020B0503020204020204"/>
              <a:ea typeface="+mn-ea"/>
              <a:cs typeface="+mn-cs"/>
            </a:rPr>
            <a:t>Business use: </a:t>
          </a:r>
          <a:r>
            <a:rPr lang="en-US" sz="1800" b="1" kern="1200" dirty="0">
              <a:solidFill>
                <a:schemeClr val="tx1"/>
              </a:solidFill>
              <a:latin typeface="Corbel" panose="020B0503020204020204"/>
              <a:ea typeface="+mn-ea"/>
              <a:cs typeface="+mn-cs"/>
            </a:rPr>
            <a:t>Delivery performance and Logistics analysis</a:t>
          </a:r>
          <a:endParaRPr lang="en-US" sz="1800" b="1" kern="1200" dirty="0">
            <a:solidFill>
              <a:srgbClr val="00B050"/>
            </a:solidFill>
            <a:latin typeface="Corbel" panose="020B0503020204020204"/>
            <a:ea typeface="+mn-ea"/>
            <a:cs typeface="+mn-cs"/>
          </a:endParaRPr>
        </a:p>
      </dgm:t>
    </dgm:pt>
    <dgm:pt modelId="{110F678B-0CD7-44A5-BD21-8EFEACF7AAB6}" type="parTrans" cxnId="{00EAE679-3E76-4FD5-97AE-8024C3D36852}">
      <dgm:prSet/>
      <dgm:spPr/>
      <dgm:t>
        <a:bodyPr/>
        <a:lstStyle/>
        <a:p>
          <a:endParaRPr lang="en-US"/>
        </a:p>
      </dgm:t>
    </dgm:pt>
    <dgm:pt modelId="{98BBBE10-C7AA-432A-9B42-DC963A718250}" type="sibTrans" cxnId="{00EAE679-3E76-4FD5-97AE-8024C3D36852}">
      <dgm:prSet/>
      <dgm:spPr/>
      <dgm:t>
        <a:bodyPr/>
        <a:lstStyle/>
        <a:p>
          <a:endParaRPr lang="en-US"/>
        </a:p>
      </dgm:t>
    </dgm:pt>
    <dgm:pt modelId="{1104610A-6B0B-4A27-82ED-FAB01F2F1CB6}" type="pres">
      <dgm:prSet presAssocID="{99F68DF6-5101-402F-9CD7-F0B42959FA56}" presName="matrix" presStyleCnt="0">
        <dgm:presLayoutVars>
          <dgm:chMax val="1"/>
          <dgm:dir/>
          <dgm:resizeHandles val="exact"/>
        </dgm:presLayoutVars>
      </dgm:prSet>
      <dgm:spPr/>
    </dgm:pt>
    <dgm:pt modelId="{479D66DE-D647-43F4-96E2-C8372A02601B}" type="pres">
      <dgm:prSet presAssocID="{99F68DF6-5101-402F-9CD7-F0B42959FA56}" presName="diamond" presStyleLbl="bgShp" presStyleIdx="0" presStyleCnt="1"/>
      <dgm:spPr/>
    </dgm:pt>
    <dgm:pt modelId="{DABC3E07-AC8C-4D65-BB4D-CE5168590A1B}" type="pres">
      <dgm:prSet presAssocID="{99F68DF6-5101-402F-9CD7-F0B42959FA56}" presName="quad1" presStyleLbl="node1" presStyleIdx="0" presStyleCnt="4" custScaleX="246859" custLinFactNeighborX="-70338" custLinFactNeighborY="-1028">
        <dgm:presLayoutVars>
          <dgm:chMax val="0"/>
          <dgm:chPref val="0"/>
          <dgm:bulletEnabled val="1"/>
        </dgm:presLayoutVars>
      </dgm:prSet>
      <dgm:spPr/>
    </dgm:pt>
    <dgm:pt modelId="{63A9F36E-A9EA-454E-A316-6875B8E732E5}" type="pres">
      <dgm:prSet presAssocID="{99F68DF6-5101-402F-9CD7-F0B42959FA56}" presName="quad2" presStyleLbl="node1" presStyleIdx="1" presStyleCnt="4" custScaleX="236655" custLinFactNeighborX="73624" custLinFactNeighborY="-1028">
        <dgm:presLayoutVars>
          <dgm:chMax val="0"/>
          <dgm:chPref val="0"/>
          <dgm:bulletEnabled val="1"/>
        </dgm:presLayoutVars>
      </dgm:prSet>
      <dgm:spPr/>
    </dgm:pt>
    <dgm:pt modelId="{53D61FC8-3D89-492A-BDE3-B1C4AA5F3486}" type="pres">
      <dgm:prSet presAssocID="{99F68DF6-5101-402F-9CD7-F0B42959FA56}" presName="quad3" presStyleLbl="node1" presStyleIdx="2" presStyleCnt="4" custScaleX="243655" custLinFactNeighborX="-72523" custLinFactNeighborY="6871">
        <dgm:presLayoutVars>
          <dgm:chMax val="0"/>
          <dgm:chPref val="0"/>
          <dgm:bulletEnabled val="1"/>
        </dgm:presLayoutVars>
      </dgm:prSet>
      <dgm:spPr>
        <a:xfrm>
          <a:off x="2984699" y="2612987"/>
          <a:ext cx="1978767" cy="1978767"/>
        </a:xfrm>
        <a:prstGeom prst="roundRect">
          <a:avLst/>
        </a:prstGeom>
      </dgm:spPr>
    </dgm:pt>
    <dgm:pt modelId="{B5B27886-3F66-4DC0-A3FA-7B722D1CD2E0}" type="pres">
      <dgm:prSet presAssocID="{99F68DF6-5101-402F-9CD7-F0B42959FA56}" presName="quad4" presStyleLbl="node1" presStyleIdx="3" presStyleCnt="4" custScaleX="249983" custLinFactNeighborX="75891" custLinFactNeighborY="6871">
        <dgm:presLayoutVars>
          <dgm:chMax val="0"/>
          <dgm:chPref val="0"/>
          <dgm:bulletEnabled val="1"/>
        </dgm:presLayoutVars>
      </dgm:prSet>
      <dgm:spPr/>
    </dgm:pt>
  </dgm:ptLst>
  <dgm:cxnLst>
    <dgm:cxn modelId="{C3A2622C-07AC-4EA4-A725-81C278FC12A2}" type="presOf" srcId="{902CA5E2-5D9F-4BC0-9F61-8AD2788A38AD}" destId="{63A9F36E-A9EA-454E-A316-6875B8E732E5}" srcOrd="0" destOrd="0" presId="urn:microsoft.com/office/officeart/2005/8/layout/matrix3"/>
    <dgm:cxn modelId="{E8919A62-332C-4693-802E-40BC1B37AC97}" srcId="{99F68DF6-5101-402F-9CD7-F0B42959FA56}" destId="{BBBCD40F-EAD9-4FF3-B5A8-C40D4621B7F9}" srcOrd="2" destOrd="0" parTransId="{8BC21D3D-E61F-4AAA-8ABE-6D1642190977}" sibTransId="{26FE88A0-ED78-466A-9579-E1CBBB94104C}"/>
    <dgm:cxn modelId="{045DE14C-79B1-4232-B65C-380EF04BACCF}" type="presOf" srcId="{E417BD57-CA54-4514-8642-C76611ACEECE}" destId="{B5B27886-3F66-4DC0-A3FA-7B722D1CD2E0}" srcOrd="0" destOrd="0" presId="urn:microsoft.com/office/officeart/2005/8/layout/matrix3"/>
    <dgm:cxn modelId="{E30AC259-298A-4A21-ACB1-932FA594C763}" type="presOf" srcId="{99F68DF6-5101-402F-9CD7-F0B42959FA56}" destId="{1104610A-6B0B-4A27-82ED-FAB01F2F1CB6}" srcOrd="0" destOrd="0" presId="urn:microsoft.com/office/officeart/2005/8/layout/matrix3"/>
    <dgm:cxn modelId="{00EAE679-3E76-4FD5-97AE-8024C3D36852}" srcId="{99F68DF6-5101-402F-9CD7-F0B42959FA56}" destId="{E417BD57-CA54-4514-8642-C76611ACEECE}" srcOrd="3" destOrd="0" parTransId="{110F678B-0CD7-44A5-BD21-8EFEACF7AAB6}" sibTransId="{98BBBE10-C7AA-432A-9B42-DC963A718250}"/>
    <dgm:cxn modelId="{4E5214B9-2546-4C27-81C0-2711137DD01B}" srcId="{99F68DF6-5101-402F-9CD7-F0B42959FA56}" destId="{902CA5E2-5D9F-4BC0-9F61-8AD2788A38AD}" srcOrd="1" destOrd="0" parTransId="{3BEE16F3-1A2A-4ECF-BDCA-AECE5FD6D2B7}" sibTransId="{C518FED6-D5C3-41AB-9292-3D5993519951}"/>
    <dgm:cxn modelId="{F83313DF-BB71-4BA8-9530-6C226CFB2EA8}" type="presOf" srcId="{E9CD509B-70D8-4268-A420-DCA4591B4CC8}" destId="{DABC3E07-AC8C-4D65-BB4D-CE5168590A1B}" srcOrd="0" destOrd="0" presId="urn:microsoft.com/office/officeart/2005/8/layout/matrix3"/>
    <dgm:cxn modelId="{09AEAAE0-D313-4C81-BDF4-A6762D468CFD}" type="presOf" srcId="{BBBCD40F-EAD9-4FF3-B5A8-C40D4621B7F9}" destId="{53D61FC8-3D89-492A-BDE3-B1C4AA5F3486}" srcOrd="0" destOrd="0" presId="urn:microsoft.com/office/officeart/2005/8/layout/matrix3"/>
    <dgm:cxn modelId="{C6349DF9-20F8-4EB1-82F7-0234F2A31D09}" srcId="{99F68DF6-5101-402F-9CD7-F0B42959FA56}" destId="{E9CD509B-70D8-4268-A420-DCA4591B4CC8}" srcOrd="0" destOrd="0" parTransId="{382FE72D-CB37-4D67-806A-2A90E95A4969}" sibTransId="{5768B453-8CFB-4EFD-A1A3-F5169C2985A6}"/>
    <dgm:cxn modelId="{C7A168B1-F22C-4B4C-AF72-6F0C01093BAB}" type="presParOf" srcId="{1104610A-6B0B-4A27-82ED-FAB01F2F1CB6}" destId="{479D66DE-D647-43F4-96E2-C8372A02601B}" srcOrd="0" destOrd="0" presId="urn:microsoft.com/office/officeart/2005/8/layout/matrix3"/>
    <dgm:cxn modelId="{268E97F7-2A4A-4EC4-AA69-B58B928C62E1}" type="presParOf" srcId="{1104610A-6B0B-4A27-82ED-FAB01F2F1CB6}" destId="{DABC3E07-AC8C-4D65-BB4D-CE5168590A1B}" srcOrd="1" destOrd="0" presId="urn:microsoft.com/office/officeart/2005/8/layout/matrix3"/>
    <dgm:cxn modelId="{C959A1A2-441C-42A7-8C4D-60721DE99BCC}" type="presParOf" srcId="{1104610A-6B0B-4A27-82ED-FAB01F2F1CB6}" destId="{63A9F36E-A9EA-454E-A316-6875B8E732E5}" srcOrd="2" destOrd="0" presId="urn:microsoft.com/office/officeart/2005/8/layout/matrix3"/>
    <dgm:cxn modelId="{00C2DB04-E07B-4D4B-BEEF-B91E3815BECF}" type="presParOf" srcId="{1104610A-6B0B-4A27-82ED-FAB01F2F1CB6}" destId="{53D61FC8-3D89-492A-BDE3-B1C4AA5F3486}" srcOrd="3" destOrd="0" presId="urn:microsoft.com/office/officeart/2005/8/layout/matrix3"/>
    <dgm:cxn modelId="{840CC3E5-621D-4897-82E0-C88CA2548FEF}" type="presParOf" srcId="{1104610A-6B0B-4A27-82ED-FAB01F2F1CB6}" destId="{B5B27886-3F66-4DC0-A3FA-7B722D1CD2E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27EC74-A849-4816-ABA0-F45C0648F190}" type="doc">
      <dgm:prSet loTypeId="urn:microsoft.com/office/officeart/2011/layout/ThemePictureAccent" loCatId="picture" qsTypeId="urn:microsoft.com/office/officeart/2005/8/quickstyle/simple1" qsCatId="simple" csTypeId="urn:microsoft.com/office/officeart/2005/8/colors/accent1_2" csCatId="accent1" phldr="1"/>
      <dgm:spPr/>
      <dgm:t>
        <a:bodyPr/>
        <a:lstStyle/>
        <a:p>
          <a:endParaRPr lang="en-US"/>
        </a:p>
      </dgm:t>
    </dgm:pt>
    <dgm:pt modelId="{50C98954-61C5-4B05-8CA3-FBD25B89F77D}">
      <dgm:prSet phldrT="[Text]" phldr="1"/>
      <dgm:spPr/>
      <dgm:t>
        <a:bodyPr/>
        <a:lstStyle/>
        <a:p>
          <a:endParaRPr lang="en-US"/>
        </a:p>
      </dgm:t>
    </dgm:pt>
    <dgm:pt modelId="{995CDEDC-BCDA-4A24-8D0E-DAA67678EE3A}" type="parTrans" cxnId="{F680163F-6CDE-4029-8B7F-A0196C7FFC67}">
      <dgm:prSet/>
      <dgm:spPr/>
      <dgm:t>
        <a:bodyPr/>
        <a:lstStyle/>
        <a:p>
          <a:endParaRPr lang="en-US"/>
        </a:p>
      </dgm:t>
    </dgm:pt>
    <dgm:pt modelId="{1E26DDE2-0B16-444A-8853-705851B2C05B}" type="sibTrans" cxnId="{F680163F-6CDE-4029-8B7F-A0196C7FFC67}">
      <dgm:prSet/>
      <dgm:spPr/>
      <dgm:t>
        <a:bodyPr/>
        <a:lstStyle/>
        <a:p>
          <a:endParaRPr lang="en-US"/>
        </a:p>
      </dgm:t>
    </dgm:pt>
    <dgm:pt modelId="{35819647-DDCF-4DE5-9EF3-39A97AE51814}">
      <dgm:prSet phldrT="[Text]" phldr="1"/>
      <dgm:spPr/>
      <dgm:t>
        <a:bodyPr/>
        <a:lstStyle/>
        <a:p>
          <a:endParaRPr lang="en-US"/>
        </a:p>
      </dgm:t>
    </dgm:pt>
    <dgm:pt modelId="{72283E93-CEC3-4138-B368-A3B9A355BEC1}" type="parTrans" cxnId="{EBAEEA1F-C662-4052-8A36-13900E90C716}">
      <dgm:prSet/>
      <dgm:spPr/>
      <dgm:t>
        <a:bodyPr/>
        <a:lstStyle/>
        <a:p>
          <a:endParaRPr lang="en-US"/>
        </a:p>
      </dgm:t>
    </dgm:pt>
    <dgm:pt modelId="{3F7B3F8F-0A77-4A1E-9EFE-9B045DF3E1D3}" type="sibTrans" cxnId="{EBAEEA1F-C662-4052-8A36-13900E90C716}">
      <dgm:prSet/>
      <dgm:spPr/>
      <dgm:t>
        <a:bodyPr/>
        <a:lstStyle/>
        <a:p>
          <a:endParaRPr lang="en-US"/>
        </a:p>
      </dgm:t>
    </dgm:pt>
    <dgm:pt modelId="{EA792251-286E-4927-AC4C-D36A127137C3}">
      <dgm:prSet phldrT="[Text]" phldr="1"/>
      <dgm:spPr/>
      <dgm:t>
        <a:bodyPr/>
        <a:lstStyle/>
        <a:p>
          <a:endParaRPr lang="en-US"/>
        </a:p>
      </dgm:t>
    </dgm:pt>
    <dgm:pt modelId="{B424C6C4-2FDC-4143-A630-AD6128C62A0D}" type="parTrans" cxnId="{7400DCE2-2CC2-48C7-B2EC-D5DC716EC2B9}">
      <dgm:prSet/>
      <dgm:spPr/>
      <dgm:t>
        <a:bodyPr/>
        <a:lstStyle/>
        <a:p>
          <a:endParaRPr lang="en-US"/>
        </a:p>
      </dgm:t>
    </dgm:pt>
    <dgm:pt modelId="{13A1D8A0-CAC2-44F7-94CD-022D7DDD1916}" type="sibTrans" cxnId="{7400DCE2-2CC2-48C7-B2EC-D5DC716EC2B9}">
      <dgm:prSet/>
      <dgm:spPr/>
      <dgm:t>
        <a:bodyPr/>
        <a:lstStyle/>
        <a:p>
          <a:endParaRPr lang="en-US"/>
        </a:p>
      </dgm:t>
    </dgm:pt>
    <dgm:pt modelId="{373125CD-697D-4EE4-85F7-D6C59F031EA6}">
      <dgm:prSet phldrT="[Text]" phldr="1"/>
      <dgm:spPr/>
      <dgm:t>
        <a:bodyPr/>
        <a:lstStyle/>
        <a:p>
          <a:endParaRPr lang="en-US"/>
        </a:p>
      </dgm:t>
    </dgm:pt>
    <dgm:pt modelId="{C4CB1AC6-A9AD-4E1D-B34A-4C6EA1844F2D}" type="parTrans" cxnId="{8CFBE31E-FD68-4694-B2E4-75E61C88D04B}">
      <dgm:prSet/>
      <dgm:spPr/>
      <dgm:t>
        <a:bodyPr/>
        <a:lstStyle/>
        <a:p>
          <a:endParaRPr lang="en-US"/>
        </a:p>
      </dgm:t>
    </dgm:pt>
    <dgm:pt modelId="{24C8F9D9-BA31-4552-B94E-E33F77763BF2}" type="sibTrans" cxnId="{8CFBE31E-FD68-4694-B2E4-75E61C88D04B}">
      <dgm:prSet/>
      <dgm:spPr/>
      <dgm:t>
        <a:bodyPr/>
        <a:lstStyle/>
        <a:p>
          <a:endParaRPr lang="en-US"/>
        </a:p>
      </dgm:t>
    </dgm:pt>
    <dgm:pt modelId="{CD468E0A-89A7-4E2D-B57D-223A339CC80F}">
      <dgm:prSet phldrT="[Text]" phldr="1"/>
      <dgm:spPr/>
      <dgm:t>
        <a:bodyPr/>
        <a:lstStyle/>
        <a:p>
          <a:endParaRPr lang="en-US"/>
        </a:p>
      </dgm:t>
    </dgm:pt>
    <dgm:pt modelId="{FA8583B8-8188-4DC9-8576-4A9B3E2B8E37}" type="parTrans" cxnId="{251800A2-5479-4640-8BFC-04FB9387C094}">
      <dgm:prSet/>
      <dgm:spPr/>
      <dgm:t>
        <a:bodyPr/>
        <a:lstStyle/>
        <a:p>
          <a:endParaRPr lang="en-US"/>
        </a:p>
      </dgm:t>
    </dgm:pt>
    <dgm:pt modelId="{7478AC20-4210-4EFF-BE23-DF9C84B43E35}" type="sibTrans" cxnId="{251800A2-5479-4640-8BFC-04FB9387C094}">
      <dgm:prSet/>
      <dgm:spPr/>
      <dgm:t>
        <a:bodyPr/>
        <a:lstStyle/>
        <a:p>
          <a:endParaRPr lang="en-US"/>
        </a:p>
      </dgm:t>
    </dgm:pt>
    <dgm:pt modelId="{3D90B8E4-53CD-40D7-888A-753D1E6ECAE4}">
      <dgm:prSet phldrT="[Text]" phldr="1"/>
      <dgm:spPr/>
      <dgm:t>
        <a:bodyPr/>
        <a:lstStyle/>
        <a:p>
          <a:endParaRPr lang="en-US"/>
        </a:p>
      </dgm:t>
    </dgm:pt>
    <dgm:pt modelId="{947F018D-02F1-4BA3-912C-8A3DB5D5C08E}" type="parTrans" cxnId="{6F6C879A-304A-4C55-A539-76903D30E3B1}">
      <dgm:prSet/>
      <dgm:spPr/>
      <dgm:t>
        <a:bodyPr/>
        <a:lstStyle/>
        <a:p>
          <a:endParaRPr lang="en-US"/>
        </a:p>
      </dgm:t>
    </dgm:pt>
    <dgm:pt modelId="{D2F0AE48-BE0F-41C2-9DD2-D3823DE3067D}" type="sibTrans" cxnId="{6F6C879A-304A-4C55-A539-76903D30E3B1}">
      <dgm:prSet/>
      <dgm:spPr/>
      <dgm:t>
        <a:bodyPr/>
        <a:lstStyle/>
        <a:p>
          <a:endParaRPr lang="en-US"/>
        </a:p>
      </dgm:t>
    </dgm:pt>
    <dgm:pt modelId="{5E8E1310-015A-4092-8EAE-5FE6882DE88E}" type="pres">
      <dgm:prSet presAssocID="{EC27EC74-A849-4816-ABA0-F45C0648F190}" presName="Name0" presStyleCnt="0">
        <dgm:presLayoutVars>
          <dgm:chMax val="6"/>
          <dgm:chPref val="6"/>
          <dgm:dir/>
        </dgm:presLayoutVars>
      </dgm:prSet>
      <dgm:spPr/>
    </dgm:pt>
    <dgm:pt modelId="{1366CA24-07F7-4FAB-983D-F746110F84DC}" type="pres">
      <dgm:prSet presAssocID="{50C98954-61C5-4B05-8CA3-FBD25B89F77D}" presName="Image1" presStyleCnt="0"/>
      <dgm:spPr/>
    </dgm:pt>
    <dgm:pt modelId="{68CE8BB9-F971-4F20-A4AD-682837BEE0E1}" type="pres">
      <dgm:prSet presAssocID="{50C98954-61C5-4B05-8CA3-FBD25B89F77D}" presName="Image" presStyleLbl="alignImgPlace1" presStyleIdx="0" presStyleCnt="6"/>
      <dgm:spPr/>
    </dgm:pt>
    <dgm:pt modelId="{A16C36C8-E019-4D70-A299-5DA090868671}" type="pres">
      <dgm:prSet presAssocID="{50C98954-61C5-4B05-8CA3-FBD25B89F77D}" presName="Accent1" presStyleCnt="0"/>
      <dgm:spPr/>
    </dgm:pt>
    <dgm:pt modelId="{3C5FC08E-21E3-4650-AA9D-5EA885EC4D41}" type="pres">
      <dgm:prSet presAssocID="{50C98954-61C5-4B05-8CA3-FBD25B89F77D}" presName="Accent" presStyleLbl="parChTrans1D1" presStyleIdx="0" presStyleCnt="6"/>
      <dgm:spPr/>
    </dgm:pt>
    <dgm:pt modelId="{2DEE9207-6092-47CA-9286-F5B662002E92}" type="pres">
      <dgm:prSet presAssocID="{50C98954-61C5-4B05-8CA3-FBD25B89F77D}" presName="Text1" presStyleLbl="alignImgPlace1" presStyleIdx="0" presStyleCnt="6">
        <dgm:presLayoutVars>
          <dgm:chMax val="0"/>
          <dgm:chPref val="0"/>
          <dgm:bulletEnabled val="1"/>
        </dgm:presLayoutVars>
      </dgm:prSet>
      <dgm:spPr/>
    </dgm:pt>
    <dgm:pt modelId="{CF2D8243-62E3-4FCC-9E8D-703DD445F701}" type="pres">
      <dgm:prSet presAssocID="{35819647-DDCF-4DE5-9EF3-39A97AE51814}" presName="Image2" presStyleCnt="0"/>
      <dgm:spPr/>
    </dgm:pt>
    <dgm:pt modelId="{F5F420D0-17D0-4A1F-9134-630A05390CA0}" type="pres">
      <dgm:prSet presAssocID="{35819647-DDCF-4DE5-9EF3-39A97AE51814}" presName="Image" presStyleLbl="alignImgPlace1" presStyleIdx="1" presStyleCnt="6"/>
      <dgm:spPr/>
    </dgm:pt>
    <dgm:pt modelId="{91438227-882F-439F-8D9F-6BC172FC1A8B}" type="pres">
      <dgm:prSet presAssocID="{35819647-DDCF-4DE5-9EF3-39A97AE51814}" presName="Accent2" presStyleCnt="0"/>
      <dgm:spPr/>
    </dgm:pt>
    <dgm:pt modelId="{7CBBAE9A-F4E1-4399-B705-F8D728B4FE92}" type="pres">
      <dgm:prSet presAssocID="{35819647-DDCF-4DE5-9EF3-39A97AE51814}" presName="Accent" presStyleLbl="parChTrans1D1" presStyleIdx="1" presStyleCnt="6"/>
      <dgm:spPr/>
    </dgm:pt>
    <dgm:pt modelId="{3F0EAEA9-A0F1-4C1F-B098-4AAE1F6A9A97}" type="pres">
      <dgm:prSet presAssocID="{35819647-DDCF-4DE5-9EF3-39A97AE51814}" presName="Text2" presStyleLbl="alignImgPlace1" presStyleIdx="1" presStyleCnt="6">
        <dgm:presLayoutVars>
          <dgm:chMax val="0"/>
          <dgm:chPref val="0"/>
          <dgm:bulletEnabled val="1"/>
        </dgm:presLayoutVars>
      </dgm:prSet>
      <dgm:spPr/>
    </dgm:pt>
    <dgm:pt modelId="{1DDB7CD2-7672-46CE-9ED3-FE5916D29041}" type="pres">
      <dgm:prSet presAssocID="{EA792251-286E-4927-AC4C-D36A127137C3}" presName="Image3" presStyleCnt="0"/>
      <dgm:spPr/>
    </dgm:pt>
    <dgm:pt modelId="{DCE1BAA4-61B4-4475-9656-E8C841568499}" type="pres">
      <dgm:prSet presAssocID="{EA792251-286E-4927-AC4C-D36A127137C3}" presName="Image" presStyleLbl="alignImgPlace1" presStyleIdx="2" presStyleCnt="6" custLinFactNeighborX="17748" custLinFactNeighborY="-9416"/>
      <dgm:spPr/>
    </dgm:pt>
    <dgm:pt modelId="{3229932D-452F-4D0F-98F6-821271D6896F}" type="pres">
      <dgm:prSet presAssocID="{EA792251-286E-4927-AC4C-D36A127137C3}" presName="Accent3" presStyleCnt="0"/>
      <dgm:spPr/>
    </dgm:pt>
    <dgm:pt modelId="{2B820F02-8359-4DF8-9B8D-E3CA580BA1C4}" type="pres">
      <dgm:prSet presAssocID="{EA792251-286E-4927-AC4C-D36A127137C3}" presName="Accent" presStyleLbl="parChTrans1D1" presStyleIdx="2" presStyleCnt="6" custLinFactNeighborX="19759" custLinFactNeighborY="-2719"/>
      <dgm:spPr/>
    </dgm:pt>
    <dgm:pt modelId="{A36D07E4-F1A0-4C85-91BA-FB0A7DF4C8E9}" type="pres">
      <dgm:prSet presAssocID="{EA792251-286E-4927-AC4C-D36A127137C3}" presName="Text3" presStyleLbl="alignImgPlace1" presStyleIdx="2" presStyleCnt="6">
        <dgm:presLayoutVars>
          <dgm:chMax val="0"/>
          <dgm:chPref val="0"/>
          <dgm:bulletEnabled val="1"/>
        </dgm:presLayoutVars>
      </dgm:prSet>
      <dgm:spPr/>
    </dgm:pt>
    <dgm:pt modelId="{146995D2-804E-48A3-998F-61B16496BD12}" type="pres">
      <dgm:prSet presAssocID="{373125CD-697D-4EE4-85F7-D6C59F031EA6}" presName="Image4" presStyleCnt="0"/>
      <dgm:spPr/>
    </dgm:pt>
    <dgm:pt modelId="{711D8B28-865E-4CC6-A300-5F86CD4BECD2}" type="pres">
      <dgm:prSet presAssocID="{373125CD-697D-4EE4-85F7-D6C59F031EA6}" presName="Image" presStyleLbl="alignImgPlace1" presStyleIdx="3" presStyleCnt="6"/>
      <dgm:spPr/>
    </dgm:pt>
    <dgm:pt modelId="{46D54524-6B24-4B5E-8B44-9FD86EBA5E2E}" type="pres">
      <dgm:prSet presAssocID="{373125CD-697D-4EE4-85F7-D6C59F031EA6}" presName="Accent4" presStyleCnt="0"/>
      <dgm:spPr/>
    </dgm:pt>
    <dgm:pt modelId="{655D5861-C83A-410D-B297-9DF283E1EF85}" type="pres">
      <dgm:prSet presAssocID="{373125CD-697D-4EE4-85F7-D6C59F031EA6}" presName="Accent" presStyleLbl="parChTrans1D1" presStyleIdx="3" presStyleCnt="6"/>
      <dgm:spPr/>
    </dgm:pt>
    <dgm:pt modelId="{37B1A3DB-408D-4E7D-8C14-72B6884A9841}" type="pres">
      <dgm:prSet presAssocID="{373125CD-697D-4EE4-85F7-D6C59F031EA6}" presName="Text4" presStyleLbl="alignImgPlace1" presStyleIdx="3" presStyleCnt="6">
        <dgm:presLayoutVars>
          <dgm:chMax val="0"/>
          <dgm:chPref val="0"/>
          <dgm:bulletEnabled val="1"/>
        </dgm:presLayoutVars>
      </dgm:prSet>
      <dgm:spPr/>
    </dgm:pt>
    <dgm:pt modelId="{41BD31B0-8520-49A1-A584-2B81EE78EEA2}" type="pres">
      <dgm:prSet presAssocID="{CD468E0A-89A7-4E2D-B57D-223A339CC80F}" presName="Image5" presStyleCnt="0"/>
      <dgm:spPr/>
    </dgm:pt>
    <dgm:pt modelId="{855D0802-B213-4AC9-81EA-55B8757D70F8}" type="pres">
      <dgm:prSet presAssocID="{CD468E0A-89A7-4E2D-B57D-223A339CC80F}" presName="Image" presStyleLbl="alignImgPlace1" presStyleIdx="4" presStyleCnt="6"/>
      <dgm:spPr/>
    </dgm:pt>
    <dgm:pt modelId="{3B52D4CD-527E-4D89-A43C-0E1B60C0F8AC}" type="pres">
      <dgm:prSet presAssocID="{CD468E0A-89A7-4E2D-B57D-223A339CC80F}" presName="Accent5" presStyleCnt="0"/>
      <dgm:spPr/>
    </dgm:pt>
    <dgm:pt modelId="{6BF4660B-B509-4110-9983-96AB6828CABD}" type="pres">
      <dgm:prSet presAssocID="{CD468E0A-89A7-4E2D-B57D-223A339CC80F}" presName="Accent" presStyleLbl="parChTrans1D1" presStyleIdx="4" presStyleCnt="6"/>
      <dgm:spPr/>
    </dgm:pt>
    <dgm:pt modelId="{1FEC9783-A230-45E7-A994-37D080AD5D69}" type="pres">
      <dgm:prSet presAssocID="{CD468E0A-89A7-4E2D-B57D-223A339CC80F}" presName="Text5" presStyleLbl="alignImgPlace1" presStyleIdx="4" presStyleCnt="6">
        <dgm:presLayoutVars>
          <dgm:chMax val="0"/>
          <dgm:chPref val="0"/>
          <dgm:bulletEnabled val="1"/>
        </dgm:presLayoutVars>
      </dgm:prSet>
      <dgm:spPr/>
    </dgm:pt>
    <dgm:pt modelId="{BDFBE847-D0B4-4A3A-91BC-C07A272D3685}" type="pres">
      <dgm:prSet presAssocID="{3D90B8E4-53CD-40D7-888A-753D1E6ECAE4}" presName="Image6" presStyleCnt="0"/>
      <dgm:spPr/>
    </dgm:pt>
    <dgm:pt modelId="{67F8243C-157D-41C4-BA02-8404A051E91F}" type="pres">
      <dgm:prSet presAssocID="{3D90B8E4-53CD-40D7-888A-753D1E6ECAE4}" presName="Image" presStyleLbl="alignImgPlace1" presStyleIdx="5" presStyleCnt="6"/>
      <dgm:spPr/>
    </dgm:pt>
    <dgm:pt modelId="{EC4E725A-9CAB-4CF0-831D-4EDA4F4F2EDB}" type="pres">
      <dgm:prSet presAssocID="{3D90B8E4-53CD-40D7-888A-753D1E6ECAE4}" presName="Accent6" presStyleCnt="0"/>
      <dgm:spPr/>
    </dgm:pt>
    <dgm:pt modelId="{6CB8787D-DFA1-474C-B3EA-5CF9E8F1FD44}" type="pres">
      <dgm:prSet presAssocID="{3D90B8E4-53CD-40D7-888A-753D1E6ECAE4}" presName="Accent" presStyleLbl="parChTrans1D1" presStyleIdx="5" presStyleCnt="6"/>
      <dgm:spPr/>
    </dgm:pt>
    <dgm:pt modelId="{2348D7F1-2303-4C78-91AB-17BBBEE0407C}" type="pres">
      <dgm:prSet presAssocID="{3D90B8E4-53CD-40D7-888A-753D1E6ECAE4}" presName="Text6" presStyleLbl="alignImgPlace1" presStyleIdx="5" presStyleCnt="6">
        <dgm:presLayoutVars>
          <dgm:chMax val="0"/>
          <dgm:chPref val="0"/>
          <dgm:bulletEnabled val="1"/>
        </dgm:presLayoutVars>
      </dgm:prSet>
      <dgm:spPr/>
    </dgm:pt>
  </dgm:ptLst>
  <dgm:cxnLst>
    <dgm:cxn modelId="{8CFBE31E-FD68-4694-B2E4-75E61C88D04B}" srcId="{EC27EC74-A849-4816-ABA0-F45C0648F190}" destId="{373125CD-697D-4EE4-85F7-D6C59F031EA6}" srcOrd="3" destOrd="0" parTransId="{C4CB1AC6-A9AD-4E1D-B34A-4C6EA1844F2D}" sibTransId="{24C8F9D9-BA31-4552-B94E-E33F77763BF2}"/>
    <dgm:cxn modelId="{EBAEEA1F-C662-4052-8A36-13900E90C716}" srcId="{EC27EC74-A849-4816-ABA0-F45C0648F190}" destId="{35819647-DDCF-4DE5-9EF3-39A97AE51814}" srcOrd="1" destOrd="0" parTransId="{72283E93-CEC3-4138-B368-A3B9A355BEC1}" sibTransId="{3F7B3F8F-0A77-4A1E-9EFE-9B045DF3E1D3}"/>
    <dgm:cxn modelId="{F680163F-6CDE-4029-8B7F-A0196C7FFC67}" srcId="{EC27EC74-A849-4816-ABA0-F45C0648F190}" destId="{50C98954-61C5-4B05-8CA3-FBD25B89F77D}" srcOrd="0" destOrd="0" parTransId="{995CDEDC-BCDA-4A24-8D0E-DAA67678EE3A}" sibTransId="{1E26DDE2-0B16-444A-8853-705851B2C05B}"/>
    <dgm:cxn modelId="{6A44BE4A-FEF8-487D-A01C-D90E429B56E6}" type="presOf" srcId="{3D90B8E4-53CD-40D7-888A-753D1E6ECAE4}" destId="{2348D7F1-2303-4C78-91AB-17BBBEE0407C}" srcOrd="0" destOrd="0" presId="urn:microsoft.com/office/officeart/2011/layout/ThemePictureAccent"/>
    <dgm:cxn modelId="{8690C172-7E16-4FA9-9C1E-E1D9A687C5FB}" type="presOf" srcId="{CD468E0A-89A7-4E2D-B57D-223A339CC80F}" destId="{1FEC9783-A230-45E7-A994-37D080AD5D69}" srcOrd="0" destOrd="0" presId="urn:microsoft.com/office/officeart/2011/layout/ThemePictureAccent"/>
    <dgm:cxn modelId="{80CF8B80-B447-46B9-AA6D-88CA6687A75B}" type="presOf" srcId="{373125CD-697D-4EE4-85F7-D6C59F031EA6}" destId="{37B1A3DB-408D-4E7D-8C14-72B6884A9841}" srcOrd="0" destOrd="0" presId="urn:microsoft.com/office/officeart/2011/layout/ThemePictureAccent"/>
    <dgm:cxn modelId="{6F6C879A-304A-4C55-A539-76903D30E3B1}" srcId="{EC27EC74-A849-4816-ABA0-F45C0648F190}" destId="{3D90B8E4-53CD-40D7-888A-753D1E6ECAE4}" srcOrd="5" destOrd="0" parTransId="{947F018D-02F1-4BA3-912C-8A3DB5D5C08E}" sibTransId="{D2F0AE48-BE0F-41C2-9DD2-D3823DE3067D}"/>
    <dgm:cxn modelId="{BD20BDA1-823D-402C-922C-683DC82CFB35}" type="presOf" srcId="{EC27EC74-A849-4816-ABA0-F45C0648F190}" destId="{5E8E1310-015A-4092-8EAE-5FE6882DE88E}" srcOrd="0" destOrd="0" presId="urn:microsoft.com/office/officeart/2011/layout/ThemePictureAccent"/>
    <dgm:cxn modelId="{251800A2-5479-4640-8BFC-04FB9387C094}" srcId="{EC27EC74-A849-4816-ABA0-F45C0648F190}" destId="{CD468E0A-89A7-4E2D-B57D-223A339CC80F}" srcOrd="4" destOrd="0" parTransId="{FA8583B8-8188-4DC9-8576-4A9B3E2B8E37}" sibTransId="{7478AC20-4210-4EFF-BE23-DF9C84B43E35}"/>
    <dgm:cxn modelId="{3E8D58C9-12ED-4973-8D5B-0B095EF61961}" type="presOf" srcId="{50C98954-61C5-4B05-8CA3-FBD25B89F77D}" destId="{2DEE9207-6092-47CA-9286-F5B662002E92}" srcOrd="0" destOrd="0" presId="urn:microsoft.com/office/officeart/2011/layout/ThemePictureAccent"/>
    <dgm:cxn modelId="{B11165D7-BB42-4330-9692-FF623FB592A1}" type="presOf" srcId="{EA792251-286E-4927-AC4C-D36A127137C3}" destId="{A36D07E4-F1A0-4C85-91BA-FB0A7DF4C8E9}" srcOrd="0" destOrd="0" presId="urn:microsoft.com/office/officeart/2011/layout/ThemePictureAccent"/>
    <dgm:cxn modelId="{E0E217D8-7634-413A-BEA4-C8012E0D842C}" type="presOf" srcId="{35819647-DDCF-4DE5-9EF3-39A97AE51814}" destId="{3F0EAEA9-A0F1-4C1F-B098-4AAE1F6A9A97}" srcOrd="0" destOrd="0" presId="urn:microsoft.com/office/officeart/2011/layout/ThemePictureAccent"/>
    <dgm:cxn modelId="{7400DCE2-2CC2-48C7-B2EC-D5DC716EC2B9}" srcId="{EC27EC74-A849-4816-ABA0-F45C0648F190}" destId="{EA792251-286E-4927-AC4C-D36A127137C3}" srcOrd="2" destOrd="0" parTransId="{B424C6C4-2FDC-4143-A630-AD6128C62A0D}" sibTransId="{13A1D8A0-CAC2-44F7-94CD-022D7DDD1916}"/>
    <dgm:cxn modelId="{697B3A1D-6BFF-4310-8E57-3EF26FF13EFB}" type="presParOf" srcId="{5E8E1310-015A-4092-8EAE-5FE6882DE88E}" destId="{1366CA24-07F7-4FAB-983D-F746110F84DC}" srcOrd="0" destOrd="0" presId="urn:microsoft.com/office/officeart/2011/layout/ThemePictureAccent"/>
    <dgm:cxn modelId="{BBBFA000-E55B-4294-898B-2ED799CEE557}" type="presParOf" srcId="{1366CA24-07F7-4FAB-983D-F746110F84DC}" destId="{68CE8BB9-F971-4F20-A4AD-682837BEE0E1}" srcOrd="0" destOrd="0" presId="urn:microsoft.com/office/officeart/2011/layout/ThemePictureAccent"/>
    <dgm:cxn modelId="{3733C8ED-B494-4B80-A39C-A617494AA285}" type="presParOf" srcId="{5E8E1310-015A-4092-8EAE-5FE6882DE88E}" destId="{A16C36C8-E019-4D70-A299-5DA090868671}" srcOrd="1" destOrd="0" presId="urn:microsoft.com/office/officeart/2011/layout/ThemePictureAccent"/>
    <dgm:cxn modelId="{CB0E1BF0-EE2D-4203-A1CA-4AEE40ADBF14}" type="presParOf" srcId="{A16C36C8-E019-4D70-A299-5DA090868671}" destId="{3C5FC08E-21E3-4650-AA9D-5EA885EC4D41}" srcOrd="0" destOrd="0" presId="urn:microsoft.com/office/officeart/2011/layout/ThemePictureAccent"/>
    <dgm:cxn modelId="{337352EB-170B-4860-B17A-33D00DE3E311}" type="presParOf" srcId="{5E8E1310-015A-4092-8EAE-5FE6882DE88E}" destId="{2DEE9207-6092-47CA-9286-F5B662002E92}" srcOrd="2" destOrd="0" presId="urn:microsoft.com/office/officeart/2011/layout/ThemePictureAccent"/>
    <dgm:cxn modelId="{ACAEAB64-F2AC-4A7E-B647-53E80369116C}" type="presParOf" srcId="{5E8E1310-015A-4092-8EAE-5FE6882DE88E}" destId="{CF2D8243-62E3-4FCC-9E8D-703DD445F701}" srcOrd="3" destOrd="0" presId="urn:microsoft.com/office/officeart/2011/layout/ThemePictureAccent"/>
    <dgm:cxn modelId="{3EDB8B1E-668F-47F0-8E88-3684A65FF491}" type="presParOf" srcId="{CF2D8243-62E3-4FCC-9E8D-703DD445F701}" destId="{F5F420D0-17D0-4A1F-9134-630A05390CA0}" srcOrd="0" destOrd="0" presId="urn:microsoft.com/office/officeart/2011/layout/ThemePictureAccent"/>
    <dgm:cxn modelId="{16C02A20-B1E0-4134-883B-FC80C83BB85B}" type="presParOf" srcId="{5E8E1310-015A-4092-8EAE-5FE6882DE88E}" destId="{91438227-882F-439F-8D9F-6BC172FC1A8B}" srcOrd="4" destOrd="0" presId="urn:microsoft.com/office/officeart/2011/layout/ThemePictureAccent"/>
    <dgm:cxn modelId="{AEF37CFF-7FCB-4EDD-B69A-BE9C32CB3A93}" type="presParOf" srcId="{91438227-882F-439F-8D9F-6BC172FC1A8B}" destId="{7CBBAE9A-F4E1-4399-B705-F8D728B4FE92}" srcOrd="0" destOrd="0" presId="urn:microsoft.com/office/officeart/2011/layout/ThemePictureAccent"/>
    <dgm:cxn modelId="{34B27D81-C4A7-431A-AD39-E59A94A9CAD2}" type="presParOf" srcId="{5E8E1310-015A-4092-8EAE-5FE6882DE88E}" destId="{3F0EAEA9-A0F1-4C1F-B098-4AAE1F6A9A97}" srcOrd="5" destOrd="0" presId="urn:microsoft.com/office/officeart/2011/layout/ThemePictureAccent"/>
    <dgm:cxn modelId="{D2EF2EFC-CE1A-40B1-9BBF-BBD2AB7798E7}" type="presParOf" srcId="{5E8E1310-015A-4092-8EAE-5FE6882DE88E}" destId="{1DDB7CD2-7672-46CE-9ED3-FE5916D29041}" srcOrd="6" destOrd="0" presId="urn:microsoft.com/office/officeart/2011/layout/ThemePictureAccent"/>
    <dgm:cxn modelId="{AC03C15C-7124-4037-9CD6-BF965E79E53A}" type="presParOf" srcId="{1DDB7CD2-7672-46CE-9ED3-FE5916D29041}" destId="{DCE1BAA4-61B4-4475-9656-E8C841568499}" srcOrd="0" destOrd="0" presId="urn:microsoft.com/office/officeart/2011/layout/ThemePictureAccent"/>
    <dgm:cxn modelId="{6CC171E6-F2C9-4503-801F-E3621A0267BC}" type="presParOf" srcId="{5E8E1310-015A-4092-8EAE-5FE6882DE88E}" destId="{3229932D-452F-4D0F-98F6-821271D6896F}" srcOrd="7" destOrd="0" presId="urn:microsoft.com/office/officeart/2011/layout/ThemePictureAccent"/>
    <dgm:cxn modelId="{ABBD013B-77C6-46A1-A87F-CB28D3017ABC}" type="presParOf" srcId="{3229932D-452F-4D0F-98F6-821271D6896F}" destId="{2B820F02-8359-4DF8-9B8D-E3CA580BA1C4}" srcOrd="0" destOrd="0" presId="urn:microsoft.com/office/officeart/2011/layout/ThemePictureAccent"/>
    <dgm:cxn modelId="{3422BE77-E447-49FA-AE90-7CB0D8F6918B}" type="presParOf" srcId="{5E8E1310-015A-4092-8EAE-5FE6882DE88E}" destId="{A36D07E4-F1A0-4C85-91BA-FB0A7DF4C8E9}" srcOrd="8" destOrd="0" presId="urn:microsoft.com/office/officeart/2011/layout/ThemePictureAccent"/>
    <dgm:cxn modelId="{61E48EDB-35B4-42E2-B731-1CE36805E57C}" type="presParOf" srcId="{5E8E1310-015A-4092-8EAE-5FE6882DE88E}" destId="{146995D2-804E-48A3-998F-61B16496BD12}" srcOrd="9" destOrd="0" presId="urn:microsoft.com/office/officeart/2011/layout/ThemePictureAccent"/>
    <dgm:cxn modelId="{651C1627-C774-4EDC-9DBE-68D970B7A62E}" type="presParOf" srcId="{146995D2-804E-48A3-998F-61B16496BD12}" destId="{711D8B28-865E-4CC6-A300-5F86CD4BECD2}" srcOrd="0" destOrd="0" presId="urn:microsoft.com/office/officeart/2011/layout/ThemePictureAccent"/>
    <dgm:cxn modelId="{5EA8C713-3B2F-4D1A-A27D-0FD55192FED4}" type="presParOf" srcId="{5E8E1310-015A-4092-8EAE-5FE6882DE88E}" destId="{46D54524-6B24-4B5E-8B44-9FD86EBA5E2E}" srcOrd="10" destOrd="0" presId="urn:microsoft.com/office/officeart/2011/layout/ThemePictureAccent"/>
    <dgm:cxn modelId="{896F640F-D2EE-45DC-A1AD-5E417801C3CE}" type="presParOf" srcId="{46D54524-6B24-4B5E-8B44-9FD86EBA5E2E}" destId="{655D5861-C83A-410D-B297-9DF283E1EF85}" srcOrd="0" destOrd="0" presId="urn:microsoft.com/office/officeart/2011/layout/ThemePictureAccent"/>
    <dgm:cxn modelId="{29BEA2F7-B797-40E8-84A7-CF88EE032002}" type="presParOf" srcId="{5E8E1310-015A-4092-8EAE-5FE6882DE88E}" destId="{37B1A3DB-408D-4E7D-8C14-72B6884A9841}" srcOrd="11" destOrd="0" presId="urn:microsoft.com/office/officeart/2011/layout/ThemePictureAccent"/>
    <dgm:cxn modelId="{79A86816-15E9-4BB0-81A1-395D1B11AD0B}" type="presParOf" srcId="{5E8E1310-015A-4092-8EAE-5FE6882DE88E}" destId="{41BD31B0-8520-49A1-A584-2B81EE78EEA2}" srcOrd="12" destOrd="0" presId="urn:microsoft.com/office/officeart/2011/layout/ThemePictureAccent"/>
    <dgm:cxn modelId="{0CF077B6-472F-4B1B-B9C9-4375667B4B1F}" type="presParOf" srcId="{41BD31B0-8520-49A1-A584-2B81EE78EEA2}" destId="{855D0802-B213-4AC9-81EA-55B8757D70F8}" srcOrd="0" destOrd="0" presId="urn:microsoft.com/office/officeart/2011/layout/ThemePictureAccent"/>
    <dgm:cxn modelId="{EB9B1F2A-ED50-411C-A4DB-9ADF2F98B130}" type="presParOf" srcId="{5E8E1310-015A-4092-8EAE-5FE6882DE88E}" destId="{3B52D4CD-527E-4D89-A43C-0E1B60C0F8AC}" srcOrd="13" destOrd="0" presId="urn:microsoft.com/office/officeart/2011/layout/ThemePictureAccent"/>
    <dgm:cxn modelId="{5B8E3107-A432-48D4-A093-B8D04E810FD9}" type="presParOf" srcId="{3B52D4CD-527E-4D89-A43C-0E1B60C0F8AC}" destId="{6BF4660B-B509-4110-9983-96AB6828CABD}" srcOrd="0" destOrd="0" presId="urn:microsoft.com/office/officeart/2011/layout/ThemePictureAccent"/>
    <dgm:cxn modelId="{889EE9E4-FE47-4084-829A-B0002020ACE7}" type="presParOf" srcId="{5E8E1310-015A-4092-8EAE-5FE6882DE88E}" destId="{1FEC9783-A230-45E7-A994-37D080AD5D69}" srcOrd="14" destOrd="0" presId="urn:microsoft.com/office/officeart/2011/layout/ThemePictureAccent"/>
    <dgm:cxn modelId="{72B8FDB9-81E2-4D5C-83A7-2A6FDDCC2E1C}" type="presParOf" srcId="{5E8E1310-015A-4092-8EAE-5FE6882DE88E}" destId="{BDFBE847-D0B4-4A3A-91BC-C07A272D3685}" srcOrd="15" destOrd="0" presId="urn:microsoft.com/office/officeart/2011/layout/ThemePictureAccent"/>
    <dgm:cxn modelId="{8FA772B6-179C-4318-A55B-BF48B8555EEC}" type="presParOf" srcId="{BDFBE847-D0B4-4A3A-91BC-C07A272D3685}" destId="{67F8243C-157D-41C4-BA02-8404A051E91F}" srcOrd="0" destOrd="0" presId="urn:microsoft.com/office/officeart/2011/layout/ThemePictureAccent"/>
    <dgm:cxn modelId="{79D4AAFC-4BFD-46BB-8684-680B95A93D39}" type="presParOf" srcId="{5E8E1310-015A-4092-8EAE-5FE6882DE88E}" destId="{EC4E725A-9CAB-4CF0-831D-4EDA4F4F2EDB}" srcOrd="16" destOrd="0" presId="urn:microsoft.com/office/officeart/2011/layout/ThemePictureAccent"/>
    <dgm:cxn modelId="{785BCF43-ECA0-4B9A-99A5-45C51221117F}" type="presParOf" srcId="{EC4E725A-9CAB-4CF0-831D-4EDA4F4F2EDB}" destId="{6CB8787D-DFA1-474C-B3EA-5CF9E8F1FD44}" srcOrd="0" destOrd="0" presId="urn:microsoft.com/office/officeart/2011/layout/ThemePictureAccent"/>
    <dgm:cxn modelId="{41D23DFB-5EE9-4F6E-9A45-1F58EC2EFC0A}" type="presParOf" srcId="{5E8E1310-015A-4092-8EAE-5FE6882DE88E}" destId="{2348D7F1-2303-4C78-91AB-17BBBEE0407C}" srcOrd="17" destOrd="0" presId="urn:microsoft.com/office/officeart/2011/layout/ThemePictureAccen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955B4-6222-4067-A430-D49426E6D952}">
      <dsp:nvSpPr>
        <dsp:cNvPr id="0" name=""/>
        <dsp:cNvSpPr/>
      </dsp:nvSpPr>
      <dsp:spPr>
        <a:xfrm rot="16200000">
          <a:off x="991772" y="-991772"/>
          <a:ext cx="3158196" cy="5141741"/>
        </a:xfrm>
        <a:prstGeom prst="round1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r>
            <a:rPr lang="en-US" sz="1600" b="1" kern="1200" dirty="0">
              <a:solidFill>
                <a:srgbClr val="FF0000"/>
              </a:solidFill>
            </a:rPr>
            <a:t>Objective 1:  Identify Market Expansion Opportunities </a:t>
          </a:r>
        </a:p>
        <a:p>
          <a:pPr marL="0" lvl="0" indent="0" algn="ctr" defTabSz="711200">
            <a:lnSpc>
              <a:spcPct val="90000"/>
            </a:lnSpc>
            <a:spcBef>
              <a:spcPct val="0"/>
            </a:spcBef>
            <a:spcAft>
              <a:spcPct val="35000"/>
            </a:spcAft>
            <a:buNone/>
          </a:pPr>
          <a:r>
            <a:rPr lang="en-US" sz="1400" b="1" kern="1200" dirty="0"/>
            <a:t>Analyze regional demand, revenue potential, customer segments and cuisine preferences to identify high-potential markets for expansion</a:t>
          </a:r>
        </a:p>
        <a:p>
          <a:pPr marL="0" lvl="0" indent="0" algn="ctr" defTabSz="711200">
            <a:lnSpc>
              <a:spcPct val="90000"/>
            </a:lnSpc>
            <a:spcBef>
              <a:spcPct val="0"/>
            </a:spcBef>
            <a:spcAft>
              <a:spcPct val="35000"/>
            </a:spcAft>
            <a:buNone/>
          </a:pPr>
          <a:r>
            <a:rPr lang="en-US" sz="1400" b="1" kern="1200" dirty="0"/>
            <a:t>Key analysis areas:</a:t>
          </a:r>
        </a:p>
        <a:p>
          <a:pPr marL="0" lvl="0" indent="0" algn="ctr" defTabSz="711200">
            <a:lnSpc>
              <a:spcPct val="90000"/>
            </a:lnSpc>
            <a:spcBef>
              <a:spcPct val="0"/>
            </a:spcBef>
            <a:spcAft>
              <a:spcPct val="35000"/>
            </a:spcAft>
            <a:buFont typeface="Arial" panose="020B0604020202020204" pitchFamily="34" charset="0"/>
            <a:buNone/>
          </a:pPr>
          <a:r>
            <a:rPr lang="en-US" sz="1400" b="1" kern="1200" dirty="0"/>
            <a:t>* Regional Revenue and Demand</a:t>
          </a:r>
        </a:p>
        <a:p>
          <a:pPr marL="0" lvl="0" indent="0" algn="ctr" defTabSz="711200">
            <a:lnSpc>
              <a:spcPct val="90000"/>
            </a:lnSpc>
            <a:spcBef>
              <a:spcPct val="0"/>
            </a:spcBef>
            <a:spcAft>
              <a:spcPct val="35000"/>
            </a:spcAft>
            <a:buFont typeface="Arial" panose="020B0604020202020204" pitchFamily="34" charset="0"/>
            <a:buNone/>
          </a:pPr>
          <a:r>
            <a:rPr lang="en-US" sz="1400" b="1" kern="1200" dirty="0"/>
            <a:t>* Customer segment contribution</a:t>
          </a:r>
        </a:p>
        <a:p>
          <a:pPr marL="0" lvl="0" indent="0" algn="ctr" defTabSz="711200">
            <a:lnSpc>
              <a:spcPct val="90000"/>
            </a:lnSpc>
            <a:spcBef>
              <a:spcPct val="0"/>
            </a:spcBef>
            <a:spcAft>
              <a:spcPct val="35000"/>
            </a:spcAft>
            <a:buFont typeface="Arial" panose="020B0604020202020204" pitchFamily="34" charset="0"/>
            <a:buNone/>
          </a:pPr>
          <a:r>
            <a:rPr lang="en-US" sz="1400" b="1" kern="1200" dirty="0"/>
            <a:t>* Cuisine performance</a:t>
          </a:r>
        </a:p>
      </dsp:txBody>
      <dsp:txXfrm rot="5400000">
        <a:off x="-1" y="1"/>
        <a:ext cx="5141741" cy="2368647"/>
      </dsp:txXfrm>
    </dsp:sp>
    <dsp:sp modelId="{C9578589-9D23-4EC6-80D5-D9463D446359}">
      <dsp:nvSpPr>
        <dsp:cNvPr id="0" name=""/>
        <dsp:cNvSpPr/>
      </dsp:nvSpPr>
      <dsp:spPr>
        <a:xfrm>
          <a:off x="5141741" y="0"/>
          <a:ext cx="5141741" cy="3158196"/>
        </a:xfrm>
        <a:prstGeom prst="round1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r>
            <a:rPr lang="en-US" sz="1600" b="1" kern="1200" dirty="0">
              <a:solidFill>
                <a:srgbClr val="FF0000"/>
              </a:solidFill>
            </a:rPr>
            <a:t>Objective 2: Improve Delivery and Logistics Efficiency</a:t>
          </a:r>
        </a:p>
        <a:p>
          <a:pPr marL="0" lvl="0" indent="0" algn="ctr" defTabSz="711200">
            <a:lnSpc>
              <a:spcPct val="90000"/>
            </a:lnSpc>
            <a:spcBef>
              <a:spcPct val="0"/>
            </a:spcBef>
            <a:spcAft>
              <a:spcPct val="35000"/>
            </a:spcAft>
            <a:buNone/>
          </a:pPr>
          <a:r>
            <a:rPr lang="en-US" sz="1400" b="1" kern="1200" dirty="0"/>
            <a:t>Evaluate delivery time, vehicle performance, delivery partner efficiency, and operational factors affecting delivery performance</a:t>
          </a:r>
          <a:r>
            <a:rPr lang="en-US" sz="1400" kern="1200" dirty="0"/>
            <a:t>.</a:t>
          </a:r>
        </a:p>
        <a:p>
          <a:pPr marL="0" lvl="0" indent="0" algn="ctr" defTabSz="711200">
            <a:lnSpc>
              <a:spcPct val="90000"/>
            </a:lnSpc>
            <a:spcBef>
              <a:spcPct val="0"/>
            </a:spcBef>
            <a:spcAft>
              <a:spcPct val="35000"/>
            </a:spcAft>
            <a:buNone/>
          </a:pPr>
          <a:r>
            <a:rPr lang="en-US" sz="1400" b="1" kern="1200" dirty="0"/>
            <a:t>Key analysis areas:</a:t>
          </a:r>
        </a:p>
        <a:p>
          <a:pPr marL="0" lvl="0" indent="0" algn="ctr" defTabSz="711200">
            <a:lnSpc>
              <a:spcPct val="90000"/>
            </a:lnSpc>
            <a:spcBef>
              <a:spcPct val="0"/>
            </a:spcBef>
            <a:spcAft>
              <a:spcPct val="35000"/>
            </a:spcAft>
            <a:buNone/>
          </a:pPr>
          <a:r>
            <a:rPr lang="en-US" sz="1400" b="1" kern="1200" dirty="0"/>
            <a:t>*Delivery-time categories</a:t>
          </a:r>
        </a:p>
        <a:p>
          <a:pPr marL="0" lvl="0" indent="0" algn="ctr" defTabSz="711200">
            <a:lnSpc>
              <a:spcPct val="90000"/>
            </a:lnSpc>
            <a:spcBef>
              <a:spcPct val="0"/>
            </a:spcBef>
            <a:spcAft>
              <a:spcPct val="35000"/>
            </a:spcAft>
            <a:buNone/>
          </a:pPr>
          <a:r>
            <a:rPr lang="en-US" sz="1400" b="1" kern="1200" dirty="0"/>
            <a:t>* Vehicle-wise performance</a:t>
          </a:r>
        </a:p>
        <a:p>
          <a:pPr marL="0" lvl="0" indent="0" algn="ctr" defTabSz="711200">
            <a:lnSpc>
              <a:spcPct val="90000"/>
            </a:lnSpc>
            <a:spcBef>
              <a:spcPct val="0"/>
            </a:spcBef>
            <a:spcAft>
              <a:spcPct val="35000"/>
            </a:spcAft>
            <a:buNone/>
          </a:pPr>
          <a:r>
            <a:rPr lang="en-US" sz="1400" b="1" kern="1200" dirty="0"/>
            <a:t>* Delivery speed and efficiency</a:t>
          </a:r>
        </a:p>
      </dsp:txBody>
      <dsp:txXfrm>
        <a:off x="5141741" y="0"/>
        <a:ext cx="5141741" cy="2368647"/>
      </dsp:txXfrm>
    </dsp:sp>
    <dsp:sp modelId="{6CFDAE43-1329-4C1C-AA70-D7ED48F02174}">
      <dsp:nvSpPr>
        <dsp:cNvPr id="0" name=""/>
        <dsp:cNvSpPr/>
      </dsp:nvSpPr>
      <dsp:spPr>
        <a:xfrm rot="10800000">
          <a:off x="0" y="3158196"/>
          <a:ext cx="5141741" cy="3158196"/>
        </a:xfrm>
        <a:prstGeom prst="round1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0000"/>
              </a:solidFill>
              <a:latin typeface="+mn-lt"/>
            </a:rPr>
            <a:t>Objective 3: Understand Customer Behavior and Loyalty</a:t>
          </a:r>
        </a:p>
        <a:p>
          <a:pPr marL="0" lvl="0" indent="0" algn="ctr" defTabSz="711200">
            <a:lnSpc>
              <a:spcPct val="90000"/>
            </a:lnSpc>
            <a:spcBef>
              <a:spcPct val="0"/>
            </a:spcBef>
            <a:spcAft>
              <a:spcPct val="35000"/>
            </a:spcAft>
            <a:buNone/>
          </a:pPr>
          <a:r>
            <a:rPr lang="en-US" sz="1400" b="1" kern="1200" dirty="0">
              <a:latin typeface="+mn-lt"/>
            </a:rPr>
            <a:t>Examine customer purchasing patterns, spending behavior, ratings and segment level performance to support customer retention</a:t>
          </a:r>
          <a:r>
            <a:rPr lang="en-US" sz="1400" kern="1200" dirty="0">
              <a:latin typeface="+mn-lt"/>
            </a:rPr>
            <a:t>.</a:t>
          </a:r>
        </a:p>
        <a:p>
          <a:pPr marL="0" lvl="0" indent="0" algn="ctr" defTabSz="711200">
            <a:lnSpc>
              <a:spcPct val="90000"/>
            </a:lnSpc>
            <a:spcBef>
              <a:spcPct val="0"/>
            </a:spcBef>
            <a:spcAft>
              <a:spcPct val="35000"/>
            </a:spcAft>
            <a:buNone/>
          </a:pPr>
          <a:r>
            <a:rPr lang="en-US" sz="1400" b="1" kern="1200" dirty="0">
              <a:latin typeface="+mn-lt"/>
            </a:rPr>
            <a:t>Key analysis areas:</a:t>
          </a:r>
        </a:p>
        <a:p>
          <a:pPr marL="0" lvl="0" indent="0" algn="ctr" defTabSz="711200">
            <a:lnSpc>
              <a:spcPct val="90000"/>
            </a:lnSpc>
            <a:spcBef>
              <a:spcPct val="0"/>
            </a:spcBef>
            <a:spcAft>
              <a:spcPct val="35000"/>
            </a:spcAft>
            <a:buFont typeface="Arial" panose="020B0604020202020204" pitchFamily="34" charset="0"/>
            <a:buNone/>
          </a:pPr>
          <a:r>
            <a:rPr lang="en-US" sz="1400" b="1" kern="1200" dirty="0">
              <a:latin typeface="+mn-lt"/>
            </a:rPr>
            <a:t>* Customer spending patterns</a:t>
          </a:r>
        </a:p>
        <a:p>
          <a:pPr marL="0" lvl="0" indent="0" algn="ctr" defTabSz="711200">
            <a:lnSpc>
              <a:spcPct val="90000"/>
            </a:lnSpc>
            <a:spcBef>
              <a:spcPct val="0"/>
            </a:spcBef>
            <a:spcAft>
              <a:spcPct val="35000"/>
            </a:spcAft>
            <a:buFont typeface="Arial" panose="020B0604020202020204" pitchFamily="34" charset="0"/>
            <a:buNone/>
          </a:pPr>
          <a:r>
            <a:rPr lang="en-US" sz="1400" b="1" kern="1200" dirty="0">
              <a:latin typeface="+mn-lt"/>
            </a:rPr>
            <a:t>* Customer segment</a:t>
          </a:r>
        </a:p>
        <a:p>
          <a:pPr marL="0" lvl="0" indent="0" algn="ctr" defTabSz="711200">
            <a:lnSpc>
              <a:spcPct val="90000"/>
            </a:lnSpc>
            <a:spcBef>
              <a:spcPct val="0"/>
            </a:spcBef>
            <a:spcAft>
              <a:spcPct val="35000"/>
            </a:spcAft>
            <a:buFont typeface="Arial" panose="020B0604020202020204" pitchFamily="34" charset="0"/>
            <a:buNone/>
          </a:pPr>
          <a:r>
            <a:rPr lang="en-US" sz="1400" b="1" kern="1200" dirty="0">
              <a:latin typeface="+mn-lt"/>
            </a:rPr>
            <a:t>* Ratings and engagement</a:t>
          </a:r>
        </a:p>
      </dsp:txBody>
      <dsp:txXfrm rot="10800000">
        <a:off x="0" y="3947746"/>
        <a:ext cx="5141741" cy="2368647"/>
      </dsp:txXfrm>
    </dsp:sp>
    <dsp:sp modelId="{CD3B6828-7AF1-4686-AF7D-BA5709F3824E}">
      <dsp:nvSpPr>
        <dsp:cNvPr id="0" name=""/>
        <dsp:cNvSpPr/>
      </dsp:nvSpPr>
      <dsp:spPr>
        <a:xfrm rot="5400000">
          <a:off x="6133513" y="2166424"/>
          <a:ext cx="3158196" cy="5141741"/>
        </a:xfrm>
        <a:prstGeom prst="round1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0000"/>
              </a:solidFill>
            </a:rPr>
            <a:t>Objective 4: Evaluate overall business performance</a:t>
          </a:r>
        </a:p>
        <a:p>
          <a:pPr marL="0" lvl="0" indent="0" algn="ctr" defTabSz="711200">
            <a:lnSpc>
              <a:spcPct val="90000"/>
            </a:lnSpc>
            <a:spcBef>
              <a:spcPct val="0"/>
            </a:spcBef>
            <a:spcAft>
              <a:spcPct val="35000"/>
            </a:spcAft>
            <a:buNone/>
          </a:pPr>
          <a:r>
            <a:rPr lang="en-US" sz="1400" b="1" kern="1200" dirty="0"/>
            <a:t>Assess restaurant, cuisine, delivery and monthly business trends to support operational planning and strategic decision-making</a:t>
          </a:r>
        </a:p>
        <a:p>
          <a:pPr marL="0" lvl="0" indent="0" algn="ctr" defTabSz="711200">
            <a:lnSpc>
              <a:spcPct val="90000"/>
            </a:lnSpc>
            <a:spcBef>
              <a:spcPct val="0"/>
            </a:spcBef>
            <a:spcAft>
              <a:spcPct val="35000"/>
            </a:spcAft>
            <a:buNone/>
          </a:pPr>
          <a:r>
            <a:rPr lang="en-US" sz="1400" b="1" kern="1200" dirty="0"/>
            <a:t>Key analysis areas:</a:t>
          </a:r>
        </a:p>
        <a:p>
          <a:pPr marL="0" lvl="0" indent="0" algn="ctr" defTabSz="711200">
            <a:lnSpc>
              <a:spcPct val="90000"/>
            </a:lnSpc>
            <a:spcBef>
              <a:spcPct val="0"/>
            </a:spcBef>
            <a:spcAft>
              <a:spcPct val="35000"/>
            </a:spcAft>
            <a:buNone/>
          </a:pPr>
          <a:r>
            <a:rPr lang="en-US" sz="1400" b="1" kern="1200" dirty="0"/>
            <a:t>* Restaurant performance</a:t>
          </a:r>
        </a:p>
        <a:p>
          <a:pPr marL="0" lvl="0" indent="0" algn="ctr" defTabSz="711200">
            <a:lnSpc>
              <a:spcPct val="90000"/>
            </a:lnSpc>
            <a:spcBef>
              <a:spcPct val="0"/>
            </a:spcBef>
            <a:spcAft>
              <a:spcPct val="35000"/>
            </a:spcAft>
            <a:buNone/>
          </a:pPr>
          <a:r>
            <a:rPr lang="en-US" sz="1400" b="1" kern="1200" dirty="0"/>
            <a:t>* Revenue and order trends</a:t>
          </a:r>
        </a:p>
        <a:p>
          <a:pPr marL="0" lvl="0" indent="0" algn="ctr" defTabSz="711200">
            <a:lnSpc>
              <a:spcPct val="90000"/>
            </a:lnSpc>
            <a:spcBef>
              <a:spcPct val="0"/>
            </a:spcBef>
            <a:spcAft>
              <a:spcPct val="35000"/>
            </a:spcAft>
            <a:buNone/>
          </a:pPr>
          <a:r>
            <a:rPr lang="en-US" sz="1400" b="1" kern="1200" dirty="0"/>
            <a:t>* Operational performance</a:t>
          </a:r>
        </a:p>
      </dsp:txBody>
      <dsp:txXfrm rot="-5400000">
        <a:off x="5141741" y="3947746"/>
        <a:ext cx="5141741" cy="2368647"/>
      </dsp:txXfrm>
    </dsp:sp>
    <dsp:sp modelId="{29CD2DEF-83AB-4D8A-B95A-211A2DE9D873}">
      <dsp:nvSpPr>
        <dsp:cNvPr id="0" name=""/>
        <dsp:cNvSpPr/>
      </dsp:nvSpPr>
      <dsp:spPr>
        <a:xfrm>
          <a:off x="3599219" y="2368647"/>
          <a:ext cx="3085044" cy="1579098"/>
        </a:xfrm>
        <a:prstGeom prst="roundRect">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mj-lt"/>
            </a:rPr>
            <a:t>Business Objectives and Analytical Scope</a:t>
          </a:r>
          <a:endParaRPr lang="en-US" sz="2000" b="1" kern="1200" dirty="0">
            <a:latin typeface="+mj-lt"/>
          </a:endParaRPr>
        </a:p>
      </dsp:txBody>
      <dsp:txXfrm>
        <a:off x="3676304" y="2445732"/>
        <a:ext cx="2930874" cy="14249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9D66DE-D647-43F4-96E2-C8372A02601B}">
      <dsp:nvSpPr>
        <dsp:cNvPr id="0" name=""/>
        <dsp:cNvSpPr/>
      </dsp:nvSpPr>
      <dsp:spPr>
        <a:xfrm>
          <a:off x="2436759" y="0"/>
          <a:ext cx="5073762" cy="5073762"/>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BC3E07-AC8C-4D65-BB4D-CE5168590A1B}">
      <dsp:nvSpPr>
        <dsp:cNvPr id="0" name=""/>
        <dsp:cNvSpPr/>
      </dsp:nvSpPr>
      <dsp:spPr>
        <a:xfrm>
          <a:off x="73942" y="461665"/>
          <a:ext cx="4884764" cy="1978767"/>
        </a:xfrm>
        <a:prstGeom prst="round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1"/>
              </a:solidFill>
              <a:latin typeface="+mn-lt"/>
            </a:rPr>
            <a:t>Customers</a:t>
          </a:r>
          <a:r>
            <a:rPr lang="en-US" sz="1800" kern="1200" dirty="0">
              <a:latin typeface="+mn-lt"/>
            </a:rPr>
            <a:t> </a:t>
          </a:r>
        </a:p>
        <a:p>
          <a:pPr marL="0" lvl="0" indent="0" algn="ctr" defTabSz="1066800">
            <a:lnSpc>
              <a:spcPct val="90000"/>
            </a:lnSpc>
            <a:spcBef>
              <a:spcPct val="0"/>
            </a:spcBef>
            <a:spcAft>
              <a:spcPct val="35000"/>
            </a:spcAft>
            <a:buNone/>
          </a:pPr>
          <a:r>
            <a:rPr lang="en-US" sz="1800" b="1" kern="1200" dirty="0">
              <a:solidFill>
                <a:srgbClr val="FF0000"/>
              </a:solidFill>
              <a:latin typeface="+mn-lt"/>
            </a:rPr>
            <a:t>Key attributes: </a:t>
          </a:r>
          <a:r>
            <a:rPr lang="en-US" sz="1800" b="1" kern="1200" dirty="0">
              <a:latin typeface="+mn-lt"/>
            </a:rPr>
            <a:t>Customer type, Age group, City, Total Orders, Average spend, Preferred cuisine</a:t>
          </a:r>
        </a:p>
        <a:p>
          <a:pPr marL="0" lvl="0" indent="0" algn="ctr" defTabSz="1066800">
            <a:lnSpc>
              <a:spcPct val="90000"/>
            </a:lnSpc>
            <a:spcBef>
              <a:spcPct val="0"/>
            </a:spcBef>
            <a:spcAft>
              <a:spcPct val="35000"/>
            </a:spcAft>
            <a:buNone/>
          </a:pPr>
          <a:r>
            <a:rPr lang="en-US" sz="1800" b="1" kern="1200" dirty="0">
              <a:solidFill>
                <a:srgbClr val="00B050"/>
              </a:solidFill>
              <a:latin typeface="+mn-lt"/>
            </a:rPr>
            <a:t>Business use: </a:t>
          </a:r>
          <a:r>
            <a:rPr lang="en-US" sz="1800" b="1" kern="1200" dirty="0">
              <a:latin typeface="+mn-lt"/>
            </a:rPr>
            <a:t>Customer Segmentation, Spending behavior and loyalty analysis</a:t>
          </a:r>
        </a:p>
      </dsp:txBody>
      <dsp:txXfrm>
        <a:off x="170537" y="558260"/>
        <a:ext cx="4691574" cy="1785577"/>
      </dsp:txXfrm>
    </dsp:sp>
    <dsp:sp modelId="{63A9F36E-A9EA-454E-A316-6875B8E732E5}">
      <dsp:nvSpPr>
        <dsp:cNvPr id="0" name=""/>
        <dsp:cNvSpPr/>
      </dsp:nvSpPr>
      <dsp:spPr>
        <a:xfrm>
          <a:off x="5154552" y="461665"/>
          <a:ext cx="4682851" cy="1978767"/>
        </a:xfrm>
        <a:prstGeom prst="round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1"/>
              </a:solidFill>
            </a:rPr>
            <a:t>Orders</a:t>
          </a:r>
        </a:p>
        <a:p>
          <a:pPr marL="0" lvl="0" indent="0" algn="ctr" defTabSz="1066800">
            <a:lnSpc>
              <a:spcPct val="90000"/>
            </a:lnSpc>
            <a:spcBef>
              <a:spcPct val="0"/>
            </a:spcBef>
            <a:spcAft>
              <a:spcPct val="35000"/>
            </a:spcAft>
            <a:buNone/>
          </a:pPr>
          <a:r>
            <a:rPr lang="en-US" sz="1800" b="1" kern="1200" dirty="0">
              <a:solidFill>
                <a:srgbClr val="FF0000"/>
              </a:solidFill>
            </a:rPr>
            <a:t>Key attributes: </a:t>
          </a:r>
          <a:r>
            <a:rPr lang="en-US" sz="1800" b="1" kern="1200" dirty="0">
              <a:solidFill>
                <a:schemeClr val="tx1"/>
              </a:solidFill>
            </a:rPr>
            <a:t>Order value, Final amount, Region, Delivery Time, Rating, Payment method, Festival Flag</a:t>
          </a:r>
        </a:p>
        <a:p>
          <a:pPr marL="0" lvl="0" indent="0" algn="ctr" defTabSz="1066800">
            <a:lnSpc>
              <a:spcPct val="90000"/>
            </a:lnSpc>
            <a:spcBef>
              <a:spcPct val="0"/>
            </a:spcBef>
            <a:spcAft>
              <a:spcPct val="35000"/>
            </a:spcAft>
            <a:buNone/>
          </a:pPr>
          <a:r>
            <a:rPr lang="en-US" sz="1800" b="1" kern="1200" dirty="0">
              <a:solidFill>
                <a:srgbClr val="00B050"/>
              </a:solidFill>
              <a:latin typeface="Corbel" panose="020B0503020204020204"/>
              <a:ea typeface="+mn-ea"/>
              <a:cs typeface="+mn-cs"/>
            </a:rPr>
            <a:t>Business use: </a:t>
          </a:r>
          <a:r>
            <a:rPr lang="en-US" sz="1800" b="1" kern="1200" dirty="0">
              <a:solidFill>
                <a:schemeClr val="tx1"/>
              </a:solidFill>
              <a:latin typeface="+mn-lt"/>
              <a:ea typeface="+mn-ea"/>
              <a:cs typeface="+mn-cs"/>
            </a:rPr>
            <a:t>Revenue, Demand, Delivery and seasonal trend analysis</a:t>
          </a:r>
          <a:endParaRPr lang="en-US" sz="1800" b="1" kern="1200" dirty="0">
            <a:solidFill>
              <a:srgbClr val="00B050"/>
            </a:solidFill>
            <a:latin typeface="Corbel" panose="020B0503020204020204"/>
            <a:ea typeface="+mn-ea"/>
            <a:cs typeface="+mn-cs"/>
          </a:endParaRPr>
        </a:p>
      </dsp:txBody>
      <dsp:txXfrm>
        <a:off x="5251147" y="558260"/>
        <a:ext cx="4489661" cy="1785577"/>
      </dsp:txXfrm>
    </dsp:sp>
    <dsp:sp modelId="{53D61FC8-3D89-492A-BDE3-B1C4AA5F3486}">
      <dsp:nvSpPr>
        <dsp:cNvPr id="0" name=""/>
        <dsp:cNvSpPr/>
      </dsp:nvSpPr>
      <dsp:spPr>
        <a:xfrm>
          <a:off x="62406" y="2748948"/>
          <a:ext cx="4821365" cy="1978767"/>
        </a:xfrm>
        <a:prstGeom prst="roundRect">
          <a:avLst/>
        </a:prstGeom>
        <a:solidFill>
          <a:prstClr val="white">
            <a:hueOff val="0"/>
            <a:satOff val="0"/>
            <a:lumOff val="0"/>
            <a:alphaOff val="0"/>
          </a:prstClr>
        </a:solidFill>
        <a:ln w="15875" cap="rnd" cmpd="sng" algn="ctr">
          <a:solidFill>
            <a:srgbClr val="30ACEC">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2400" b="1" kern="1200" dirty="0">
              <a:solidFill>
                <a:schemeClr val="accent1"/>
              </a:solidFill>
              <a:latin typeface="+mj-lt"/>
              <a:ea typeface="+mn-ea"/>
              <a:cs typeface="+mn-cs"/>
            </a:rPr>
            <a:t>Restaurants</a:t>
          </a:r>
        </a:p>
        <a:p>
          <a:pPr marL="0" lvl="0" indent="0" algn="ctr" defTabSz="2844800">
            <a:lnSpc>
              <a:spcPct val="90000"/>
            </a:lnSpc>
            <a:spcBef>
              <a:spcPct val="0"/>
            </a:spcBef>
            <a:spcAft>
              <a:spcPct val="35000"/>
            </a:spcAft>
            <a:buNone/>
          </a:pPr>
          <a:r>
            <a:rPr lang="en-US" sz="1800" b="1" kern="1200" dirty="0">
              <a:solidFill>
                <a:srgbClr val="FF0000"/>
              </a:solidFill>
              <a:latin typeface="+mn-lt"/>
              <a:ea typeface="+mn-ea"/>
              <a:cs typeface="+mn-cs"/>
            </a:rPr>
            <a:t>Key attributes: </a:t>
          </a:r>
          <a:r>
            <a:rPr lang="en-US" sz="1800" b="1" kern="1200" dirty="0">
              <a:solidFill>
                <a:schemeClr val="tx1"/>
              </a:solidFill>
              <a:latin typeface="+mn-lt"/>
              <a:ea typeface="+mn-ea"/>
              <a:cs typeface="+mn-cs"/>
            </a:rPr>
            <a:t>Cuisine Type, Average rating, Preparation time, Daily Capacity</a:t>
          </a:r>
        </a:p>
        <a:p>
          <a:pPr marL="0" lvl="0" indent="0" algn="ctr" defTabSz="2844800">
            <a:lnSpc>
              <a:spcPct val="90000"/>
            </a:lnSpc>
            <a:spcBef>
              <a:spcPct val="0"/>
            </a:spcBef>
            <a:spcAft>
              <a:spcPct val="35000"/>
            </a:spcAft>
            <a:buNone/>
          </a:pPr>
          <a:r>
            <a:rPr lang="en-US" sz="1800" b="1" kern="1200" dirty="0">
              <a:solidFill>
                <a:srgbClr val="00B050"/>
              </a:solidFill>
              <a:latin typeface="+mn-lt"/>
              <a:ea typeface="+mn-ea"/>
              <a:cs typeface="+mn-cs"/>
            </a:rPr>
            <a:t>Business use: </a:t>
          </a:r>
          <a:r>
            <a:rPr lang="en-US" sz="1800" b="1" kern="1200" dirty="0">
              <a:solidFill>
                <a:schemeClr val="tx1"/>
              </a:solidFill>
              <a:latin typeface="+mn-lt"/>
              <a:ea typeface="+mn-ea"/>
              <a:cs typeface="+mn-cs"/>
            </a:rPr>
            <a:t>Restaurant performance and operational efficiency analysis</a:t>
          </a:r>
          <a:endParaRPr lang="en-US" sz="1800" b="1" kern="1200" dirty="0">
            <a:solidFill>
              <a:srgbClr val="00B050"/>
            </a:solidFill>
            <a:latin typeface="+mn-lt"/>
            <a:ea typeface="+mn-ea"/>
            <a:cs typeface="+mn-cs"/>
          </a:endParaRPr>
        </a:p>
      </dsp:txBody>
      <dsp:txXfrm>
        <a:off x="159001" y="2845543"/>
        <a:ext cx="4628175" cy="1785577"/>
      </dsp:txXfrm>
    </dsp:sp>
    <dsp:sp modelId="{B5B27886-3F66-4DC0-A3FA-7B722D1CD2E0}">
      <dsp:nvSpPr>
        <dsp:cNvPr id="0" name=""/>
        <dsp:cNvSpPr/>
      </dsp:nvSpPr>
      <dsp:spPr>
        <a:xfrm>
          <a:off x="5031607" y="2748948"/>
          <a:ext cx="4946581" cy="1978767"/>
        </a:xfrm>
        <a:prstGeom prst="round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1"/>
              </a:solidFill>
              <a:latin typeface="+mj-lt"/>
            </a:rPr>
            <a:t>Delivery Partners</a:t>
          </a:r>
        </a:p>
        <a:p>
          <a:pPr marL="0" lvl="0" indent="0" algn="ctr" defTabSz="1066800">
            <a:lnSpc>
              <a:spcPct val="90000"/>
            </a:lnSpc>
            <a:spcBef>
              <a:spcPct val="0"/>
            </a:spcBef>
            <a:spcAft>
              <a:spcPct val="35000"/>
            </a:spcAft>
            <a:buNone/>
          </a:pPr>
          <a:r>
            <a:rPr lang="en-US" sz="1800" b="1" kern="1200" dirty="0">
              <a:solidFill>
                <a:srgbClr val="FF0000"/>
              </a:solidFill>
              <a:latin typeface="+mn-lt"/>
            </a:rPr>
            <a:t>Key attributes: </a:t>
          </a:r>
          <a:r>
            <a:rPr lang="en-US" sz="1800" b="1" kern="1200" dirty="0">
              <a:solidFill>
                <a:schemeClr val="tx1"/>
              </a:solidFill>
              <a:latin typeface="+mn-lt"/>
            </a:rPr>
            <a:t>Vehicle type, Delivery speed, Successful/Delayed Deliveries, Customer rating, Efficiency score</a:t>
          </a:r>
        </a:p>
        <a:p>
          <a:pPr marL="0" lvl="0" indent="0" algn="ctr" defTabSz="1066800">
            <a:lnSpc>
              <a:spcPct val="90000"/>
            </a:lnSpc>
            <a:spcBef>
              <a:spcPct val="0"/>
            </a:spcBef>
            <a:spcAft>
              <a:spcPct val="35000"/>
            </a:spcAft>
            <a:buNone/>
          </a:pPr>
          <a:r>
            <a:rPr lang="en-US" sz="1800" b="1" kern="1200" dirty="0">
              <a:solidFill>
                <a:srgbClr val="00B050"/>
              </a:solidFill>
              <a:latin typeface="Corbel" panose="020B0503020204020204"/>
              <a:ea typeface="+mn-ea"/>
              <a:cs typeface="+mn-cs"/>
            </a:rPr>
            <a:t>Business use: </a:t>
          </a:r>
          <a:r>
            <a:rPr lang="en-US" sz="1800" b="1" kern="1200" dirty="0">
              <a:solidFill>
                <a:schemeClr val="tx1"/>
              </a:solidFill>
              <a:latin typeface="Corbel" panose="020B0503020204020204"/>
              <a:ea typeface="+mn-ea"/>
              <a:cs typeface="+mn-cs"/>
            </a:rPr>
            <a:t>Delivery performance and Logistics analysis</a:t>
          </a:r>
          <a:endParaRPr lang="en-US" sz="1800" b="1" kern="1200" dirty="0">
            <a:solidFill>
              <a:srgbClr val="00B050"/>
            </a:solidFill>
            <a:latin typeface="Corbel" panose="020B0503020204020204"/>
            <a:ea typeface="+mn-ea"/>
            <a:cs typeface="+mn-cs"/>
          </a:endParaRPr>
        </a:p>
      </dsp:txBody>
      <dsp:txXfrm>
        <a:off x="5128202" y="2845543"/>
        <a:ext cx="4753391" cy="1785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CE8BB9-F971-4F20-A4AD-682837BEE0E1}">
      <dsp:nvSpPr>
        <dsp:cNvPr id="0" name=""/>
        <dsp:cNvSpPr/>
      </dsp:nvSpPr>
      <dsp:spPr>
        <a:xfrm>
          <a:off x="1787049" y="1582792"/>
          <a:ext cx="3663147" cy="2259584"/>
        </a:xfrm>
        <a:prstGeom prst="rect">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5FC08E-21E3-4650-AA9D-5EA885EC4D41}">
      <dsp:nvSpPr>
        <dsp:cNvPr id="0" name=""/>
        <dsp:cNvSpPr/>
      </dsp:nvSpPr>
      <dsp:spPr>
        <a:xfrm>
          <a:off x="1966500" y="1753480"/>
          <a:ext cx="3310096" cy="1904661"/>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EE9207-6092-47CA-9286-F5B662002E92}">
      <dsp:nvSpPr>
        <dsp:cNvPr id="0" name=""/>
        <dsp:cNvSpPr/>
      </dsp:nvSpPr>
      <dsp:spPr>
        <a:xfrm>
          <a:off x="1966500" y="3085930"/>
          <a:ext cx="3310096" cy="576004"/>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6675" tIns="22225" rIns="66675" bIns="0" numCol="1" spcCol="1270" anchor="b" anchorCtr="0">
          <a:noAutofit/>
        </a:bodyPr>
        <a:lstStyle/>
        <a:p>
          <a:pPr marL="0" lvl="0" indent="0" algn="r" defTabSz="1555750">
            <a:lnSpc>
              <a:spcPct val="100000"/>
            </a:lnSpc>
            <a:spcBef>
              <a:spcPct val="0"/>
            </a:spcBef>
            <a:spcAft>
              <a:spcPct val="35000"/>
            </a:spcAft>
            <a:buNone/>
          </a:pPr>
          <a:endParaRPr lang="en-US" sz="3500" kern="1200"/>
        </a:p>
      </dsp:txBody>
      <dsp:txXfrm>
        <a:off x="1966500" y="3085930"/>
        <a:ext cx="3310096" cy="576004"/>
      </dsp:txXfrm>
    </dsp:sp>
    <dsp:sp modelId="{F5F420D0-17D0-4A1F-9134-630A05390CA0}">
      <dsp:nvSpPr>
        <dsp:cNvPr id="0" name=""/>
        <dsp:cNvSpPr/>
      </dsp:nvSpPr>
      <dsp:spPr>
        <a:xfrm>
          <a:off x="4027589" y="0"/>
          <a:ext cx="1433659" cy="1462498"/>
        </a:xfrm>
        <a:prstGeom prst="rect">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BBAE9A-F4E1-4399-B705-F8D728B4FE92}">
      <dsp:nvSpPr>
        <dsp:cNvPr id="0" name=""/>
        <dsp:cNvSpPr/>
      </dsp:nvSpPr>
      <dsp:spPr>
        <a:xfrm>
          <a:off x="4116014" y="88866"/>
          <a:ext cx="1256159" cy="1284765"/>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0EAEA9-A0F1-4C1F-B098-4AAE1F6A9A97}">
      <dsp:nvSpPr>
        <dsp:cNvPr id="0" name=""/>
        <dsp:cNvSpPr/>
      </dsp:nvSpPr>
      <dsp:spPr>
        <a:xfrm>
          <a:off x="4114714" y="989448"/>
          <a:ext cx="1256159" cy="38418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49530" tIns="16510" rIns="49530" bIns="0" numCol="1" spcCol="1270" anchor="b" anchorCtr="0">
          <a:noAutofit/>
        </a:bodyPr>
        <a:lstStyle/>
        <a:p>
          <a:pPr marL="0" lvl="0" indent="0" algn="r" defTabSz="1155700">
            <a:lnSpc>
              <a:spcPct val="90000"/>
            </a:lnSpc>
            <a:spcBef>
              <a:spcPct val="0"/>
            </a:spcBef>
            <a:spcAft>
              <a:spcPct val="35000"/>
            </a:spcAft>
            <a:buNone/>
          </a:pPr>
          <a:endParaRPr lang="en-US" sz="2600" kern="1200"/>
        </a:p>
      </dsp:txBody>
      <dsp:txXfrm>
        <a:off x="4114714" y="989448"/>
        <a:ext cx="1256159" cy="384183"/>
      </dsp:txXfrm>
    </dsp:sp>
    <dsp:sp modelId="{DCE1BAA4-61B4-4475-9656-E8C841568499}">
      <dsp:nvSpPr>
        <dsp:cNvPr id="0" name=""/>
        <dsp:cNvSpPr/>
      </dsp:nvSpPr>
      <dsp:spPr>
        <a:xfrm>
          <a:off x="5880620" y="2356424"/>
          <a:ext cx="1743798" cy="1077772"/>
        </a:xfrm>
        <a:prstGeom prst="rect">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820F02-8359-4DF8-9B8D-E3CA580BA1C4}">
      <dsp:nvSpPr>
        <dsp:cNvPr id="0" name=""/>
        <dsp:cNvSpPr/>
      </dsp:nvSpPr>
      <dsp:spPr>
        <a:xfrm>
          <a:off x="5969691" y="2522828"/>
          <a:ext cx="1566297" cy="900582"/>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D07E4-F1A0-4C85-91BA-FB0A7DF4C8E9}">
      <dsp:nvSpPr>
        <dsp:cNvPr id="0" name=""/>
        <dsp:cNvSpPr/>
      </dsp:nvSpPr>
      <dsp:spPr>
        <a:xfrm>
          <a:off x="5660206" y="3064256"/>
          <a:ext cx="1566297" cy="38418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49530" tIns="16510" rIns="49530" bIns="0" numCol="1" spcCol="1270" anchor="b" anchorCtr="0">
          <a:noAutofit/>
        </a:bodyPr>
        <a:lstStyle/>
        <a:p>
          <a:pPr marL="0" lvl="0" indent="0" algn="r" defTabSz="1155700">
            <a:lnSpc>
              <a:spcPct val="90000"/>
            </a:lnSpc>
            <a:spcBef>
              <a:spcPct val="0"/>
            </a:spcBef>
            <a:spcAft>
              <a:spcPct val="35000"/>
            </a:spcAft>
            <a:buNone/>
          </a:pPr>
          <a:endParaRPr lang="en-US" sz="2600" kern="1200"/>
        </a:p>
      </dsp:txBody>
      <dsp:txXfrm>
        <a:off x="5660206" y="3064256"/>
        <a:ext cx="1566297" cy="384183"/>
      </dsp:txXfrm>
    </dsp:sp>
    <dsp:sp modelId="{711D8B28-865E-4CC6-A300-5F86CD4BECD2}">
      <dsp:nvSpPr>
        <dsp:cNvPr id="0" name=""/>
        <dsp:cNvSpPr/>
      </dsp:nvSpPr>
      <dsp:spPr>
        <a:xfrm>
          <a:off x="813070" y="2920661"/>
          <a:ext cx="855644" cy="869154"/>
        </a:xfrm>
        <a:prstGeom prst="rect">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5D5861-C83A-410D-B297-9DF283E1EF85}">
      <dsp:nvSpPr>
        <dsp:cNvPr id="0" name=""/>
        <dsp:cNvSpPr/>
      </dsp:nvSpPr>
      <dsp:spPr>
        <a:xfrm>
          <a:off x="901496" y="3012236"/>
          <a:ext cx="679444" cy="694131"/>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B1A3DB-408D-4E7D-8C14-72B6884A9841}">
      <dsp:nvSpPr>
        <dsp:cNvPr id="0" name=""/>
        <dsp:cNvSpPr/>
      </dsp:nvSpPr>
      <dsp:spPr>
        <a:xfrm>
          <a:off x="901496" y="3322726"/>
          <a:ext cx="679444" cy="38418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36195" tIns="12065" rIns="36195" bIns="0" numCol="1" spcCol="1270" anchor="b" anchorCtr="0">
          <a:noAutofit/>
        </a:bodyPr>
        <a:lstStyle/>
        <a:p>
          <a:pPr marL="0" lvl="0" indent="0" algn="r" defTabSz="844550">
            <a:lnSpc>
              <a:spcPct val="90000"/>
            </a:lnSpc>
            <a:spcBef>
              <a:spcPct val="0"/>
            </a:spcBef>
            <a:spcAft>
              <a:spcPct val="35000"/>
            </a:spcAft>
            <a:buNone/>
          </a:pPr>
          <a:endParaRPr lang="en-US" sz="1900" kern="1200"/>
        </a:p>
      </dsp:txBody>
      <dsp:txXfrm>
        <a:off x="901496" y="3322726"/>
        <a:ext cx="679444" cy="384183"/>
      </dsp:txXfrm>
    </dsp:sp>
    <dsp:sp modelId="{855D0802-B213-4AC9-81EA-55B8757D70F8}">
      <dsp:nvSpPr>
        <dsp:cNvPr id="0" name=""/>
        <dsp:cNvSpPr/>
      </dsp:nvSpPr>
      <dsp:spPr>
        <a:xfrm>
          <a:off x="4900789" y="3956168"/>
          <a:ext cx="1507130" cy="1462498"/>
        </a:xfrm>
        <a:prstGeom prst="rect">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F4660B-B509-4110-9983-96AB6828CABD}">
      <dsp:nvSpPr>
        <dsp:cNvPr id="0" name=""/>
        <dsp:cNvSpPr/>
      </dsp:nvSpPr>
      <dsp:spPr>
        <a:xfrm>
          <a:off x="4987263" y="4046118"/>
          <a:ext cx="1329630" cy="1284765"/>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EC9783-A230-45E7-A994-37D080AD5D69}">
      <dsp:nvSpPr>
        <dsp:cNvPr id="0" name=""/>
        <dsp:cNvSpPr/>
      </dsp:nvSpPr>
      <dsp:spPr>
        <a:xfrm>
          <a:off x="4987263" y="4946701"/>
          <a:ext cx="1329630" cy="38418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49530" tIns="16510" rIns="49530" bIns="0" numCol="1" spcCol="1270" anchor="b" anchorCtr="0">
          <a:noAutofit/>
        </a:bodyPr>
        <a:lstStyle/>
        <a:p>
          <a:pPr marL="0" lvl="0" indent="0" algn="r" defTabSz="1155700">
            <a:lnSpc>
              <a:spcPct val="90000"/>
            </a:lnSpc>
            <a:spcBef>
              <a:spcPct val="0"/>
            </a:spcBef>
            <a:spcAft>
              <a:spcPct val="35000"/>
            </a:spcAft>
            <a:buNone/>
          </a:pPr>
          <a:endParaRPr lang="en-US" sz="2600" kern="1200"/>
        </a:p>
      </dsp:txBody>
      <dsp:txXfrm>
        <a:off x="4987263" y="4946701"/>
        <a:ext cx="1329630" cy="384183"/>
      </dsp:txXfrm>
    </dsp:sp>
    <dsp:sp modelId="{67F8243C-157D-41C4-BA02-8404A051E91F}">
      <dsp:nvSpPr>
        <dsp:cNvPr id="0" name=""/>
        <dsp:cNvSpPr/>
      </dsp:nvSpPr>
      <dsp:spPr>
        <a:xfrm>
          <a:off x="1794851" y="3956168"/>
          <a:ext cx="1535088" cy="869154"/>
        </a:xfrm>
        <a:prstGeom prst="rect">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B8787D-DFA1-474C-B3EA-5CF9E8F1FD44}">
      <dsp:nvSpPr>
        <dsp:cNvPr id="0" name=""/>
        <dsp:cNvSpPr/>
      </dsp:nvSpPr>
      <dsp:spPr>
        <a:xfrm>
          <a:off x="1884577" y="4046118"/>
          <a:ext cx="1359538" cy="694131"/>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48D7F1-2303-4C78-91AB-17BBBEE0407C}">
      <dsp:nvSpPr>
        <dsp:cNvPr id="0" name=""/>
        <dsp:cNvSpPr/>
      </dsp:nvSpPr>
      <dsp:spPr>
        <a:xfrm>
          <a:off x="1884577" y="4356066"/>
          <a:ext cx="1359538" cy="38418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49530" tIns="16510" rIns="49530" bIns="0" numCol="1" spcCol="1270" anchor="b" anchorCtr="0">
          <a:noAutofit/>
        </a:bodyPr>
        <a:lstStyle/>
        <a:p>
          <a:pPr marL="0" lvl="0" indent="0" algn="r" defTabSz="1155700">
            <a:lnSpc>
              <a:spcPct val="90000"/>
            </a:lnSpc>
            <a:spcBef>
              <a:spcPct val="0"/>
            </a:spcBef>
            <a:spcAft>
              <a:spcPct val="35000"/>
            </a:spcAft>
            <a:buNone/>
          </a:pPr>
          <a:endParaRPr lang="en-US" sz="2600" kern="1200"/>
        </a:p>
      </dsp:txBody>
      <dsp:txXfrm>
        <a:off x="1884577" y="4356066"/>
        <a:ext cx="1359538" cy="38418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1/layout/ThemePictureAccent">
  <dgm:title val="Theme Picture Accent"/>
  <dgm:desc val="Use to show a group of pictures with the first picture being centered and the largest. Can contain up to six Level 1 pictures. Unused pictures do not appear, but remain available if you switch layouts.  Works best with small amounts of text."/>
  <dgm:catLst>
    <dgm:cat type="picture" pri="13250"/>
    <dgm:cat type="officeonline" pri="4000"/>
  </dgm:catLst>
  <dgm:sampData>
    <dgm:dataModel>
      <dgm:ptLst>
        <dgm:pt modelId="0" type="doc"/>
        <dgm:pt modelId="10">
          <dgm:prSet phldr="1"/>
        </dgm:pt>
        <dgm:pt modelId="20">
          <dgm:prSet phldr="1"/>
        </dgm:pt>
        <dgm:pt modelId="30">
          <dgm:prSet phldr="1"/>
        </dgm:pt>
        <dgm:pt modelId="40">
          <dgm:prSet phldr="1"/>
        </dgm:pt>
        <dgm:pt modelId="50">
          <dgm:prSet phldr="1"/>
        </dgm:pt>
        <dgm:pt modelId="60">
          <dgm:prSet phldr="1"/>
        </dgm:pt>
      </dgm:ptLst>
      <dgm:cxnLst>
        <dgm:cxn modelId="70" srcId="0" destId="10" srcOrd="0" destOrd="0"/>
        <dgm:cxn modelId="80" srcId="0" destId="20" srcOrd="1" destOrd="0"/>
        <dgm:cxn modelId="90" srcId="0" destId="30" srcOrd="2" destOrd="0"/>
        <dgm:cxn modelId="100" srcId="0" destId="40" srcOrd="3" destOrd="0"/>
        <dgm:cxn modelId="110" srcId="0" destId="50" srcOrd="4" destOrd="0"/>
        <dgm:cxn modelId="120" srcId="0" destId="60" srcOrd="5"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6"/>
      <dgm:chPref val="6"/>
      <dgm:dir/>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62"/>
            </dgm:alg>
            <dgm:constrLst>
              <dgm:constr type="primFontSz" for="des" forName="Text1" val="65"/>
              <dgm:constr type="l" for="ch" forName="Image1" refType="w" fact="0"/>
              <dgm:constr type="t" for="ch" forName="Image1" refType="h" fact="0"/>
              <dgm:constr type="w" for="ch" forName="Image1" refType="w"/>
              <dgm:constr type="h" for="ch" forName="Image1" refType="h"/>
              <dgm:constr type="l" for="ch" forName="Accent1" refType="w" fact="0.0491"/>
              <dgm:constr type="t" for="ch" forName="Accent1" refType="h" fact="0.0756"/>
              <dgm:constr type="w" for="ch" forName="Accent1" refType="w" fact="0.9035"/>
              <dgm:constr type="h" for="ch" forName="Accent1" refType="h" fact="0.8429"/>
              <dgm:constr type="l" for="ch" forName="Text1" refType="w" fact="0.0491"/>
              <dgm:constr type="t" for="ch" forName="Text1" refType="h" fact="0.6654"/>
              <dgm:constr type="w" for="ch" forName="Text1" refType="w" fact="0.9035"/>
              <dgm:constr type="h" for="ch" forName="Text1" refType="h" fact="0.2548"/>
            </dgm:constrLst>
          </dgm:if>
          <dgm:if name="Name5" axis="ch" ptType="node" func="cnt" op="equ" val="2">
            <dgm:alg type="composite">
              <dgm:param type="ar" val="0.9528"/>
            </dgm:alg>
            <dgm:constrLst>
              <dgm:constr type="primFontSz" for="des" forName="Text1" val="65"/>
              <dgm:constr type="primFontSz" for="des" forName="Text2" refType="primFontSz" refFor="des" refForName="Text1" op="equ"/>
              <dgm:constr type="l" for="ch" forName="Image1" refType="w" fact="0"/>
              <dgm:constr type="t" for="ch" forName="Image1" refType="h" fact="0.4119"/>
              <dgm:constr type="w" for="ch" forName="Image1" refType="w" fact="0.997"/>
              <dgm:constr type="h" for="ch" forName="Image1" refType="h" fact="0.5881"/>
              <dgm:constr type="l" for="ch" forName="Accent1" refType="w" fact="0.049"/>
              <dgm:constr type="t" for="ch" forName="Accent1" refType="h" fact="0.4563"/>
              <dgm:constr type="w" for="ch" forName="Accent1" refType="w" fact="0.9008"/>
              <dgm:constr type="h" for="ch" forName="Accent1" refType="h" fact="0.4958"/>
              <dgm:constr type="l" for="ch" forName="Image2" refType="w" fact="0.6099"/>
              <dgm:constr type="t" for="ch" forName="Image2" refType="h" fact="0"/>
              <dgm:constr type="w" for="ch" forName="Image2" refType="w" fact="0.3901"/>
              <dgm:constr type="h" for="ch" forName="Image2" refType="h" fact="0.3806"/>
              <dgm:constr type="l" for="ch" forName="Accent2" refType="w" fact="0.6338"/>
              <dgm:constr type="t" for="ch" forName="Accent2" refType="h" fact="0.0231"/>
              <dgm:constr type="w" for="ch" forName="Accent2" refType="w" fact="0.3418"/>
              <dgm:constr type="h" for="ch" forName="Accent2" refType="h" fact="0.3343"/>
              <dgm:constr type="l" for="ch" forName="Text1" refType="w" fact="0.049"/>
              <dgm:constr type="t" for="ch" forName="Text1" refType="h" fact="0.8032"/>
              <dgm:constr type="w" for="ch" forName="Text1" refType="w" fact="0.9008"/>
              <dgm:constr type="h" for="ch" forName="Text1" refType="h" fact="0.1499"/>
              <dgm:constr type="l" for="ch" forName="Text2" refType="w" fact="0.6335"/>
              <dgm:constr type="t" for="ch" forName="Text2" refType="h" fact="0.2575"/>
              <dgm:constr type="w" for="ch" forName="Text2" refType="w" fact="0.3418"/>
              <dgm:constr type="h" for="ch" forName="Text2" refType="h" fact="0.0999"/>
            </dgm:constrLst>
          </dgm:if>
          <dgm:if name="Name6" axis="ch" ptType="node" func="cnt" op="equ" val="3">
            <dgm:alg type="composite">
              <dgm:param type="ar" val="1.4351"/>
            </dgm:alg>
            <dgm:constrLst>
              <dgm:constr type="primFontSz" for="des" forName="Text1" val="65"/>
              <dgm:constr type="primFontSz" for="des" forName="Text2" refType="primFontSz" refFor="des" refForName="Text1" op="equ"/>
              <dgm:constr type="primFontSz" for="des" forName="Text3" refType="primFontSz" refFor="des" refForName="Text1" op="equ"/>
              <dgm:constr type="l" for="ch" forName="Image1" refType="w" fact="0"/>
              <dgm:constr type="t" for="ch" forName="Image1" refType="h" fact="0.4119"/>
              <dgm:constr type="w" for="ch" forName="Image1" refType="w" fact="0.6627"/>
              <dgm:constr type="h" for="ch" forName="Image1" refType="h" fact="0.5881"/>
              <dgm:constr type="l" for="ch" forName="Accent1" refType="w" fact="0.0326"/>
              <dgm:constr type="t" for="ch" forName="Accent1" refType="h" fact="0.4563"/>
              <dgm:constr type="w" for="ch" forName="Accent1" refType="w" fact="0.5988"/>
              <dgm:constr type="h" for="ch" forName="Accent1" refType="h" fact="0.4958"/>
              <dgm:constr type="l" for="ch" forName="Image3" refType="w" fact="0.6846"/>
              <dgm:constr type="t" for="ch" forName="Image3" refType="h" fact="0.6397"/>
              <dgm:constr type="w" for="ch" forName="Image3" refType="w" fact="0.3154"/>
              <dgm:constr type="h" for="ch" forName="Image3" refType="h" fact="0.2805"/>
              <dgm:constr type="l" for="ch" forName="Accent3" refType="w" fact="0.7006"/>
              <dgm:constr type="t" for="ch" forName="Accent3" refType="h" fact="0.6629"/>
              <dgm:constr type="w" for="ch" forName="Accent3" refType="w" fact="0.2833"/>
              <dgm:constr type="h" for="ch" forName="Accent3" refType="h" fact="0.2344"/>
              <dgm:constr type="l" for="ch" forName="Image2" refType="w" fact="0.4054"/>
              <dgm:constr type="t" for="ch" forName="Image2" refType="h" fact="0"/>
              <dgm:constr type="w" for="ch" forName="Image2" refType="w" fact="0.2593"/>
              <dgm:constr type="h" for="ch" forName="Image2" refType="h" fact="0.3806"/>
              <dgm:constr type="l" for="ch" forName="Accent2" refType="w" fact="0.4213"/>
              <dgm:constr type="t" for="ch" forName="Accent2" refType="h" fact="0.0231"/>
              <dgm:constr type="w" for="ch" forName="Accent2" refType="w" fact="0.2272"/>
              <dgm:constr type="h" for="ch" forName="Accent2" refType="h" fact="0.3343"/>
              <dgm:constr type="l" for="ch" forName="Text1" refType="w" fact="0.0326"/>
              <dgm:constr type="t" for="ch" forName="Text1" refType="h" fact="0.8032"/>
              <dgm:constr type="w" for="ch" forName="Text1" refType="w" fact="0.5988"/>
              <dgm:constr type="h" for="ch" forName="Text1" refType="h" fact="0.1499"/>
              <dgm:constr type="l" for="ch" forName="Text2" refType="w" fact="0.4211"/>
              <dgm:constr type="t" for="ch" forName="Text2" refType="h" fact="0.2575"/>
              <dgm:constr type="w" for="ch" forName="Text2" refType="w" fact="0.2272"/>
              <dgm:constr type="h" for="ch" forName="Text2" refType="h" fact="0.0999"/>
              <dgm:constr type="l" for="ch" forName="Text3" refType="w" fact="0.7006"/>
              <dgm:constr type="t" for="ch" forName="Text3" refType="h" fact="0.7974"/>
              <dgm:constr type="w" for="ch" forName="Text3" refType="w" fact="0.2833"/>
              <dgm:constr type="h" for="ch" forName="Text3" refType="h" fact="0.0999"/>
            </dgm:constrLst>
          </dgm:if>
          <dgm:if name="Name7" axis="ch" ptType="node" func="cnt" op="equ" val="4">
            <dgm:alg type="composite">
              <dgm:param type="ar" val="1.6922"/>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l" for="ch" forName="Image1" refType="w" fact="0.1498"/>
              <dgm:constr type="t" for="ch" forName="Image1" refType="h" fact="0.4119"/>
              <dgm:constr type="w" for="ch" forName="Image1" refType="w" fact="0.5634"/>
              <dgm:constr type="h" for="ch" forName="Image1" refType="h" fact="0.5881"/>
              <dgm:constr type="l" for="ch" forName="Accent1" refType="w" fact="0.1774"/>
              <dgm:constr type="t" for="ch" forName="Accent1" refType="h" fact="0.4563"/>
              <dgm:constr type="w" for="ch" forName="Accent1" refType="w" fact="0.5091"/>
              <dgm:constr type="h" for="ch" forName="Accent1" refType="h" fact="0.4958"/>
              <dgm:constr type="l" for="ch" forName="Image4" refType="w" fact="0"/>
              <dgm:constr type="t" for="ch" forName="Image4" refType="h" fact="0.7601"/>
              <dgm:constr type="w" for="ch" forName="Image4" refType="w" fact="0.1316"/>
              <dgm:constr type="h" for="ch" forName="Image4" refType="h" fact="0.2262"/>
              <dgm:constr type="l" for="ch" forName="Accent4" refType="w" fact="0.0136"/>
              <dgm:constr type="t" for="ch" forName="Accent4" refType="h" fact="0.7839"/>
              <dgm:constr type="w" for="ch" forName="Accent4" refType="w" fact="0.1045"/>
              <dgm:constr type="h" for="ch" forName="Accent4" refType="h" fact="0.1806"/>
              <dgm:constr type="l" for="ch" forName="Image3" refType="w" fact="0.7318"/>
              <dgm:constr type="t" for="ch" forName="Image3" refType="h" fact="0.6397"/>
              <dgm:constr type="w" for="ch" forName="Image3" refType="w" fact="0.2682"/>
              <dgm:constr type="h" for="ch" forName="Image3" refType="h" fact="0.2805"/>
              <dgm:constr type="l" for="ch" forName="Accent3" refType="w" fact="0.7455"/>
              <dgm:constr type="t" for="ch" forName="Accent3" refType="h" fact="0.6629"/>
              <dgm:constr type="w" for="ch" forName="Accent3" refType="w" fact="0.2409"/>
              <dgm:constr type="h" for="ch" forName="Accent3" refType="h" fact="0.2344"/>
              <dgm:constr type="l" for="ch" forName="Image2" refType="w" fact="0.4944"/>
              <dgm:constr type="t" for="ch" forName="Image2" refType="h" fact="0"/>
              <dgm:constr type="w" for="ch" forName="Image2" refType="w" fact="0.2205"/>
              <dgm:constr type="h" for="ch" forName="Image2" refType="h" fact="0.3806"/>
              <dgm:constr type="l" for="ch" forName="Accent2" refType="w" fact="0.508"/>
              <dgm:constr type="t" for="ch" forName="Accent2" refType="h" fact="0.0231"/>
              <dgm:constr type="w" for="ch" forName="Accent2" refType="w" fact="0.1932"/>
              <dgm:constr type="h" for="ch" forName="Accent2" refType="h" fact="0.3343"/>
              <dgm:constr type="l" for="ch" forName="Text1" refType="w" fact="0.1774"/>
              <dgm:constr type="t" for="ch" forName="Text1" refType="h" fact="0.8032"/>
              <dgm:constr type="w" for="ch" forName="Text1" refType="w" fact="0.5091"/>
              <dgm:constr type="h" for="ch" forName="Text1" refType="h" fact="0.1499"/>
              <dgm:constr type="l" for="ch" forName="Text2" refType="w" fact="0.5078"/>
              <dgm:constr type="t" for="ch" forName="Text2" refType="h" fact="0.2575"/>
              <dgm:constr type="w" for="ch" forName="Text2" refType="w" fact="0.1932"/>
              <dgm:constr type="h" for="ch" forName="Text2" refType="h" fact="0.0999"/>
              <dgm:constr type="l" for="ch" forName="Text3" refType="w" fact="0.7455"/>
              <dgm:constr type="t" for="ch" forName="Text3" refType="h" fact="0.7974"/>
              <dgm:constr type="w" for="ch" forName="Text3" refType="w" fact="0.2409"/>
              <dgm:constr type="h" for="ch" forName="Text3" refType="h" fact="0.0999"/>
              <dgm:constr type="l" for="ch" forName="Text4" refType="w" fact="0.0136"/>
              <dgm:constr type="t" for="ch" forName="Text4" refType="h" fact="0.8647"/>
              <dgm:constr type="w" for="ch" forName="Text4" refType="w" fact="0.1045"/>
              <dgm:constr type="h" for="ch" forName="Text4" refType="h" fact="0.0999"/>
            </dgm:constrLst>
          </dgm:if>
          <dgm:if name="Name8" axis="ch" ptType="node" func="cnt" op="equ" val="5">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l" for="ch" forName="Image1" refType="w" fact="0.1498"/>
              <dgm:constr type="t" for="ch" forName="Image1" refType="h" fact="0.2921"/>
              <dgm:constr type="w" for="ch" forName="Image1" refType="w" fact="0.5634"/>
              <dgm:constr type="h" for="ch" forName="Image1" refType="h" fact="0.417"/>
              <dgm:constr type="l" for="ch" forName="Accent1" refType="w" fact="0.1774"/>
              <dgm:constr type="t" for="ch" forName="Accent1" refType="h" fact="0.3236"/>
              <dgm:constr type="w" for="ch" forName="Accent1" refType="w" fact="0.5091"/>
              <dgm:constr type="h" for="ch" forName="Accent1" refType="h" fact="0.3515"/>
              <dgm:constr type="l" for="ch" forName="Image4" refType="w" fact="0"/>
              <dgm:constr type="t" for="ch" forName="Image4" refType="h" fact="0.539"/>
              <dgm:constr type="w" for="ch" forName="Image4" refType="w" fact="0.1316"/>
              <dgm:constr type="h" for="ch" forName="Image4" refType="h" fact="0.1604"/>
              <dgm:constr type="l" for="ch" forName="Accent4" refType="w" fact="0.0136"/>
              <dgm:constr type="t" for="ch" forName="Accent4" refType="h" fact="0.5559"/>
              <dgm:constr type="w" for="ch" forName="Accent4" refType="w" fact="0.1045"/>
              <dgm:constr type="h" for="ch" forName="Accent4" refType="h" fact="0.1281"/>
              <dgm:constr type="l" for="ch" forName="Image5" refType="w" fact="0.6287"/>
              <dgm:constr type="t" for="ch" forName="Image5" refType="h" fact="0.7301"/>
              <dgm:constr type="w" for="ch" forName="Image5" refType="w" fact="0.2318"/>
              <dgm:constr type="h" for="ch" forName="Image5" refType="h" fact="0.2699"/>
              <dgm:constr type="l" for="ch" forName="Accent5" refType="w" fact="0.642"/>
              <dgm:constr type="t" for="ch" forName="Accent5" refType="h" fact="0.7467"/>
              <dgm:constr type="w" for="ch" forName="Accent5" refType="w" fact="0.2045"/>
              <dgm:constr type="h" for="ch" forName="Accent5" refType="h" fact="0.2371"/>
              <dgm:constr type="l" for="ch" forName="Image3" refType="w" fact="0.7318"/>
              <dgm:constr type="t" for="ch" forName="Image3" refType="h" fact="0.4536"/>
              <dgm:constr type="w" for="ch" forName="Image3" refType="w" fact="0.2682"/>
              <dgm:constr type="h" for="ch" forName="Image3" refType="h" fact="0.1989"/>
              <dgm:constr type="l" for="ch" forName="Accent3" refType="w" fact="0.7455"/>
              <dgm:constr type="t" for="ch" forName="Accent3" refType="h" fact="0.4701"/>
              <dgm:constr type="w" for="ch" forName="Accent3" refType="w" fact="0.2409"/>
              <dgm:constr type="h" for="ch" forName="Accent3" refType="h" fact="0.1662"/>
              <dgm:constr type="l" for="ch" forName="Image2" refType="w" fact="0.4944"/>
              <dgm:constr type="t" for="ch" forName="Image2" refType="h" fact="0"/>
              <dgm:constr type="w" for="ch" forName="Image2" refType="w" fact="0.2205"/>
              <dgm:constr type="h" for="ch" forName="Image2" refType="h" fact="0.2699"/>
              <dgm:constr type="l" for="ch" forName="Accent2" refType="w" fact="0.508"/>
              <dgm:constr type="t" for="ch" forName="Accent2" refType="h" fact="0.0164"/>
              <dgm:constr type="w" for="ch" forName="Accent2" refType="w" fact="0.1932"/>
              <dgm:constr type="h" for="ch" forName="Accent2" refType="h" fact="0.2371"/>
              <dgm:constr type="l" for="ch" forName="Text1" refType="w" fact="0.1774"/>
              <dgm:constr type="t" for="ch" forName="Text1" refType="h" fact="0.5695"/>
              <dgm:constr type="w" for="ch" forName="Text1" refType="w" fact="0.5091"/>
              <dgm:constr type="h" for="ch" forName="Text1" refType="h" fact="0.1063"/>
              <dgm:constr type="l" for="ch" forName="Text2" refType="w" fact="0.5078"/>
              <dgm:constr type="t" for="ch" forName="Text2" refType="h" fact="0.1826"/>
              <dgm:constr type="w" for="ch" forName="Text2" refType="w" fact="0.1932"/>
              <dgm:constr type="h" for="ch" forName="Text2" refType="h" fact="0.0709"/>
              <dgm:constr type="l" for="ch" forName="Text3" refType="w" fact="0.7455"/>
              <dgm:constr type="t" for="ch" forName="Text3" refType="h" fact="0.5655"/>
              <dgm:constr type="w" for="ch" forName="Text3" refType="w" fact="0.2409"/>
              <dgm:constr type="h" for="ch" forName="Text3" refType="h" fact="0.0709"/>
              <dgm:constr type="l" for="ch" forName="Text5" refType="w" fact="0.642"/>
              <dgm:constr type="t" for="ch" forName="Text5" refType="h" fact="0.9129"/>
              <dgm:constr type="w" for="ch" forName="Text5" refType="w" fact="0.2045"/>
              <dgm:constr type="h" for="ch" forName="Text5" refType="h" fact="0.0709"/>
              <dgm:constr type="l" for="ch" forName="Text4" refType="w" fact="0.0136"/>
              <dgm:constr type="t" for="ch" forName="Text4" refType="h" fact="0.6132"/>
              <dgm:constr type="w" for="ch" forName="Text4" refType="w" fact="0.1045"/>
              <dgm:constr type="h" for="ch" forName="Text4" refType="h" fact="0.0709"/>
            </dgm:constrLst>
          </dgm:if>
          <dgm:else name="Name9">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primFontSz" for="des" forName="Text6" refType="primFontSz" refFor="des" refForName="Text1" op="equ"/>
              <dgm:constr type="l" for="ch" forName="Image1" refType="w" fact="0.1498"/>
              <dgm:constr type="t" for="ch" forName="Image1" refType="h" fact="0.2921"/>
              <dgm:constr type="w" for="ch" forName="Image1" refType="w" fact="0.5634"/>
              <dgm:constr type="h" for="ch" forName="Image1" refType="h" fact="0.417"/>
              <dgm:constr type="l" for="ch" forName="Accent1" refType="w" fact="0.1774"/>
              <dgm:constr type="t" for="ch" forName="Accent1" refType="h" fact="0.3236"/>
              <dgm:constr type="w" for="ch" forName="Accent1" refType="w" fact="0.5091"/>
              <dgm:constr type="h" for="ch" forName="Accent1" refType="h" fact="0.3515"/>
              <dgm:constr type="l" for="ch" forName="Image4" refType="w" fact="0"/>
              <dgm:constr type="t" for="ch" forName="Image4" refType="h" fact="0.539"/>
              <dgm:constr type="w" for="ch" forName="Image4" refType="w" fact="0.1316"/>
              <dgm:constr type="h" for="ch" forName="Image4" refType="h" fact="0.1604"/>
              <dgm:constr type="l" for="ch" forName="Accent4" refType="w" fact="0.0136"/>
              <dgm:constr type="t" for="ch" forName="Accent4" refType="h" fact="0.5559"/>
              <dgm:constr type="w" for="ch" forName="Accent4" refType="w" fact="0.1045"/>
              <dgm:constr type="h" for="ch" forName="Accent4" refType="h" fact="0.1281"/>
              <dgm:constr type="l" for="ch" forName="Image5" refType="w" fact="0.6287"/>
              <dgm:constr type="t" for="ch" forName="Image5" refType="h" fact="0.7301"/>
              <dgm:constr type="w" for="ch" forName="Image5" refType="w" fact="0.2318"/>
              <dgm:constr type="h" for="ch" forName="Image5" refType="h" fact="0.2699"/>
              <dgm:constr type="l" for="ch" forName="Accent5" refType="w" fact="0.642"/>
              <dgm:constr type="t" for="ch" forName="Accent5" refType="h" fact="0.7467"/>
              <dgm:constr type="w" for="ch" forName="Accent5" refType="w" fact="0.2045"/>
              <dgm:constr type="h" for="ch" forName="Accent5" refType="h" fact="0.2371"/>
              <dgm:constr type="l" for="ch" forName="Image3" refType="w" fact="0.7318"/>
              <dgm:constr type="t" for="ch" forName="Image3" refType="h" fact="0.4536"/>
              <dgm:constr type="w" for="ch" forName="Image3" refType="w" fact="0.2682"/>
              <dgm:constr type="h" for="ch" forName="Image3" refType="h" fact="0.1989"/>
              <dgm:constr type="l" for="ch" forName="Accent3" refType="w" fact="0.7455"/>
              <dgm:constr type="t" for="ch" forName="Accent3" refType="h" fact="0.4701"/>
              <dgm:constr type="w" for="ch" forName="Accent3" refType="w" fact="0.2409"/>
              <dgm:constr type="h" for="ch" forName="Accent3" refType="h" fact="0.1662"/>
              <dgm:constr type="l" for="ch" forName="Image2" refType="w" fact="0.4944"/>
              <dgm:constr type="t" for="ch" forName="Image2" refType="h" fact="0"/>
              <dgm:constr type="w" for="ch" forName="Image2" refType="w" fact="0.2205"/>
              <dgm:constr type="h" for="ch" forName="Image2" refType="h" fact="0.2699"/>
              <dgm:constr type="l" for="ch" forName="Accent2" refType="w" fact="0.508"/>
              <dgm:constr type="t" for="ch" forName="Accent2" refType="h" fact="0.0164"/>
              <dgm:constr type="w" for="ch" forName="Accent2" refType="w" fact="0.1932"/>
              <dgm:constr type="h" for="ch" forName="Accent2" refType="h" fact="0.2371"/>
              <dgm:constr type="l" for="ch" forName="Text1" refType="w" fact="0.1774"/>
              <dgm:constr type="t" for="ch" forName="Text1" refType="h" fact="0.5695"/>
              <dgm:constr type="w" for="ch" forName="Text1" refType="w" fact="0.5091"/>
              <dgm:constr type="h" for="ch" forName="Text1" refType="h" fact="0.1063"/>
              <dgm:constr type="l" for="ch" forName="Image6" refType="w" fact="0.151"/>
              <dgm:constr type="t" for="ch" forName="Image6" refType="h" fact="0.7301"/>
              <dgm:constr type="w" for="ch" forName="Image6" refType="w" fact="0.2361"/>
              <dgm:constr type="h" for="ch" forName="Image6" refType="h" fact="0.1604"/>
              <dgm:constr type="l" for="ch" forName="Accent6" refType="w" fact="0.1648"/>
              <dgm:constr type="t" for="ch" forName="Accent6" refType="h" fact="0.7467"/>
              <dgm:constr type="w" for="ch" forName="Accent6" refType="w" fact="0.2091"/>
              <dgm:constr type="h" for="ch" forName="Accent6" refType="h" fact="0.1281"/>
              <dgm:constr type="l" for="ch" forName="Text2" refType="w" fact="0.5078"/>
              <dgm:constr type="t" for="ch" forName="Text2" refType="h" fact="0.1826"/>
              <dgm:constr type="w" for="ch" forName="Text2" refType="w" fact="0.1932"/>
              <dgm:constr type="h" for="ch" forName="Text2" refType="h" fact="0.0709"/>
              <dgm:constr type="l" for="ch" forName="Text3" refType="w" fact="0.7455"/>
              <dgm:constr type="t" for="ch" forName="Text3" refType="h" fact="0.5655"/>
              <dgm:constr type="w" for="ch" forName="Text3" refType="w" fact="0.2409"/>
              <dgm:constr type="h" for="ch" forName="Text3" refType="h" fact="0.0709"/>
              <dgm:constr type="l" for="ch" forName="Text5" refType="w" fact="0.642"/>
              <dgm:constr type="t" for="ch" forName="Text5" refType="h" fact="0.9129"/>
              <dgm:constr type="w" for="ch" forName="Text5" refType="w" fact="0.2045"/>
              <dgm:constr type="h" for="ch" forName="Text5" refType="h" fact="0.0709"/>
              <dgm:constr type="l" for="ch" forName="Text6" refType="w" fact="0.1648"/>
              <dgm:constr type="t" for="ch" forName="Text6" refType="h" fact="0.8039"/>
              <dgm:constr type="w" for="ch" forName="Text6" refType="w" fact="0.2091"/>
              <dgm:constr type="h" for="ch" forName="Text6" refType="h" fact="0.0709"/>
              <dgm:constr type="l" for="ch" forName="Text4" refType="w" fact="0.0136"/>
              <dgm:constr type="t" for="ch" forName="Text4" refType="h" fact="0.6132"/>
              <dgm:constr type="w" for="ch" forName="Text4" refType="w" fact="0.1045"/>
              <dgm:constr type="h" for="ch" forName="Text4" refType="h" fact="0.0709"/>
            </dgm:constrLst>
          </dgm:else>
        </dgm:choose>
      </dgm:if>
      <dgm:else name="Name10">
        <dgm:choose name="Name11">
          <dgm:if name="Name12" axis="ch" ptType="node" func="cnt" op="equ" val="1">
            <dgm:alg type="composite">
              <dgm:param type="ar" val="1.62"/>
            </dgm:alg>
            <dgm:constrLst>
              <dgm:constr type="primFontSz" for="des" forName="Text1" val="65"/>
              <dgm:constr type="l" for="ch" forName="Image1" refType="w" fact="0"/>
              <dgm:constr type="t" for="ch" forName="Image1" refType="h" fact="0"/>
              <dgm:constr type="w" for="ch" forName="Image1" refType="w"/>
              <dgm:constr type="h" for="ch" forName="Image1" refType="h"/>
              <dgm:constr type="l" for="ch" forName="Accent1" refType="w" fact="0.0491"/>
              <dgm:constr type="t" for="ch" forName="Accent1" refType="h" fact="0.0756"/>
              <dgm:constr type="w" for="ch" forName="Accent1" refType="w" fact="0.9035"/>
              <dgm:constr type="h" for="ch" forName="Accent1" refType="h" fact="0.8429"/>
              <dgm:constr type="l" for="ch" forName="Text1" refType="w" fact="0.0491"/>
              <dgm:constr type="t" for="ch" forName="Text1" refType="h" fact="0.6654"/>
              <dgm:constr type="w" for="ch" forName="Text1" refType="w" fact="0.9035"/>
              <dgm:constr type="h" for="ch" forName="Text1" refType="h" fact="0.2548"/>
            </dgm:constrLst>
          </dgm:if>
          <dgm:if name="Name13" axis="ch" ptType="node" func="cnt" op="equ" val="2">
            <dgm:alg type="composite">
              <dgm:param type="ar" val="0.9528"/>
            </dgm:alg>
            <dgm:constrLst>
              <dgm:constr type="primFontSz" for="des" forName="Text1" val="65"/>
              <dgm:constr type="primFontSz" for="des" forName="Text2" refType="primFontSz" refFor="des" refForName="Text1" op="equ"/>
              <dgm:constr type="r" for="ch" forName="Image1" refType="w"/>
              <dgm:constr type="t" for="ch" forName="Image1" refType="h" fact="0.4119"/>
              <dgm:constr type="w" for="ch" forName="Image1" refType="w" fact="0.997"/>
              <dgm:constr type="h" for="ch" forName="Image1" refType="h" fact="0.5881"/>
              <dgm:constr type="r" for="ch" forName="Accent1" refType="w" fact="0.951"/>
              <dgm:constr type="t" for="ch" forName="Accent1" refType="h" fact="0.4563"/>
              <dgm:constr type="w" for="ch" forName="Accent1" refType="w" fact="0.9008"/>
              <dgm:constr type="h" for="ch" forName="Accent1" refType="h" fact="0.4958"/>
              <dgm:constr type="r" for="ch" forName="Image2" refType="w" fact="0.3901"/>
              <dgm:constr type="t" for="ch" forName="Image2" refType="h" fact="0"/>
              <dgm:constr type="w" for="ch" forName="Image2" refType="w" fact="0.3901"/>
              <dgm:constr type="h" for="ch" forName="Image2" refType="h" fact="0.3806"/>
              <dgm:constr type="r" for="ch" forName="Accent2" refType="w" fact="0.3662"/>
              <dgm:constr type="t" for="ch" forName="Accent2" refType="h" fact="0.0231"/>
              <dgm:constr type="w" for="ch" forName="Accent2" refType="w" fact="0.3418"/>
              <dgm:constr type="h" for="ch" forName="Accent2" refType="h" fact="0.3343"/>
              <dgm:constr type="r" for="ch" forName="Text1" refType="w" fact="0.951"/>
              <dgm:constr type="t" for="ch" forName="Text1" refType="h" fact="0.8032"/>
              <dgm:constr type="w" for="ch" forName="Text1" refType="w" fact="0.9008"/>
              <dgm:constr type="h" for="ch" forName="Text1" refType="h" fact="0.1499"/>
              <dgm:constr type="r" for="ch" forName="Text2" refType="w" fact="0.3665"/>
              <dgm:constr type="t" for="ch" forName="Text2" refType="h" fact="0.2575"/>
              <dgm:constr type="w" for="ch" forName="Text2" refType="w" fact="0.3418"/>
              <dgm:constr type="h" for="ch" forName="Text2" refType="h" fact="0.0999"/>
            </dgm:constrLst>
          </dgm:if>
          <dgm:if name="Name14" axis="ch" ptType="node" func="cnt" op="equ" val="3">
            <dgm:alg type="composite">
              <dgm:param type="ar" val="1.4351"/>
            </dgm:alg>
            <dgm:constrLst>
              <dgm:constr type="primFontSz" for="des" forName="Text1" val="65"/>
              <dgm:constr type="primFontSz" for="des" forName="Text2" refType="primFontSz" refFor="des" refForName="Text1" op="equ"/>
              <dgm:constr type="primFontSz" for="des" forName="Text3" refType="primFontSz" refFor="des" refForName="Text1" op="equ"/>
              <dgm:constr type="r" for="ch" forName="Image1" refType="w"/>
              <dgm:constr type="t" for="ch" forName="Image1" refType="h" fact="0.4119"/>
              <dgm:constr type="w" for="ch" forName="Image1" refType="w" fact="0.6627"/>
              <dgm:constr type="h" for="ch" forName="Image1" refType="h" fact="0.5881"/>
              <dgm:constr type="r" for="ch" forName="Accent1" refType="w" fact="0.9674"/>
              <dgm:constr type="t" for="ch" forName="Accent1" refType="h" fact="0.4563"/>
              <dgm:constr type="w" for="ch" forName="Accent1" refType="w" fact="0.5988"/>
              <dgm:constr type="h" for="ch" forName="Accent1" refType="h" fact="0.4958"/>
              <dgm:constr type="r" for="ch" forName="Image3" refType="w" fact="0.3154"/>
              <dgm:constr type="t" for="ch" forName="Image3" refType="h" fact="0.6397"/>
              <dgm:constr type="w" for="ch" forName="Image3" refType="w" fact="0.3154"/>
              <dgm:constr type="h" for="ch" forName="Image3" refType="h" fact="0.2805"/>
              <dgm:constr type="r" for="ch" forName="Accent3" refType="w" fact="0.2994"/>
              <dgm:constr type="t" for="ch" forName="Accent3" refType="h" fact="0.6629"/>
              <dgm:constr type="w" for="ch" forName="Accent3" refType="w" fact="0.2833"/>
              <dgm:constr type="h" for="ch" forName="Accent3" refType="h" fact="0.2344"/>
              <dgm:constr type="r" for="ch" forName="Image2" refType="w" fact="0.5946"/>
              <dgm:constr type="t" for="ch" forName="Image2" refType="h" fact="0"/>
              <dgm:constr type="w" for="ch" forName="Image2" refType="w" fact="0.2593"/>
              <dgm:constr type="h" for="ch" forName="Image2" refType="h" fact="0.3806"/>
              <dgm:constr type="r" for="ch" forName="Accent2" refType="w" fact="0.5787"/>
              <dgm:constr type="t" for="ch" forName="Accent2" refType="h" fact="0.0231"/>
              <dgm:constr type="w" for="ch" forName="Accent2" refType="w" fact="0.2272"/>
              <dgm:constr type="h" for="ch" forName="Accent2" refType="h" fact="0.3343"/>
              <dgm:constr type="r" for="ch" forName="Text1" refType="w" fact="0.9674"/>
              <dgm:constr type="t" for="ch" forName="Text1" refType="h" fact="0.8032"/>
              <dgm:constr type="w" for="ch" forName="Text1" refType="w" fact="0.5988"/>
              <dgm:constr type="h" for="ch" forName="Text1" refType="h" fact="0.1499"/>
              <dgm:constr type="r" for="ch" forName="Text2" refType="w" fact="0.5789"/>
              <dgm:constr type="t" for="ch" forName="Text2" refType="h" fact="0.2575"/>
              <dgm:constr type="w" for="ch" forName="Text2" refType="w" fact="0.2272"/>
              <dgm:constr type="h" for="ch" forName="Text2" refType="h" fact="0.0999"/>
              <dgm:constr type="r" for="ch" forName="Text3" refType="w" fact="0.2994"/>
              <dgm:constr type="t" for="ch" forName="Text3" refType="h" fact="0.7974"/>
              <dgm:constr type="w" for="ch" forName="Text3" refType="w" fact="0.2833"/>
              <dgm:constr type="h" for="ch" forName="Text3" refType="h" fact="0.0999"/>
            </dgm:constrLst>
          </dgm:if>
          <dgm:if name="Name15" axis="ch" ptType="node" func="cnt" op="equ" val="4">
            <dgm:alg type="composite">
              <dgm:param type="ar" val="1.6922"/>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r" for="ch" forName="Image1" refType="w" fact="0.8502"/>
              <dgm:constr type="t" for="ch" forName="Image1" refType="h" fact="0.4119"/>
              <dgm:constr type="w" for="ch" forName="Image1" refType="w" fact="0.5634"/>
              <dgm:constr type="h" for="ch" forName="Image1" refType="h" fact="0.5881"/>
              <dgm:constr type="r" for="ch" forName="Accent1" refType="w" fact="0.8226"/>
              <dgm:constr type="t" for="ch" forName="Accent1" refType="h" fact="0.4563"/>
              <dgm:constr type="w" for="ch" forName="Accent1" refType="w" fact="0.5091"/>
              <dgm:constr type="h" for="ch" forName="Accent1" refType="h" fact="0.4958"/>
              <dgm:constr type="r" for="ch" forName="Image4" refType="w"/>
              <dgm:constr type="t" for="ch" forName="Image4" refType="h" fact="0.7601"/>
              <dgm:constr type="w" for="ch" forName="Image4" refType="w" fact="0.1316"/>
              <dgm:constr type="h" for="ch" forName="Image4" refType="h" fact="0.2262"/>
              <dgm:constr type="r" for="ch" forName="Accent4" refType="w" fact="0.9864"/>
              <dgm:constr type="t" for="ch" forName="Accent4" refType="h" fact="0.7839"/>
              <dgm:constr type="w" for="ch" forName="Accent4" refType="w" fact="0.1045"/>
              <dgm:constr type="h" for="ch" forName="Accent4" refType="h" fact="0.1806"/>
              <dgm:constr type="r" for="ch" forName="Image3" refType="w" fact="0.2682"/>
              <dgm:constr type="t" for="ch" forName="Image3" refType="h" fact="0.6397"/>
              <dgm:constr type="w" for="ch" forName="Image3" refType="w" fact="0.2682"/>
              <dgm:constr type="h" for="ch" forName="Image3" refType="h" fact="0.2805"/>
              <dgm:constr type="r" for="ch" forName="Accent3" refType="w" fact="0.2545"/>
              <dgm:constr type="t" for="ch" forName="Accent3" refType="h" fact="0.6629"/>
              <dgm:constr type="w" for="ch" forName="Accent3" refType="w" fact="0.2409"/>
              <dgm:constr type="h" for="ch" forName="Accent3" refType="h" fact="0.2344"/>
              <dgm:constr type="r" for="ch" forName="Image2" refType="w" fact="0.5056"/>
              <dgm:constr type="t" for="ch" forName="Image2" refType="h" fact="0"/>
              <dgm:constr type="w" for="ch" forName="Image2" refType="w" fact="0.2205"/>
              <dgm:constr type="h" for="ch" forName="Image2" refType="h" fact="0.3806"/>
              <dgm:constr type="r" for="ch" forName="Accent2" refType="w" fact="0.492"/>
              <dgm:constr type="t" for="ch" forName="Accent2" refType="h" fact="0.0231"/>
              <dgm:constr type="w" for="ch" forName="Accent2" refType="w" fact="0.1932"/>
              <dgm:constr type="h" for="ch" forName="Accent2" refType="h" fact="0.3343"/>
              <dgm:constr type="r" for="ch" forName="Text1" refType="w" fact="0.8226"/>
              <dgm:constr type="t" for="ch" forName="Text1" refType="h" fact="0.8032"/>
              <dgm:constr type="w" for="ch" forName="Text1" refType="w" fact="0.5091"/>
              <dgm:constr type="h" for="ch" forName="Text1" refType="h" fact="0.1499"/>
              <dgm:constr type="r" for="ch" forName="Text2" refType="w" fact="0.4922"/>
              <dgm:constr type="t" for="ch" forName="Text2" refType="h" fact="0.2575"/>
              <dgm:constr type="w" for="ch" forName="Text2" refType="w" fact="0.1932"/>
              <dgm:constr type="h" for="ch" forName="Text2" refType="h" fact="0.0999"/>
              <dgm:constr type="r" for="ch" forName="Text3" refType="w" fact="0.2545"/>
              <dgm:constr type="t" for="ch" forName="Text3" refType="h" fact="0.7974"/>
              <dgm:constr type="w" for="ch" forName="Text3" refType="w" fact="0.2409"/>
              <dgm:constr type="h" for="ch" forName="Text3" refType="h" fact="0.0999"/>
              <dgm:constr type="r" for="ch" forName="Text4" refType="w" fact="0.9864"/>
              <dgm:constr type="t" for="ch" forName="Text4" refType="h" fact="0.8647"/>
              <dgm:constr type="w" for="ch" forName="Text4" refType="w" fact="0.1045"/>
              <dgm:constr type="h" for="ch" forName="Text4" refType="h" fact="0.0999"/>
            </dgm:constrLst>
          </dgm:if>
          <dgm:if name="Name16" axis="ch" ptType="node" func="cnt" op="equ" val="5">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r" for="ch" forName="Image1" refType="w" fact="0.8502"/>
              <dgm:constr type="t" for="ch" forName="Image1" refType="h" fact="0.2921"/>
              <dgm:constr type="w" for="ch" forName="Image1" refType="w" fact="0.5634"/>
              <dgm:constr type="h" for="ch" forName="Image1" refType="h" fact="0.417"/>
              <dgm:constr type="r" for="ch" forName="Accent1" refType="w" fact="0.8226"/>
              <dgm:constr type="t" for="ch" forName="Accent1" refType="h" fact="0.3236"/>
              <dgm:constr type="w" for="ch" forName="Accent1" refType="w" fact="0.5091"/>
              <dgm:constr type="h" for="ch" forName="Accent1" refType="h" fact="0.3515"/>
              <dgm:constr type="r" for="ch" forName="Image4" refType="w"/>
              <dgm:constr type="t" for="ch" forName="Image4" refType="h" fact="0.539"/>
              <dgm:constr type="w" for="ch" forName="Image4" refType="w" fact="0.1316"/>
              <dgm:constr type="h" for="ch" forName="Image4" refType="h" fact="0.1604"/>
              <dgm:constr type="r" for="ch" forName="Accent4" refType="w" fact="0.9864"/>
              <dgm:constr type="t" for="ch" forName="Accent4" refType="h" fact="0.5559"/>
              <dgm:constr type="w" for="ch" forName="Accent4" refType="w" fact="0.1045"/>
              <dgm:constr type="h" for="ch" forName="Accent4" refType="h" fact="0.1281"/>
              <dgm:constr type="r" for="ch" forName="Image5" refType="w" fact="0.3723"/>
              <dgm:constr type="t" for="ch" forName="Image5" refType="h" fact="0.7301"/>
              <dgm:constr type="w" for="ch" forName="Image5" refType="w" fact="0.2318"/>
              <dgm:constr type="h" for="ch" forName="Image5" refType="h" fact="0.2699"/>
              <dgm:constr type="r" for="ch" forName="Accent5" refType="w" fact="0.358"/>
              <dgm:constr type="t" for="ch" forName="Accent5" refType="h" fact="0.7467"/>
              <dgm:constr type="w" for="ch" forName="Accent5" refType="w" fact="0.2045"/>
              <dgm:constr type="h" for="ch" forName="Accent5" refType="h" fact="0.2371"/>
              <dgm:constr type="r" for="ch" forName="Image3" refType="w" fact="0.2682"/>
              <dgm:constr type="t" for="ch" forName="Image3" refType="h" fact="0.4536"/>
              <dgm:constr type="w" for="ch" forName="Image3" refType="w" fact="0.2682"/>
              <dgm:constr type="h" for="ch" forName="Image3" refType="h" fact="0.1989"/>
              <dgm:constr type="r" for="ch" forName="Accent3" refType="w" fact="0.2545"/>
              <dgm:constr type="t" for="ch" forName="Accent3" refType="h" fact="0.4701"/>
              <dgm:constr type="w" for="ch" forName="Accent3" refType="w" fact="0.2409"/>
              <dgm:constr type="h" for="ch" forName="Accent3" refType="h" fact="0.1662"/>
              <dgm:constr type="r" for="ch" forName="Image2" refType="w" fact="0.5056"/>
              <dgm:constr type="t" for="ch" forName="Image2" refType="h" fact="0"/>
              <dgm:constr type="w" for="ch" forName="Image2" refType="w" fact="0.2205"/>
              <dgm:constr type="h" for="ch" forName="Image2" refType="h" fact="0.2699"/>
              <dgm:constr type="r" for="ch" forName="Accent2" refType="w" fact="0.492"/>
              <dgm:constr type="t" for="ch" forName="Accent2" refType="h" fact="0.0164"/>
              <dgm:constr type="w" for="ch" forName="Accent2" refType="w" fact="0.1932"/>
              <dgm:constr type="h" for="ch" forName="Accent2" refType="h" fact="0.2371"/>
              <dgm:constr type="r" for="ch" forName="Text1" refType="w" fact="0.8226"/>
              <dgm:constr type="t" for="ch" forName="Text1" refType="h" fact="0.5695"/>
              <dgm:constr type="w" for="ch" forName="Text1" refType="w" fact="0.5091"/>
              <dgm:constr type="h" for="ch" forName="Text1" refType="h" fact="0.1063"/>
              <dgm:constr type="r" for="ch" forName="Text2" refType="w" fact="0.4922"/>
              <dgm:constr type="t" for="ch" forName="Text2" refType="h" fact="0.1826"/>
              <dgm:constr type="w" for="ch" forName="Text2" refType="w" fact="0.1932"/>
              <dgm:constr type="h" for="ch" forName="Text2" refType="h" fact="0.0709"/>
              <dgm:constr type="r" for="ch" forName="Text3" refType="w" fact="0.2545"/>
              <dgm:constr type="t" for="ch" forName="Text3" refType="h" fact="0.5655"/>
              <dgm:constr type="w" for="ch" forName="Text3" refType="w" fact="0.2409"/>
              <dgm:constr type="h" for="ch" forName="Text3" refType="h" fact="0.0709"/>
              <dgm:constr type="r" for="ch" forName="Text5" refType="w" fact="0.358"/>
              <dgm:constr type="t" for="ch" forName="Text5" refType="h" fact="0.9129"/>
              <dgm:constr type="w" for="ch" forName="Text5" refType="w" fact="0.2045"/>
              <dgm:constr type="h" for="ch" forName="Text5" refType="h" fact="0.0709"/>
              <dgm:constr type="r" for="ch" forName="Text4" refType="w" fact="0.9864"/>
              <dgm:constr type="t" for="ch" forName="Text4" refType="h" fact="0.6132"/>
              <dgm:constr type="w" for="ch" forName="Text4" refType="w" fact="0.1045"/>
              <dgm:constr type="h" for="ch" forName="Text4" refType="h" fact="0.0709"/>
            </dgm:constrLst>
          </dgm:if>
          <dgm:else name="Name17">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primFontSz" for="des" forName="Text6" refType="primFontSz" refFor="des" refForName="Text1" op="equ"/>
              <dgm:constr type="r" for="ch" forName="Image1" refType="w" fact="0.8502"/>
              <dgm:constr type="t" for="ch" forName="Image1" refType="h" fact="0.2921"/>
              <dgm:constr type="w" for="ch" forName="Image1" refType="w" fact="0.5634"/>
              <dgm:constr type="h" for="ch" forName="Image1" refType="h" fact="0.417"/>
              <dgm:constr type="r" for="ch" forName="Accent1" refType="w" fact="0.8226"/>
              <dgm:constr type="t" for="ch" forName="Accent1" refType="h" fact="0.3236"/>
              <dgm:constr type="w" for="ch" forName="Accent1" refType="w" fact="0.5091"/>
              <dgm:constr type="h" for="ch" forName="Accent1" refType="h" fact="0.3515"/>
              <dgm:constr type="r" for="ch" forName="Image4" refType="w"/>
              <dgm:constr type="t" for="ch" forName="Image4" refType="h" fact="0.539"/>
              <dgm:constr type="w" for="ch" forName="Image4" refType="w" fact="0.1316"/>
              <dgm:constr type="h" for="ch" forName="Image4" refType="h" fact="0.1604"/>
              <dgm:constr type="r" for="ch" forName="Accent4" refType="w" fact="0.9864"/>
              <dgm:constr type="t" for="ch" forName="Accent4" refType="h" fact="0.5559"/>
              <dgm:constr type="w" for="ch" forName="Accent4" refType="w" fact="0.1045"/>
              <dgm:constr type="h" for="ch" forName="Accent4" refType="h" fact="0.1281"/>
              <dgm:constr type="r" for="ch" forName="Image5" refType="w" fact="0.3713"/>
              <dgm:constr type="t" for="ch" forName="Image5" refType="h" fact="0.7301"/>
              <dgm:constr type="w" for="ch" forName="Image5" refType="w" fact="0.2318"/>
              <dgm:constr type="h" for="ch" forName="Image5" refType="h" fact="0.2699"/>
              <dgm:constr type="r" for="ch" forName="Accent5" refType="w" fact="0.358"/>
              <dgm:constr type="t" for="ch" forName="Accent5" refType="h" fact="0.7467"/>
              <dgm:constr type="w" for="ch" forName="Accent5" refType="w" fact="0.2045"/>
              <dgm:constr type="h" for="ch" forName="Accent5" refType="h" fact="0.2371"/>
              <dgm:constr type="r" for="ch" forName="Image3" refType="w" fact="0.2682"/>
              <dgm:constr type="t" for="ch" forName="Image3" refType="h" fact="0.4536"/>
              <dgm:constr type="w" for="ch" forName="Image3" refType="w" fact="0.2682"/>
              <dgm:constr type="h" for="ch" forName="Image3" refType="h" fact="0.1989"/>
              <dgm:constr type="r" for="ch" forName="Accent3" refType="w" fact="0.2545"/>
              <dgm:constr type="t" for="ch" forName="Accent3" refType="h" fact="0.4701"/>
              <dgm:constr type="w" for="ch" forName="Accent3" refType="w" fact="0.2409"/>
              <dgm:constr type="h" for="ch" forName="Accent3" refType="h" fact="0.1662"/>
              <dgm:constr type="r" for="ch" forName="Image2" refType="w" fact="0.5056"/>
              <dgm:constr type="t" for="ch" forName="Image2" refType="h" fact="0"/>
              <dgm:constr type="w" for="ch" forName="Image2" refType="w" fact="0.2205"/>
              <dgm:constr type="h" for="ch" forName="Image2" refType="h" fact="0.2699"/>
              <dgm:constr type="r" for="ch" forName="Accent2" refType="w" fact="0.492"/>
              <dgm:constr type="t" for="ch" forName="Accent2" refType="h" fact="0.0164"/>
              <dgm:constr type="w" for="ch" forName="Accent2" refType="w" fact="0.1932"/>
              <dgm:constr type="h" for="ch" forName="Accent2" refType="h" fact="0.2371"/>
              <dgm:constr type="r" for="ch" forName="Text1" refType="w" fact="0.8226"/>
              <dgm:constr type="t" for="ch" forName="Text1" refType="h" fact="0.5695"/>
              <dgm:constr type="w" for="ch" forName="Text1" refType="w" fact="0.5091"/>
              <dgm:constr type="h" for="ch" forName="Text1" refType="h" fact="0.1063"/>
              <dgm:constr type="r" for="ch" forName="Image6" refType="w" fact="0.849"/>
              <dgm:constr type="t" for="ch" forName="Image6" refType="h" fact="0.7301"/>
              <dgm:constr type="w" for="ch" forName="Image6" refType="w" fact="0.2361"/>
              <dgm:constr type="h" for="ch" forName="Image6" refType="h" fact="0.1604"/>
              <dgm:constr type="r" for="ch" forName="Accent6" refType="w" fact="0.8352"/>
              <dgm:constr type="t" for="ch" forName="Accent6" refType="h" fact="0.7467"/>
              <dgm:constr type="w" for="ch" forName="Accent6" refType="w" fact="0.2091"/>
              <dgm:constr type="h" for="ch" forName="Accent6" refType="h" fact="0.1281"/>
              <dgm:constr type="r" for="ch" forName="Text2" refType="w" fact="0.4922"/>
              <dgm:constr type="t" for="ch" forName="Text2" refType="h" fact="0.1826"/>
              <dgm:constr type="w" for="ch" forName="Text2" refType="w" fact="0.1932"/>
              <dgm:constr type="h" for="ch" forName="Text2" refType="h" fact="0.0709"/>
              <dgm:constr type="r" for="ch" forName="Text3" refType="w" fact="0.2545"/>
              <dgm:constr type="t" for="ch" forName="Text3" refType="h" fact="0.5655"/>
              <dgm:constr type="w" for="ch" forName="Text3" refType="w" fact="0.2409"/>
              <dgm:constr type="h" for="ch" forName="Text3" refType="h" fact="0.0709"/>
              <dgm:constr type="r" for="ch" forName="Text5" refType="w" fact="0.358"/>
              <dgm:constr type="t" for="ch" forName="Text5" refType="h" fact="0.9129"/>
              <dgm:constr type="w" for="ch" forName="Text5" refType="w" fact="0.2045"/>
              <dgm:constr type="h" for="ch" forName="Text5" refType="h" fact="0.0709"/>
              <dgm:constr type="r" for="ch" forName="Text6" refType="w" fact="0.8352"/>
              <dgm:constr type="t" for="ch" forName="Text6" refType="h" fact="0.8039"/>
              <dgm:constr type="w" for="ch" forName="Text6" refType="w" fact="0.2091"/>
              <dgm:constr type="h" for="ch" forName="Text6" refType="h" fact="0.0709"/>
              <dgm:constr type="r" for="ch" forName="Text4" refType="w" fact="0.9864"/>
              <dgm:constr type="t" for="ch" forName="Text4" refType="h" fact="0.6132"/>
              <dgm:constr type="w" for="ch" forName="Text4" refType="w" fact="0.1045"/>
              <dgm:constr type="h" for="ch" forName="Text4" refType="h" fact="0.0709"/>
            </dgm:constrLst>
          </dgm:else>
        </dgm:choose>
      </dgm:else>
    </dgm:choose>
    <dgm:forEach name="wrapper" axis="self" ptType="parTrans">
      <dgm:forEach name="ImageRepeat" axis="self">
        <dgm:layoutNode name="Image" styleLbl="alignImgPlace1">
          <dgm:alg type="sp"/>
          <dgm:shape xmlns:r="http://schemas.openxmlformats.org/officeDocument/2006/relationships" type="rect" r:blip="" blipPhldr="1">
            <dgm:adjLst/>
          </dgm:shape>
          <dgm:presOf/>
        </dgm:layoutNode>
      </dgm:forEach>
      <dgm:forEach name="accentRepeat" axis="self">
        <dgm:layoutNode name="Accent" styleLbl="parChTrans1D1">
          <dgm:alg type="sp"/>
          <dgm:shape xmlns:r="http://schemas.openxmlformats.org/officeDocument/2006/relationships" type="rect" r:blip="">
            <dgm:adjLst/>
          </dgm:shape>
          <dgm:presOf/>
        </dgm:layoutNode>
      </dgm:forEach>
    </dgm:forEach>
    <dgm:forEach name="Name18" axis="ch" ptType="node" cnt="1">
      <dgm:layoutNode name="Image1">
        <dgm:alg type="sp"/>
        <dgm:shape xmlns:r="http://schemas.openxmlformats.org/officeDocument/2006/relationships" r:blip="">
          <dgm:adjLst/>
        </dgm:shape>
        <dgm:presOf/>
        <dgm:forEach name="Name19" ref="ImageRepeat"/>
      </dgm:layoutNode>
      <dgm:layoutNode name="Accent1">
        <dgm:alg type="sp"/>
        <dgm:shape xmlns:r="http://schemas.openxmlformats.org/officeDocument/2006/relationships" r:blip="">
          <dgm:adjLst/>
        </dgm:shape>
        <dgm:presOf/>
        <dgm:constrLst/>
        <dgm:forEach name="Name20" ref="accentRepeat"/>
      </dgm:layoutNode>
      <dgm:layoutNode name="Text1" styleLbl="alignImgPlace1">
        <dgm:varLst>
          <dgm:chMax val="0"/>
          <dgm:chPref val="0"/>
          <dgm:bulletEnabled val="1"/>
        </dgm:varLst>
        <dgm:alg type="tx">
          <dgm:param type="parTxLTRAlign" val="r"/>
          <dgm:param type="shpTxLTRAlignCh" val="r"/>
          <dgm:param type="txAnchorVert" val="b"/>
          <dgm:param type="txAnchorVertCh" val="b"/>
          <dgm:param type="lnSpPar" val="100"/>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1" axis="ch" ptType="node" st="2" cnt="1">
      <dgm:layoutNode name="Image2">
        <dgm:alg type="sp"/>
        <dgm:shape xmlns:r="http://schemas.openxmlformats.org/officeDocument/2006/relationships" r:blip="">
          <dgm:adjLst/>
        </dgm:shape>
        <dgm:presOf/>
        <dgm:forEach name="Name22" ref="ImageRepeat"/>
      </dgm:layoutNode>
      <dgm:layoutNode name="Accent2">
        <dgm:alg type="sp"/>
        <dgm:shape xmlns:r="http://schemas.openxmlformats.org/officeDocument/2006/relationships" r:blip="">
          <dgm:adjLst/>
        </dgm:shape>
        <dgm:presOf/>
        <dgm:constrLst/>
        <dgm:forEach name="Name23" ref="accentRepeat"/>
      </dgm:layoutNode>
      <dgm:layoutNode name="Text2"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4" axis="ch" ptType="node" st="3" cnt="1">
      <dgm:layoutNode name="Image3">
        <dgm:alg type="sp"/>
        <dgm:shape xmlns:r="http://schemas.openxmlformats.org/officeDocument/2006/relationships" r:blip="">
          <dgm:adjLst/>
        </dgm:shape>
        <dgm:presOf/>
        <dgm:forEach name="Name25" ref="ImageRepeat"/>
      </dgm:layoutNode>
      <dgm:layoutNode name="Accent3">
        <dgm:alg type="sp"/>
        <dgm:shape xmlns:r="http://schemas.openxmlformats.org/officeDocument/2006/relationships" r:blip="">
          <dgm:adjLst/>
        </dgm:shape>
        <dgm:presOf/>
        <dgm:constrLst/>
        <dgm:forEach name="Name26" ref="accentRepeat"/>
      </dgm:layoutNode>
      <dgm:layoutNode name="Text3"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7" axis="ch" ptType="node" st="4" cnt="1">
      <dgm:layoutNode name="Image4">
        <dgm:alg type="sp"/>
        <dgm:shape xmlns:r="http://schemas.openxmlformats.org/officeDocument/2006/relationships" r:blip="">
          <dgm:adjLst/>
        </dgm:shape>
        <dgm:presOf/>
        <dgm:forEach name="Name28" ref="ImageRepeat"/>
      </dgm:layoutNode>
      <dgm:layoutNode name="Accent4">
        <dgm:alg type="sp"/>
        <dgm:shape xmlns:r="http://schemas.openxmlformats.org/officeDocument/2006/relationships" r:blip="">
          <dgm:adjLst/>
        </dgm:shape>
        <dgm:presOf/>
        <dgm:constrLst/>
        <dgm:forEach name="Name29" ref="accentRepeat"/>
      </dgm:layoutNode>
      <dgm:layoutNode name="Text4"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30" axis="ch" ptType="node" st="5" cnt="1">
      <dgm:layoutNode name="Image5">
        <dgm:alg type="sp"/>
        <dgm:shape xmlns:r="http://schemas.openxmlformats.org/officeDocument/2006/relationships" r:blip="">
          <dgm:adjLst/>
        </dgm:shape>
        <dgm:presOf/>
        <dgm:forEach name="Name31" ref="ImageRepeat"/>
      </dgm:layoutNode>
      <dgm:layoutNode name="Accent5">
        <dgm:alg type="sp"/>
        <dgm:shape xmlns:r="http://schemas.openxmlformats.org/officeDocument/2006/relationships" r:blip="">
          <dgm:adjLst/>
        </dgm:shape>
        <dgm:presOf/>
        <dgm:constrLst/>
        <dgm:forEach name="Name32" ref="accentRepeat"/>
      </dgm:layoutNode>
      <dgm:layoutNode name="Text5"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33" axis="ch" ptType="node" st="6" cnt="1">
      <dgm:layoutNode name="Image6">
        <dgm:alg type="sp"/>
        <dgm:shape xmlns:r="http://schemas.openxmlformats.org/officeDocument/2006/relationships" r:blip="">
          <dgm:adjLst/>
        </dgm:shape>
        <dgm:presOf/>
        <dgm:forEach name="Name34" ref="ImageRepeat"/>
      </dgm:layoutNode>
      <dgm:layoutNode name="Accent6">
        <dgm:alg type="sp"/>
        <dgm:shape xmlns:r="http://schemas.openxmlformats.org/officeDocument/2006/relationships" r:blip="">
          <dgm:adjLst/>
        </dgm:shape>
        <dgm:presOf/>
        <dgm:constrLst/>
        <dgm:forEach name="Name35" ref="accentRepeat"/>
      </dgm:layoutNode>
      <dgm:layoutNode name="Text6"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3952179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107250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3998314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4B89B-1D00-4BF6-9C29-A86EC419A2E0}"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874657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4B89B-1D00-4BF6-9C29-A86EC419A2E0}" type="datetimeFigureOut">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680709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4B89B-1D00-4BF6-9C29-A86EC419A2E0}" type="datetimeFigureOut">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4027318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4B89B-1D00-4BF6-9C29-A86EC419A2E0}" type="datetimeFigureOut">
              <a:rPr lang="en-US" smtClean="0"/>
              <a:t>8/2/2026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074323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4B89B-1D00-4BF6-9C29-A86EC419A2E0}"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50793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4B89B-1D00-4BF6-9C29-A86EC419A2E0}"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1343041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4B89B-1D00-4BF6-9C29-A86EC419A2E0}"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704988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3076022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068558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823669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20906237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3433143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3188376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4B89B-1D00-4BF6-9C29-A86EC419A2E0}"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43ADC-20B8-4E12-AE7B-1FCD8BF4D486}" type="slidenum">
              <a:rPr lang="en-US" smtClean="0"/>
              <a:t>‹#›</a:t>
            </a:fld>
            <a:endParaRPr lang="en-US"/>
          </a:p>
        </p:txBody>
      </p:sp>
    </p:spTree>
    <p:extLst>
      <p:ext uri="{BB962C8B-B14F-4D97-AF65-F5344CB8AC3E}">
        <p14:creationId xmlns:p14="http://schemas.microsoft.com/office/powerpoint/2010/main" val="138157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4B89B-1D00-4BF6-9C29-A86EC419A2E0}" type="datetimeFigureOut">
              <a:rPr lang="en-US" smtClean="0"/>
              <a:t>8/2/2026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5943ADC-20B8-4E12-AE7B-1FCD8BF4D486}" type="slidenum">
              <a:rPr lang="en-US" smtClean="0"/>
              <a:t>‹#›</a:t>
            </a:fld>
            <a:endParaRPr lang="en-US"/>
          </a:p>
        </p:txBody>
      </p:sp>
    </p:spTree>
    <p:extLst>
      <p:ext uri="{BB962C8B-B14F-4D97-AF65-F5344CB8AC3E}">
        <p14:creationId xmlns:p14="http://schemas.microsoft.com/office/powerpoint/2010/main" val="42325630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diagramLayout" Target="../diagrams/layout3.xml"/><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11" Type="http://schemas.openxmlformats.org/officeDocument/2006/relationships/image" Target="../media/image10.jpeg"/><Relationship Id="rId5" Type="http://schemas.openxmlformats.org/officeDocument/2006/relationships/diagramColors" Target="../diagrams/colors3.xml"/><Relationship Id="rId10" Type="http://schemas.openxmlformats.org/officeDocument/2006/relationships/image" Target="../media/image9.png"/><Relationship Id="rId4" Type="http://schemas.openxmlformats.org/officeDocument/2006/relationships/diagramQuickStyle" Target="../diagrams/quickStyle3.xml"/><Relationship Id="rId9"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webp"/><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86D26-E3B1-365F-C14D-C0910EDB9C86}"/>
              </a:ext>
            </a:extLst>
          </p:cNvPr>
          <p:cNvSpPr>
            <a:spLocks noGrp="1"/>
          </p:cNvSpPr>
          <p:nvPr>
            <p:ph type="ctrTitle"/>
          </p:nvPr>
        </p:nvSpPr>
        <p:spPr>
          <a:xfrm>
            <a:off x="2928400" y="2721057"/>
            <a:ext cx="8574622" cy="1134533"/>
          </a:xfrm>
        </p:spPr>
        <p:txBody>
          <a:bodyPr>
            <a:normAutofit fontScale="90000"/>
          </a:bodyPr>
          <a:lstStyle/>
          <a:p>
            <a:br>
              <a:rPr lang="en-US" dirty="0"/>
            </a:br>
            <a:r>
              <a:rPr lang="en-US" dirty="0">
                <a:effectLst>
                  <a:outerShdw blurRad="30000" dist="15000" dir="2700000" rotWithShape="0">
                    <a:srgbClr val="1F3864">
                      <a:alpha val="28000"/>
                    </a:srgbClr>
                  </a:outerShdw>
                </a:effectLst>
              </a:rPr>
              <a:t> </a:t>
            </a:r>
            <a:r>
              <a:rPr lang="en-US" sz="2800" b="1" i="1" dirty="0">
                <a:effectLst>
                  <a:outerShdw blurRad="30000" dist="15000" dir="2700000" rotWithShape="0">
                    <a:srgbClr val="1F3864">
                      <a:alpha val="28000"/>
                    </a:srgbClr>
                  </a:outerShdw>
                </a:effectLst>
              </a:rPr>
              <a:t>Analyze Food Delivery Demand Across Regions to Inform Market Expansion &amp; Logistics (FoodTech) </a:t>
            </a:r>
            <a:endParaRPr lang="en-US" i="1" dirty="0"/>
          </a:p>
        </p:txBody>
      </p:sp>
      <p:sp>
        <p:nvSpPr>
          <p:cNvPr id="3" name="Subtitle 2">
            <a:extLst>
              <a:ext uri="{FF2B5EF4-FFF2-40B4-BE49-F238E27FC236}">
                <a16:creationId xmlns:a16="http://schemas.microsoft.com/office/drawing/2014/main" id="{F4E718A8-47A3-731D-AE66-2AE9169CD002}"/>
              </a:ext>
            </a:extLst>
          </p:cNvPr>
          <p:cNvSpPr>
            <a:spLocks noGrp="1"/>
          </p:cNvSpPr>
          <p:nvPr>
            <p:ph type="subTitle" idx="1"/>
          </p:nvPr>
        </p:nvSpPr>
        <p:spPr>
          <a:xfrm>
            <a:off x="4515377" y="3996266"/>
            <a:ext cx="6987645" cy="2038774"/>
          </a:xfrm>
          <a:solidFill>
            <a:schemeClr val="accent1">
              <a:lumMod val="75000"/>
            </a:schemeClr>
          </a:solidFill>
        </p:spPr>
        <p:txBody>
          <a:bodyPr>
            <a:normAutofit/>
          </a:bodyPr>
          <a:lstStyle/>
          <a:p>
            <a:r>
              <a:rPr lang="en-US" sz="1400" b="1" dirty="0">
                <a:solidFill>
                  <a:schemeClr val="bg1"/>
                </a:solidFill>
                <a:latin typeface="Segoe UI" panose="020B0502040204020203" pitchFamily="34" charset="0"/>
                <a:cs typeface="Segoe UI" panose="020B0502040204020203" pitchFamily="34" charset="0"/>
              </a:rPr>
              <a:t>A Data Analytics Project</a:t>
            </a:r>
          </a:p>
          <a:p>
            <a:endParaRPr lang="en-US" sz="1400" b="1" dirty="0">
              <a:solidFill>
                <a:schemeClr val="bg1"/>
              </a:solidFill>
              <a:latin typeface="Segoe UI" panose="020B0502040204020203" pitchFamily="34" charset="0"/>
              <a:cs typeface="Segoe UI" panose="020B0502040204020203" pitchFamily="34" charset="0"/>
            </a:endParaRPr>
          </a:p>
          <a:p>
            <a:r>
              <a:rPr lang="en-US" sz="1400" b="1" dirty="0">
                <a:solidFill>
                  <a:schemeClr val="bg1"/>
                </a:solidFill>
                <a:latin typeface="Segoe UI" panose="020B0502040204020203" pitchFamily="34" charset="0"/>
                <a:cs typeface="Segoe UI" panose="020B0502040204020203" pitchFamily="34" charset="0"/>
              </a:rPr>
              <a:t>Presented by : Srikanth S</a:t>
            </a:r>
          </a:p>
          <a:p>
            <a:r>
              <a:rPr lang="en-US" sz="1400" b="1" dirty="0">
                <a:solidFill>
                  <a:schemeClr val="bg1"/>
                </a:solidFill>
                <a:latin typeface="Segoe UI" panose="020B0502040204020203" pitchFamily="34" charset="0"/>
                <a:cs typeface="Segoe UI" panose="020B0502040204020203" pitchFamily="34" charset="0"/>
              </a:rPr>
              <a:t>Mentor : Jaya Pandey</a:t>
            </a:r>
          </a:p>
          <a:p>
            <a:r>
              <a:rPr lang="en-US" sz="1400" b="1" dirty="0">
                <a:solidFill>
                  <a:schemeClr val="bg1"/>
                </a:solidFill>
                <a:latin typeface="Segoe UI" panose="020B0502040204020203" pitchFamily="34" charset="0"/>
                <a:cs typeface="Segoe UI" panose="020B0502040204020203" pitchFamily="34" charset="0"/>
              </a:rPr>
              <a:t>Course : Data Analytics with GenAI</a:t>
            </a:r>
          </a:p>
          <a:p>
            <a:r>
              <a:rPr lang="en-US" sz="1400" b="1" dirty="0">
                <a:solidFill>
                  <a:schemeClr val="bg1"/>
                </a:solidFill>
                <a:latin typeface="Segoe UI" panose="020B0502040204020203" pitchFamily="34" charset="0"/>
                <a:cs typeface="Segoe UI" panose="020B0502040204020203" pitchFamily="34" charset="0"/>
              </a:rPr>
              <a:t>Batch code : DA724S27</a:t>
            </a:r>
          </a:p>
        </p:txBody>
      </p:sp>
    </p:spTree>
    <p:extLst>
      <p:ext uri="{BB962C8B-B14F-4D97-AF65-F5344CB8AC3E}">
        <p14:creationId xmlns:p14="http://schemas.microsoft.com/office/powerpoint/2010/main" val="969544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85800" y="950000"/>
            <a:ext cx="5295900" cy="5400000"/>
          </a:xfrm>
          <a:prstGeom prst="roundRect">
            <a:avLst>
              <a:gd name="adj" fmla="val 8000"/>
            </a:avLst>
          </a:prstGeom>
          <a:solidFill>
            <a:srgbClr val="EEF4FC"/>
          </a:solidFill>
          <a:ln>
            <a:noFill/>
          </a:ln>
          <a:effectLst>
            <a:outerShdw blurRad="45000" dist="28000" dir="2700000" rotWithShape="0">
              <a:srgbClr val="1F3864">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 y="1224320"/>
            <a:ext cx="400000" cy="400000"/>
          </a:xfrm>
          <a:prstGeom prst="ellipse">
            <a:avLst/>
          </a:prstGeom>
          <a:solidFill>
            <a:srgbClr val="3085ED"/>
          </a:solidFill>
          <a:ln>
            <a:noFill/>
          </a:ln>
          <a:effectLst>
            <a:outerShdw blurRad="30000" dist="15000" dir="2700000" rotWithShape="0">
              <a:srgbClr val="1F3864">
                <a:alpha val="38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rPr>
              <a:t>1</a:t>
            </a:r>
          </a:p>
        </p:txBody>
      </p:sp>
      <p:sp>
        <p:nvSpPr>
          <p:cNvPr id="4" name="TextBox 3"/>
          <p:cNvSpPr txBox="1"/>
          <p:nvPr/>
        </p:nvSpPr>
        <p:spPr>
          <a:xfrm>
            <a:off x="1520120" y="1224320"/>
            <a:ext cx="4187260" cy="400000"/>
          </a:xfrm>
          <a:prstGeom prst="rect">
            <a:avLst/>
          </a:prstGeom>
          <a:noFill/>
        </p:spPr>
        <p:txBody>
          <a:bodyPr wrap="square" lIns="0" tIns="0" rIns="0" bIns="0" anchor="ctr">
            <a:spAutoFit/>
          </a:bodyPr>
          <a:lstStyle/>
          <a:p>
            <a:pPr algn="l"/>
            <a:r>
              <a:rPr sz="2000" b="1" dirty="0">
                <a:solidFill>
                  <a:srgbClr val="1B4F8C"/>
                </a:solidFill>
              </a:rPr>
              <a:t>Introduction</a:t>
            </a:r>
          </a:p>
        </p:txBody>
      </p:sp>
      <p:sp>
        <p:nvSpPr>
          <p:cNvPr id="5" name="TextBox 4"/>
          <p:cNvSpPr txBox="1"/>
          <p:nvPr/>
        </p:nvSpPr>
        <p:spPr>
          <a:xfrm>
            <a:off x="960120" y="1852920"/>
            <a:ext cx="4747260" cy="2462213"/>
          </a:xfrm>
          <a:prstGeom prst="rect">
            <a:avLst/>
          </a:prstGeom>
          <a:noFill/>
        </p:spPr>
        <p:txBody>
          <a:bodyPr wrap="square" lIns="0" tIns="0" rIns="0" bIns="0" anchor="t">
            <a:spAutoFit/>
          </a:bodyPr>
          <a:lstStyle/>
          <a:p>
            <a:r>
              <a:rPr lang="en-US" sz="1600" dirty="0"/>
              <a:t>The FoodTech industry is </a:t>
            </a:r>
            <a:r>
              <a:rPr lang="en-US" sz="1600" b="1" dirty="0">
                <a:solidFill>
                  <a:schemeClr val="accent1"/>
                </a:solidFill>
              </a:rPr>
              <a:t>growing rapidly </a:t>
            </a:r>
            <a:r>
              <a:rPr lang="en-US" sz="1600" dirty="0"/>
              <a:t>due to the </a:t>
            </a:r>
            <a:r>
              <a:rPr lang="en-US" sz="1600" b="1" dirty="0">
                <a:solidFill>
                  <a:schemeClr val="accent1"/>
                </a:solidFill>
              </a:rPr>
              <a:t>increasing adoption of online food ordering and digital payment platforms</a:t>
            </a:r>
            <a:r>
              <a:rPr lang="en-US" sz="1600" dirty="0"/>
              <a:t>. As customer expectations rise, businesses must </a:t>
            </a:r>
            <a:r>
              <a:rPr lang="en-US" sz="1600" b="1" dirty="0">
                <a:solidFill>
                  <a:schemeClr val="accent1"/>
                </a:solidFill>
              </a:rPr>
              <a:t>analyze customer behavior, regional demand, restaurant performance, and delivery efficiency</a:t>
            </a:r>
            <a:r>
              <a:rPr lang="en-US" sz="1600" dirty="0"/>
              <a:t> to remain competitive.</a:t>
            </a:r>
          </a:p>
          <a:p>
            <a:endParaRPr lang="en-US" sz="1600" dirty="0"/>
          </a:p>
          <a:p>
            <a:r>
              <a:rPr lang="en-US" sz="1600" dirty="0"/>
              <a:t>Data analytics transforms </a:t>
            </a:r>
            <a:r>
              <a:rPr lang="en-US" sz="1600" b="1" dirty="0">
                <a:solidFill>
                  <a:schemeClr val="accent1"/>
                </a:solidFill>
              </a:rPr>
              <a:t>operational data into actionable insights</a:t>
            </a:r>
            <a:r>
              <a:rPr lang="en-US" sz="1600" b="1" dirty="0">
                <a:solidFill>
                  <a:srgbClr val="FF0000"/>
                </a:solidFill>
              </a:rPr>
              <a:t> </a:t>
            </a:r>
            <a:r>
              <a:rPr lang="en-US" sz="1600" dirty="0"/>
              <a:t>that support strategic decision-making.</a:t>
            </a:r>
          </a:p>
        </p:txBody>
      </p:sp>
      <p:sp>
        <p:nvSpPr>
          <p:cNvPr id="6" name="Rounded Rectangle 5"/>
          <p:cNvSpPr/>
          <p:nvPr/>
        </p:nvSpPr>
        <p:spPr>
          <a:xfrm>
            <a:off x="6210300" y="950000"/>
            <a:ext cx="5295900" cy="5400000"/>
          </a:xfrm>
          <a:prstGeom prst="roundRect">
            <a:avLst>
              <a:gd name="adj" fmla="val 8000"/>
            </a:avLst>
          </a:prstGeom>
          <a:solidFill>
            <a:srgbClr val="E7F0FB"/>
          </a:solidFill>
          <a:ln>
            <a:noFill/>
          </a:ln>
          <a:effectLst>
            <a:outerShdw blurRad="45000" dist="28000" dir="2700000" rotWithShape="0">
              <a:srgbClr val="1F3864">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84620" y="1224320"/>
            <a:ext cx="400000" cy="400000"/>
          </a:xfrm>
          <a:prstGeom prst="ellipse">
            <a:avLst/>
          </a:prstGeom>
          <a:solidFill>
            <a:srgbClr val="3085ED"/>
          </a:solidFill>
          <a:ln>
            <a:noFill/>
          </a:ln>
          <a:effectLst>
            <a:outerShdw blurRad="30000" dist="15000" dir="2700000" rotWithShape="0">
              <a:srgbClr val="1F3864">
                <a:alpha val="3800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rPr>
              <a:t>2</a:t>
            </a:r>
          </a:p>
        </p:txBody>
      </p:sp>
      <p:sp>
        <p:nvSpPr>
          <p:cNvPr id="8" name="TextBox 7"/>
          <p:cNvSpPr txBox="1"/>
          <p:nvPr/>
        </p:nvSpPr>
        <p:spPr>
          <a:xfrm>
            <a:off x="7044620" y="1224320"/>
            <a:ext cx="4187260" cy="400000"/>
          </a:xfrm>
          <a:prstGeom prst="rect">
            <a:avLst/>
          </a:prstGeom>
          <a:noFill/>
        </p:spPr>
        <p:txBody>
          <a:bodyPr wrap="square" lIns="0" tIns="0" rIns="0" bIns="0" anchor="ctr">
            <a:spAutoFit/>
          </a:bodyPr>
          <a:lstStyle/>
          <a:p>
            <a:pPr algn="l"/>
            <a:r>
              <a:rPr sz="2000" b="1" dirty="0">
                <a:solidFill>
                  <a:srgbClr val="1B4F8C"/>
                </a:solidFill>
              </a:rPr>
              <a:t>Project Overview</a:t>
            </a:r>
          </a:p>
        </p:txBody>
      </p:sp>
      <p:sp>
        <p:nvSpPr>
          <p:cNvPr id="9" name="TextBox 8"/>
          <p:cNvSpPr txBox="1"/>
          <p:nvPr/>
        </p:nvSpPr>
        <p:spPr>
          <a:xfrm>
            <a:off x="6484620" y="1732291"/>
            <a:ext cx="4747260" cy="4185761"/>
          </a:xfrm>
          <a:prstGeom prst="rect">
            <a:avLst/>
          </a:prstGeom>
          <a:noFill/>
        </p:spPr>
        <p:txBody>
          <a:bodyPr wrap="square" lIns="0" tIns="0" rIns="0" bIns="0" anchor="t">
            <a:spAutoFit/>
          </a:bodyPr>
          <a:lstStyle/>
          <a:p>
            <a:r>
              <a:rPr lang="en-US" sz="1600" dirty="0"/>
              <a:t>This capstone project analyzes FoodTech data related to </a:t>
            </a:r>
            <a:r>
              <a:rPr lang="en-US" sz="1600" b="1" dirty="0">
                <a:solidFill>
                  <a:schemeClr val="accent1"/>
                </a:solidFill>
              </a:rPr>
              <a:t>customers, restaurants, delivery partners, and orders</a:t>
            </a:r>
            <a:r>
              <a:rPr lang="en-US" sz="1600" dirty="0">
                <a:solidFill>
                  <a:schemeClr val="accent1"/>
                </a:solidFill>
              </a:rPr>
              <a:t>.</a:t>
            </a:r>
          </a:p>
          <a:p>
            <a:endParaRPr lang="en-US" sz="1600" dirty="0"/>
          </a:p>
          <a:p>
            <a:r>
              <a:rPr lang="en-US" sz="1600" dirty="0"/>
              <a:t>Using </a:t>
            </a:r>
            <a:r>
              <a:rPr lang="en-US" sz="1600" b="1" dirty="0">
                <a:solidFill>
                  <a:schemeClr val="accent1"/>
                </a:solidFill>
              </a:rPr>
              <a:t>SQL, Python, Excel, and Power BI</a:t>
            </a:r>
            <a:r>
              <a:rPr lang="en-US" sz="1600" dirty="0"/>
              <a:t>, the project examines:</a:t>
            </a:r>
          </a:p>
          <a:p>
            <a:endParaRPr lang="en-US" sz="1600" dirty="0"/>
          </a:p>
          <a:p>
            <a:pPr marL="285750" indent="-285750">
              <a:buFont typeface="Arial" panose="020B0604020202020204" pitchFamily="34" charset="0"/>
              <a:buChar char="•"/>
            </a:pPr>
            <a:r>
              <a:rPr lang="en-US" sz="1600" dirty="0"/>
              <a:t>Customer purchasing and loyalty patterns </a:t>
            </a:r>
          </a:p>
          <a:p>
            <a:endParaRPr lang="en-US" sz="1600" dirty="0"/>
          </a:p>
          <a:p>
            <a:pPr marL="285750" indent="-285750">
              <a:buFont typeface="Arial" panose="020B0604020202020204" pitchFamily="34" charset="0"/>
              <a:buChar char="•"/>
            </a:pPr>
            <a:r>
              <a:rPr lang="en-US" sz="1600" dirty="0"/>
              <a:t>Regional demand and market expansion opportunities </a:t>
            </a:r>
          </a:p>
          <a:p>
            <a:endParaRPr lang="en-US" sz="1600" dirty="0"/>
          </a:p>
          <a:p>
            <a:pPr marL="285750" indent="-285750">
              <a:buFont typeface="Arial" panose="020B0604020202020204" pitchFamily="34" charset="0"/>
              <a:buChar char="•"/>
            </a:pPr>
            <a:r>
              <a:rPr lang="en-US" sz="1600" dirty="0"/>
              <a:t>Restaurant and cuisine performance </a:t>
            </a:r>
          </a:p>
          <a:p>
            <a:endParaRPr lang="en-US" sz="1600" dirty="0"/>
          </a:p>
          <a:p>
            <a:pPr marL="285750" indent="-285750">
              <a:buFont typeface="Arial" panose="020B0604020202020204" pitchFamily="34" charset="0"/>
              <a:buChar char="•"/>
            </a:pPr>
            <a:r>
              <a:rPr lang="en-US" sz="1600" dirty="0"/>
              <a:t>Delivery efficiency and logistics performance </a:t>
            </a:r>
          </a:p>
          <a:p>
            <a:endParaRPr lang="en-US" sz="1600" dirty="0"/>
          </a:p>
          <a:p>
            <a:pPr marL="285750" indent="-285750">
              <a:buFont typeface="Arial" panose="020B0604020202020204" pitchFamily="34" charset="0"/>
              <a:buChar char="•"/>
            </a:pPr>
            <a:r>
              <a:rPr lang="en-US" sz="1600" dirty="0"/>
              <a:t>Statistical relationships and predictive insights using machine learning</a:t>
            </a:r>
          </a:p>
        </p:txBody>
      </p:sp>
      <p:sp>
        <p:nvSpPr>
          <p:cNvPr id="10" name="TextBox 9">
            <a:extLst>
              <a:ext uri="{FF2B5EF4-FFF2-40B4-BE49-F238E27FC236}">
                <a16:creationId xmlns:a16="http://schemas.microsoft.com/office/drawing/2014/main" id="{EB5F8D52-09D8-02DE-3DD3-D39CACC3582B}"/>
              </a:ext>
            </a:extLst>
          </p:cNvPr>
          <p:cNvSpPr txBox="1"/>
          <p:nvPr/>
        </p:nvSpPr>
        <p:spPr>
          <a:xfrm>
            <a:off x="3991470" y="323334"/>
            <a:ext cx="4702364" cy="369332"/>
          </a:xfrm>
          <a:prstGeom prst="rect">
            <a:avLst/>
          </a:prstGeom>
          <a:noFill/>
        </p:spPr>
        <p:txBody>
          <a:bodyPr wrap="square" lIns="0" tIns="0" rIns="0" bIns="0" anchor="ctr">
            <a:spAutoFit/>
          </a:bodyPr>
          <a:lstStyle/>
          <a:p>
            <a:pPr algn="l"/>
            <a:r>
              <a:rPr lang="en-US" sz="2400" b="1" dirty="0">
                <a:solidFill>
                  <a:srgbClr val="1B4F8C"/>
                </a:solidFill>
                <a:latin typeface="+mj-lt"/>
              </a:rPr>
              <a:t>Project </a:t>
            </a:r>
            <a:r>
              <a:rPr sz="2400" b="1" dirty="0">
                <a:solidFill>
                  <a:srgbClr val="1B4F8C"/>
                </a:solidFill>
                <a:latin typeface="+mj-lt"/>
              </a:rPr>
              <a:t>Introduction</a:t>
            </a:r>
            <a:r>
              <a:rPr lang="en-US" sz="2400" b="1" dirty="0">
                <a:solidFill>
                  <a:srgbClr val="1B4F8C"/>
                </a:solidFill>
                <a:latin typeface="+mj-lt"/>
              </a:rPr>
              <a:t> and Overview</a:t>
            </a:r>
            <a:endParaRPr sz="2400" b="1" dirty="0">
              <a:solidFill>
                <a:srgbClr val="1B4F8C"/>
              </a:solidFill>
              <a:latin typeface="+mj-lt"/>
            </a:endParaRPr>
          </a:p>
        </p:txBody>
      </p:sp>
    </p:spTree>
    <p:extLst>
      <p:ext uri="{BB962C8B-B14F-4D97-AF65-F5344CB8AC3E}">
        <p14:creationId xmlns:p14="http://schemas.microsoft.com/office/powerpoint/2010/main" val="1741778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0BDC84-C646-EB21-A2FD-C6AE8EC81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347" y="1298090"/>
            <a:ext cx="2352144" cy="4346917"/>
          </a:xfrm>
          <a:prstGeom prst="rect">
            <a:avLst/>
          </a:prstGeom>
        </p:spPr>
      </p:pic>
      <p:sp>
        <p:nvSpPr>
          <p:cNvPr id="4" name="Rectangle 1">
            <a:extLst>
              <a:ext uri="{FF2B5EF4-FFF2-40B4-BE49-F238E27FC236}">
                <a16:creationId xmlns:a16="http://schemas.microsoft.com/office/drawing/2014/main" id="{3C0168D3-D82D-D40A-0CB2-023CD92A053E}"/>
              </a:ext>
            </a:extLst>
          </p:cNvPr>
          <p:cNvSpPr>
            <a:spLocks noChangeArrowheads="1"/>
          </p:cNvSpPr>
          <p:nvPr/>
        </p:nvSpPr>
        <p:spPr bwMode="auto">
          <a:xfrm>
            <a:off x="1374065" y="1220949"/>
            <a:ext cx="3282341" cy="830997"/>
          </a:xfrm>
          <a:prstGeom prst="rect">
            <a:avLst/>
          </a:prstGeom>
          <a:solidFill>
            <a:schemeClr val="tx1">
              <a:lumMod val="65000"/>
              <a:lumOff val="35000"/>
            </a:schemeClr>
          </a:solidFill>
          <a:ln>
            <a:noFill/>
          </a:ln>
          <a:effec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600" b="1" dirty="0">
                <a:solidFill>
                  <a:schemeClr val="bg1"/>
                </a:solidFill>
              </a:rPr>
              <a:t>Difficulty identifying regions with high customer demand and revenue potential. </a:t>
            </a:r>
          </a:p>
        </p:txBody>
      </p:sp>
      <p:sp>
        <p:nvSpPr>
          <p:cNvPr id="6" name="TextBox 5">
            <a:extLst>
              <a:ext uri="{FF2B5EF4-FFF2-40B4-BE49-F238E27FC236}">
                <a16:creationId xmlns:a16="http://schemas.microsoft.com/office/drawing/2014/main" id="{18E70BBF-8329-8660-B612-65ECFB4CA3FE}"/>
              </a:ext>
            </a:extLst>
          </p:cNvPr>
          <p:cNvSpPr txBox="1"/>
          <p:nvPr/>
        </p:nvSpPr>
        <p:spPr>
          <a:xfrm>
            <a:off x="1081005" y="3013501"/>
            <a:ext cx="3868459" cy="830997"/>
          </a:xfrm>
          <a:prstGeom prst="rect">
            <a:avLst/>
          </a:prstGeom>
          <a:solidFill>
            <a:schemeClr val="tx1">
              <a:lumMod val="65000"/>
              <a:lumOff val="35000"/>
            </a:schemeClr>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lvl="0" defTabSz="914400" eaLnBrk="0" fontAlgn="base" hangingPunct="0">
              <a:spcBef>
                <a:spcPct val="0"/>
              </a:spcBef>
              <a:spcAft>
                <a:spcPct val="0"/>
              </a:spcAft>
              <a:defRPr sz="1600" b="1">
                <a:solidFill>
                  <a:schemeClr val="bg1"/>
                </a:solidFill>
              </a:defRPr>
            </a:lvl1pPr>
          </a:lstStyle>
          <a:p>
            <a:r>
              <a:rPr lang="en-US" dirty="0"/>
              <a:t>Limited visibility into customer purchasing behavior, spending patterns, and loyalty</a:t>
            </a:r>
          </a:p>
        </p:txBody>
      </p:sp>
      <p:sp>
        <p:nvSpPr>
          <p:cNvPr id="8" name="TextBox 7">
            <a:extLst>
              <a:ext uri="{FF2B5EF4-FFF2-40B4-BE49-F238E27FC236}">
                <a16:creationId xmlns:a16="http://schemas.microsoft.com/office/drawing/2014/main" id="{D6E17B10-55E3-A519-E3F6-FAEA2A875AF2}"/>
              </a:ext>
            </a:extLst>
          </p:cNvPr>
          <p:cNvSpPr txBox="1"/>
          <p:nvPr/>
        </p:nvSpPr>
        <p:spPr>
          <a:xfrm>
            <a:off x="1374065" y="5084605"/>
            <a:ext cx="3970607" cy="830997"/>
          </a:xfrm>
          <a:prstGeom prst="rect">
            <a:avLst/>
          </a:prstGeom>
          <a:solidFill>
            <a:schemeClr val="tx1">
              <a:lumMod val="65000"/>
              <a:lumOff val="35000"/>
            </a:schemeClr>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lvl="0" defTabSz="914400" eaLnBrk="0" fontAlgn="base" hangingPunct="0">
              <a:spcBef>
                <a:spcPct val="0"/>
              </a:spcBef>
              <a:spcAft>
                <a:spcPct val="0"/>
              </a:spcAft>
              <a:defRPr sz="1600" b="1">
                <a:solidFill>
                  <a:schemeClr val="bg1"/>
                </a:solidFill>
              </a:defRPr>
            </a:lvl1pPr>
          </a:lstStyle>
          <a:p>
            <a:r>
              <a:rPr lang="en-US" dirty="0"/>
              <a:t>Lack of clear performance benchmarking for delivery partners across vehicle types and regions.</a:t>
            </a:r>
          </a:p>
        </p:txBody>
      </p:sp>
      <p:sp>
        <p:nvSpPr>
          <p:cNvPr id="10" name="TextBox 9">
            <a:extLst>
              <a:ext uri="{FF2B5EF4-FFF2-40B4-BE49-F238E27FC236}">
                <a16:creationId xmlns:a16="http://schemas.microsoft.com/office/drawing/2014/main" id="{65D26BA5-A7B4-27A7-350E-1B55AEE5D1FC}"/>
              </a:ext>
            </a:extLst>
          </p:cNvPr>
          <p:cNvSpPr txBox="1"/>
          <p:nvPr/>
        </p:nvSpPr>
        <p:spPr>
          <a:xfrm>
            <a:off x="7833232" y="1220948"/>
            <a:ext cx="4131340" cy="830997"/>
          </a:xfrm>
          <a:prstGeom prst="rect">
            <a:avLst/>
          </a:prstGeom>
          <a:solidFill>
            <a:schemeClr val="tx1">
              <a:lumMod val="65000"/>
              <a:lumOff val="35000"/>
            </a:schemeClr>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lvl="0" defTabSz="914400" eaLnBrk="0" fontAlgn="base" hangingPunct="0">
              <a:spcBef>
                <a:spcPct val="0"/>
              </a:spcBef>
              <a:spcAft>
                <a:spcPct val="0"/>
              </a:spcAft>
              <a:defRPr sz="1600" b="1">
                <a:solidFill>
                  <a:schemeClr val="bg1"/>
                </a:solidFill>
              </a:defRPr>
            </a:lvl1pPr>
          </a:lstStyle>
          <a:p>
            <a:r>
              <a:rPr lang="en-US" dirty="0"/>
              <a:t>Challenges in evaluating restaurant and cuisine performance using revenue, customer ratings, and operational metrics.</a:t>
            </a:r>
          </a:p>
        </p:txBody>
      </p:sp>
      <p:sp>
        <p:nvSpPr>
          <p:cNvPr id="12" name="TextBox 11">
            <a:extLst>
              <a:ext uri="{FF2B5EF4-FFF2-40B4-BE49-F238E27FC236}">
                <a16:creationId xmlns:a16="http://schemas.microsoft.com/office/drawing/2014/main" id="{6751D583-E9AB-130C-6201-8F9D15C76C40}"/>
              </a:ext>
            </a:extLst>
          </p:cNvPr>
          <p:cNvSpPr txBox="1"/>
          <p:nvPr/>
        </p:nvSpPr>
        <p:spPr>
          <a:xfrm>
            <a:off x="7833232" y="3013501"/>
            <a:ext cx="4286085" cy="830997"/>
          </a:xfrm>
          <a:prstGeom prst="rect">
            <a:avLst/>
          </a:prstGeom>
          <a:solidFill>
            <a:schemeClr val="tx1">
              <a:lumMod val="65000"/>
              <a:lumOff val="35000"/>
            </a:schemeClr>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lvl="0" defTabSz="914400" eaLnBrk="0" fontAlgn="base" hangingPunct="0">
              <a:spcBef>
                <a:spcPct val="0"/>
              </a:spcBef>
              <a:spcAft>
                <a:spcPct val="0"/>
              </a:spcAft>
              <a:defRPr sz="1600" b="1">
                <a:solidFill>
                  <a:schemeClr val="bg1"/>
                </a:solidFill>
              </a:defRPr>
            </a:lvl1pPr>
          </a:lstStyle>
          <a:p>
            <a:r>
              <a:rPr lang="en-US" dirty="0"/>
              <a:t>Difficulty identifying business trends and using data to improve market expansion, logistics planning, and operational decision-making.</a:t>
            </a:r>
          </a:p>
        </p:txBody>
      </p:sp>
      <p:sp>
        <p:nvSpPr>
          <p:cNvPr id="14" name="TextBox 13">
            <a:extLst>
              <a:ext uri="{FF2B5EF4-FFF2-40B4-BE49-F238E27FC236}">
                <a16:creationId xmlns:a16="http://schemas.microsoft.com/office/drawing/2014/main" id="{94F50E85-5FBB-B591-A7BC-51290482C593}"/>
              </a:ext>
            </a:extLst>
          </p:cNvPr>
          <p:cNvSpPr txBox="1"/>
          <p:nvPr/>
        </p:nvSpPr>
        <p:spPr>
          <a:xfrm>
            <a:off x="7415454" y="5084606"/>
            <a:ext cx="4626492" cy="830997"/>
          </a:xfrm>
          <a:prstGeom prst="rect">
            <a:avLst/>
          </a:prstGeom>
          <a:solidFill>
            <a:schemeClr val="tx1">
              <a:lumMod val="65000"/>
              <a:lumOff val="35000"/>
            </a:schemeClr>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lvl="0" defTabSz="914400" eaLnBrk="0" fontAlgn="base" hangingPunct="0">
              <a:spcBef>
                <a:spcPct val="0"/>
              </a:spcBef>
              <a:spcAft>
                <a:spcPct val="0"/>
              </a:spcAft>
              <a:defRPr sz="1600" b="1">
                <a:solidFill>
                  <a:schemeClr val="bg1"/>
                </a:solidFill>
              </a:defRPr>
            </a:lvl1pPr>
          </a:lstStyle>
          <a:p>
            <a:r>
              <a:rPr lang="en-US" dirty="0"/>
              <a:t>Absence of an integrated reporting system that provides a consolidated view of business performance. </a:t>
            </a:r>
          </a:p>
        </p:txBody>
      </p:sp>
      <p:sp>
        <p:nvSpPr>
          <p:cNvPr id="16" name="TextBox 15">
            <a:extLst>
              <a:ext uri="{FF2B5EF4-FFF2-40B4-BE49-F238E27FC236}">
                <a16:creationId xmlns:a16="http://schemas.microsoft.com/office/drawing/2014/main" id="{2A9CC393-7A13-2EB2-36C8-7316D2D4C8E4}"/>
              </a:ext>
            </a:extLst>
          </p:cNvPr>
          <p:cNvSpPr txBox="1"/>
          <p:nvPr/>
        </p:nvSpPr>
        <p:spPr>
          <a:xfrm>
            <a:off x="4202749" y="139229"/>
            <a:ext cx="4131340" cy="461665"/>
          </a:xfrm>
          <a:prstGeom prst="rect">
            <a:avLst/>
          </a:prstGeom>
          <a:noFill/>
        </p:spPr>
        <p:txBody>
          <a:bodyPr wrap="square">
            <a:spAutoFit/>
          </a:bodyPr>
          <a:lstStyle/>
          <a:p>
            <a:pPr algn="l"/>
            <a:r>
              <a:rPr lang="en-US" sz="2400" b="1" dirty="0">
                <a:solidFill>
                  <a:srgbClr val="1B4F8C"/>
                </a:solidFill>
                <a:latin typeface="+mj-lt"/>
              </a:rPr>
              <a:t>Business Problem Statement</a:t>
            </a:r>
          </a:p>
        </p:txBody>
      </p:sp>
    </p:spTree>
    <p:extLst>
      <p:ext uri="{BB962C8B-B14F-4D97-AF65-F5344CB8AC3E}">
        <p14:creationId xmlns:p14="http://schemas.microsoft.com/office/powerpoint/2010/main" val="1185877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63EE67D-4C92-D31F-29BE-0A10DF0D628A}"/>
              </a:ext>
            </a:extLst>
          </p:cNvPr>
          <p:cNvGraphicFramePr/>
          <p:nvPr>
            <p:extLst>
              <p:ext uri="{D42A27DB-BD31-4B8C-83A1-F6EECF244321}">
                <p14:modId xmlns:p14="http://schemas.microsoft.com/office/powerpoint/2010/main" val="4029355512"/>
              </p:ext>
            </p:extLst>
          </p:nvPr>
        </p:nvGraphicFramePr>
        <p:xfrm>
          <a:off x="1674055" y="239151"/>
          <a:ext cx="10283483" cy="6316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08F6EED-BA97-79FD-1761-660BEF4FDF9D}"/>
              </a:ext>
            </a:extLst>
          </p:cNvPr>
          <p:cNvSpPr txBox="1"/>
          <p:nvPr/>
        </p:nvSpPr>
        <p:spPr>
          <a:xfrm>
            <a:off x="4188655" y="302455"/>
            <a:ext cx="481819" cy="369332"/>
          </a:xfrm>
          <a:prstGeom prst="rect">
            <a:avLst/>
          </a:prstGeom>
          <a:noFill/>
        </p:spPr>
        <p:txBody>
          <a:bodyPr wrap="square">
            <a:spAutoFit/>
          </a:bodyPr>
          <a:lstStyle/>
          <a:p>
            <a:r>
              <a:rPr lang="en-US" dirty="0"/>
              <a:t>🌍</a:t>
            </a:r>
          </a:p>
        </p:txBody>
      </p:sp>
      <p:sp>
        <p:nvSpPr>
          <p:cNvPr id="7" name="TextBox 6">
            <a:extLst>
              <a:ext uri="{FF2B5EF4-FFF2-40B4-BE49-F238E27FC236}">
                <a16:creationId xmlns:a16="http://schemas.microsoft.com/office/drawing/2014/main" id="{4B521804-B796-B609-2D71-9BC33C99E79C}"/>
              </a:ext>
            </a:extLst>
          </p:cNvPr>
          <p:cNvSpPr txBox="1"/>
          <p:nvPr/>
        </p:nvSpPr>
        <p:spPr>
          <a:xfrm>
            <a:off x="9168617" y="302455"/>
            <a:ext cx="481819" cy="369332"/>
          </a:xfrm>
          <a:prstGeom prst="rect">
            <a:avLst/>
          </a:prstGeom>
          <a:noFill/>
        </p:spPr>
        <p:txBody>
          <a:bodyPr wrap="square">
            <a:spAutoFit/>
          </a:bodyPr>
          <a:lstStyle/>
          <a:p>
            <a:r>
              <a:rPr lang="en-US" dirty="0"/>
              <a:t>🛵</a:t>
            </a:r>
          </a:p>
        </p:txBody>
      </p:sp>
      <p:sp>
        <p:nvSpPr>
          <p:cNvPr id="9" name="TextBox 8">
            <a:extLst>
              <a:ext uri="{FF2B5EF4-FFF2-40B4-BE49-F238E27FC236}">
                <a16:creationId xmlns:a16="http://schemas.microsoft.com/office/drawing/2014/main" id="{775C8286-F76F-572C-252F-CFBCD5B639C6}"/>
              </a:ext>
            </a:extLst>
          </p:cNvPr>
          <p:cNvSpPr txBox="1"/>
          <p:nvPr/>
        </p:nvSpPr>
        <p:spPr>
          <a:xfrm>
            <a:off x="4132384" y="3937168"/>
            <a:ext cx="538090" cy="369332"/>
          </a:xfrm>
          <a:prstGeom prst="rect">
            <a:avLst/>
          </a:prstGeom>
          <a:noFill/>
        </p:spPr>
        <p:txBody>
          <a:bodyPr wrap="square">
            <a:spAutoFit/>
          </a:bodyPr>
          <a:lstStyle/>
          <a:p>
            <a:r>
              <a:rPr lang="en-US" dirty="0"/>
              <a:t>👥</a:t>
            </a:r>
          </a:p>
        </p:txBody>
      </p:sp>
      <p:sp>
        <p:nvSpPr>
          <p:cNvPr id="11" name="TextBox 10">
            <a:extLst>
              <a:ext uri="{FF2B5EF4-FFF2-40B4-BE49-F238E27FC236}">
                <a16:creationId xmlns:a16="http://schemas.microsoft.com/office/drawing/2014/main" id="{7C5B0299-D141-D2ED-FACE-EDA75C98478D}"/>
              </a:ext>
            </a:extLst>
          </p:cNvPr>
          <p:cNvSpPr txBox="1"/>
          <p:nvPr/>
        </p:nvSpPr>
        <p:spPr>
          <a:xfrm>
            <a:off x="9224888" y="4009293"/>
            <a:ext cx="425548"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89956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C6C409-EA80-A0B4-6E07-3A80B3AF3F6C}"/>
              </a:ext>
            </a:extLst>
          </p:cNvPr>
          <p:cNvSpPr txBox="1"/>
          <p:nvPr/>
        </p:nvSpPr>
        <p:spPr>
          <a:xfrm>
            <a:off x="5307204" y="147943"/>
            <a:ext cx="2732623" cy="461665"/>
          </a:xfrm>
          <a:prstGeom prst="rect">
            <a:avLst/>
          </a:prstGeom>
          <a:noFill/>
        </p:spPr>
        <p:txBody>
          <a:bodyPr wrap="square">
            <a:spAutoFit/>
          </a:bodyPr>
          <a:lstStyle/>
          <a:p>
            <a:pPr algn="l"/>
            <a:r>
              <a:rPr lang="en-US" sz="2400" b="1" dirty="0">
                <a:solidFill>
                  <a:srgbClr val="1B4F8C"/>
                </a:solidFill>
                <a:latin typeface="+mj-lt"/>
              </a:rPr>
              <a:t>Dataset Overview</a:t>
            </a:r>
          </a:p>
        </p:txBody>
      </p:sp>
      <p:sp>
        <p:nvSpPr>
          <p:cNvPr id="3" name="Rectangle 2">
            <a:extLst>
              <a:ext uri="{FF2B5EF4-FFF2-40B4-BE49-F238E27FC236}">
                <a16:creationId xmlns:a16="http://schemas.microsoft.com/office/drawing/2014/main" id="{92044511-1E8C-3F3D-A209-793FF64A6DAB}"/>
              </a:ext>
            </a:extLst>
          </p:cNvPr>
          <p:cNvSpPr/>
          <p:nvPr/>
        </p:nvSpPr>
        <p:spPr>
          <a:xfrm>
            <a:off x="1588169" y="590257"/>
            <a:ext cx="10170694" cy="9818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The FoodTech dataset consists of four related tables containing customer, order, restaurant, and delivery partner information. Together, these tables support analysis of customer behavior, regional demand, business performance, restaurant operations, and delivery efficiency.</a:t>
            </a:r>
          </a:p>
        </p:txBody>
      </p:sp>
      <p:graphicFrame>
        <p:nvGraphicFramePr>
          <p:cNvPr id="4" name="Diagram 3">
            <a:extLst>
              <a:ext uri="{FF2B5EF4-FFF2-40B4-BE49-F238E27FC236}">
                <a16:creationId xmlns:a16="http://schemas.microsoft.com/office/drawing/2014/main" id="{84E137B4-89E0-D155-DA54-BA2A7E361749}"/>
              </a:ext>
            </a:extLst>
          </p:cNvPr>
          <p:cNvGraphicFramePr/>
          <p:nvPr>
            <p:extLst>
              <p:ext uri="{D42A27DB-BD31-4B8C-83A1-F6EECF244321}">
                <p14:modId xmlns:p14="http://schemas.microsoft.com/office/powerpoint/2010/main" val="4204772139"/>
              </p:ext>
            </p:extLst>
          </p:nvPr>
        </p:nvGraphicFramePr>
        <p:xfrm>
          <a:off x="1588169" y="1556084"/>
          <a:ext cx="9978189" cy="5073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660E567-1433-5F3E-9E2D-BFF1AC97E98C}"/>
              </a:ext>
            </a:extLst>
          </p:cNvPr>
          <p:cNvSpPr txBox="1"/>
          <p:nvPr/>
        </p:nvSpPr>
        <p:spPr>
          <a:xfrm flipH="1">
            <a:off x="4828671" y="2065875"/>
            <a:ext cx="529391" cy="369332"/>
          </a:xfrm>
          <a:prstGeom prst="rect">
            <a:avLst/>
          </a:prstGeom>
          <a:noFill/>
        </p:spPr>
        <p:txBody>
          <a:bodyPr wrap="square">
            <a:spAutoFit/>
          </a:bodyPr>
          <a:lstStyle/>
          <a:p>
            <a:r>
              <a:rPr lang="en-US" dirty="0"/>
              <a:t>👥</a:t>
            </a:r>
          </a:p>
        </p:txBody>
      </p:sp>
      <p:sp>
        <p:nvSpPr>
          <p:cNvPr id="10" name="TextBox 9">
            <a:extLst>
              <a:ext uri="{FF2B5EF4-FFF2-40B4-BE49-F238E27FC236}">
                <a16:creationId xmlns:a16="http://schemas.microsoft.com/office/drawing/2014/main" id="{07A44919-E8D5-4DF6-E479-B9F21E26FF2A}"/>
              </a:ext>
            </a:extLst>
          </p:cNvPr>
          <p:cNvSpPr txBox="1"/>
          <p:nvPr/>
        </p:nvSpPr>
        <p:spPr>
          <a:xfrm>
            <a:off x="9545053" y="2097959"/>
            <a:ext cx="641684" cy="377172"/>
          </a:xfrm>
          <a:prstGeom prst="rect">
            <a:avLst/>
          </a:prstGeom>
          <a:noFill/>
        </p:spPr>
        <p:txBody>
          <a:bodyPr wrap="square">
            <a:spAutoFit/>
          </a:bodyPr>
          <a:lstStyle/>
          <a:p>
            <a:r>
              <a:rPr lang="en-US" dirty="0"/>
              <a:t>🛒</a:t>
            </a:r>
          </a:p>
        </p:txBody>
      </p:sp>
      <p:sp>
        <p:nvSpPr>
          <p:cNvPr id="12" name="TextBox 11">
            <a:extLst>
              <a:ext uri="{FF2B5EF4-FFF2-40B4-BE49-F238E27FC236}">
                <a16:creationId xmlns:a16="http://schemas.microsoft.com/office/drawing/2014/main" id="{8050DD46-774A-90B3-A883-AEE40BB8B199}"/>
              </a:ext>
            </a:extLst>
          </p:cNvPr>
          <p:cNvSpPr txBox="1"/>
          <p:nvPr/>
        </p:nvSpPr>
        <p:spPr>
          <a:xfrm>
            <a:off x="4828673" y="4519046"/>
            <a:ext cx="529391" cy="369332"/>
          </a:xfrm>
          <a:prstGeom prst="rect">
            <a:avLst/>
          </a:prstGeom>
          <a:noFill/>
        </p:spPr>
        <p:txBody>
          <a:bodyPr wrap="square">
            <a:spAutoFit/>
          </a:bodyPr>
          <a:lstStyle/>
          <a:p>
            <a:r>
              <a:rPr lang="en-US" dirty="0"/>
              <a:t>🍽️</a:t>
            </a:r>
          </a:p>
        </p:txBody>
      </p:sp>
      <p:sp>
        <p:nvSpPr>
          <p:cNvPr id="14" name="TextBox 13">
            <a:extLst>
              <a:ext uri="{FF2B5EF4-FFF2-40B4-BE49-F238E27FC236}">
                <a16:creationId xmlns:a16="http://schemas.microsoft.com/office/drawing/2014/main" id="{4B76FECE-1278-7647-D27F-68F1D19E2E25}"/>
              </a:ext>
            </a:extLst>
          </p:cNvPr>
          <p:cNvSpPr txBox="1"/>
          <p:nvPr/>
        </p:nvSpPr>
        <p:spPr>
          <a:xfrm>
            <a:off x="10234863" y="4350422"/>
            <a:ext cx="513347"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272858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8DCF18-35EE-6801-70B6-DC19EEEA05EE}"/>
              </a:ext>
            </a:extLst>
          </p:cNvPr>
          <p:cNvSpPr txBox="1"/>
          <p:nvPr/>
        </p:nvSpPr>
        <p:spPr>
          <a:xfrm>
            <a:off x="4913053" y="0"/>
            <a:ext cx="2617596" cy="461665"/>
          </a:xfrm>
          <a:prstGeom prst="rect">
            <a:avLst/>
          </a:prstGeom>
          <a:noFill/>
        </p:spPr>
        <p:txBody>
          <a:bodyPr wrap="square">
            <a:spAutoFit/>
          </a:bodyPr>
          <a:lstStyle/>
          <a:p>
            <a:pPr algn="l"/>
            <a:r>
              <a:rPr lang="en-US" sz="2400" b="1" dirty="0">
                <a:solidFill>
                  <a:srgbClr val="1B4F8C"/>
                </a:solidFill>
                <a:latin typeface="+mj-lt"/>
              </a:rPr>
              <a:t>Project Workflow</a:t>
            </a:r>
          </a:p>
        </p:txBody>
      </p:sp>
      <p:sp>
        <p:nvSpPr>
          <p:cNvPr id="12" name="Oval 11">
            <a:extLst>
              <a:ext uri="{FF2B5EF4-FFF2-40B4-BE49-F238E27FC236}">
                <a16:creationId xmlns:a16="http://schemas.microsoft.com/office/drawing/2014/main" id="{3AF29418-D9AE-99C2-54DF-685DEEAECF2D}"/>
              </a:ext>
            </a:extLst>
          </p:cNvPr>
          <p:cNvSpPr/>
          <p:nvPr/>
        </p:nvSpPr>
        <p:spPr>
          <a:xfrm>
            <a:off x="1211663" y="3888342"/>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01</a:t>
            </a:r>
          </a:p>
        </p:txBody>
      </p:sp>
      <p:sp>
        <p:nvSpPr>
          <p:cNvPr id="13" name="Oval 12">
            <a:extLst>
              <a:ext uri="{FF2B5EF4-FFF2-40B4-BE49-F238E27FC236}">
                <a16:creationId xmlns:a16="http://schemas.microsoft.com/office/drawing/2014/main" id="{4E7D279A-18CC-D166-0D0F-B4BE16E3B02E}"/>
              </a:ext>
            </a:extLst>
          </p:cNvPr>
          <p:cNvSpPr/>
          <p:nvPr/>
        </p:nvSpPr>
        <p:spPr>
          <a:xfrm>
            <a:off x="2558997" y="2173199"/>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02</a:t>
            </a:r>
          </a:p>
        </p:txBody>
      </p:sp>
      <p:sp>
        <p:nvSpPr>
          <p:cNvPr id="14" name="Oval 13">
            <a:extLst>
              <a:ext uri="{FF2B5EF4-FFF2-40B4-BE49-F238E27FC236}">
                <a16:creationId xmlns:a16="http://schemas.microsoft.com/office/drawing/2014/main" id="{56D4F6D6-E01C-4328-AD88-7E99AA226325}"/>
              </a:ext>
            </a:extLst>
          </p:cNvPr>
          <p:cNvSpPr/>
          <p:nvPr/>
        </p:nvSpPr>
        <p:spPr>
          <a:xfrm>
            <a:off x="3850106" y="3886998"/>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03</a:t>
            </a:r>
          </a:p>
        </p:txBody>
      </p:sp>
      <p:sp>
        <p:nvSpPr>
          <p:cNvPr id="15" name="Oval 14">
            <a:extLst>
              <a:ext uri="{FF2B5EF4-FFF2-40B4-BE49-F238E27FC236}">
                <a16:creationId xmlns:a16="http://schemas.microsoft.com/office/drawing/2014/main" id="{A0015A5D-59F4-682A-7585-CDE20530ACE1}"/>
              </a:ext>
            </a:extLst>
          </p:cNvPr>
          <p:cNvSpPr/>
          <p:nvPr/>
        </p:nvSpPr>
        <p:spPr>
          <a:xfrm>
            <a:off x="5065557" y="2138126"/>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04</a:t>
            </a:r>
          </a:p>
        </p:txBody>
      </p:sp>
      <p:sp>
        <p:nvSpPr>
          <p:cNvPr id="16" name="Oval 15">
            <a:extLst>
              <a:ext uri="{FF2B5EF4-FFF2-40B4-BE49-F238E27FC236}">
                <a16:creationId xmlns:a16="http://schemas.microsoft.com/office/drawing/2014/main" id="{020D7499-5D71-B020-B14B-D172E9B8067F}"/>
              </a:ext>
            </a:extLst>
          </p:cNvPr>
          <p:cNvSpPr/>
          <p:nvPr/>
        </p:nvSpPr>
        <p:spPr>
          <a:xfrm>
            <a:off x="6478246" y="3840475"/>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05</a:t>
            </a:r>
          </a:p>
        </p:txBody>
      </p:sp>
      <p:sp>
        <p:nvSpPr>
          <p:cNvPr id="17" name="Oval 16">
            <a:extLst>
              <a:ext uri="{FF2B5EF4-FFF2-40B4-BE49-F238E27FC236}">
                <a16:creationId xmlns:a16="http://schemas.microsoft.com/office/drawing/2014/main" id="{E03796F5-B7D1-6D21-0BD1-7EF76B82D56D}"/>
              </a:ext>
            </a:extLst>
          </p:cNvPr>
          <p:cNvSpPr/>
          <p:nvPr/>
        </p:nvSpPr>
        <p:spPr>
          <a:xfrm>
            <a:off x="7730877" y="2177716"/>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06</a:t>
            </a:r>
          </a:p>
        </p:txBody>
      </p:sp>
      <p:sp>
        <p:nvSpPr>
          <p:cNvPr id="18" name="Oval 17">
            <a:extLst>
              <a:ext uri="{FF2B5EF4-FFF2-40B4-BE49-F238E27FC236}">
                <a16:creationId xmlns:a16="http://schemas.microsoft.com/office/drawing/2014/main" id="{1268F760-0588-60D6-6C12-98AF4F7F1C9E}"/>
              </a:ext>
            </a:extLst>
          </p:cNvPr>
          <p:cNvSpPr/>
          <p:nvPr/>
        </p:nvSpPr>
        <p:spPr>
          <a:xfrm>
            <a:off x="9196140" y="3836464"/>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07</a:t>
            </a:r>
          </a:p>
        </p:txBody>
      </p:sp>
      <p:sp>
        <p:nvSpPr>
          <p:cNvPr id="19" name="Oval 18">
            <a:extLst>
              <a:ext uri="{FF2B5EF4-FFF2-40B4-BE49-F238E27FC236}">
                <a16:creationId xmlns:a16="http://schemas.microsoft.com/office/drawing/2014/main" id="{C2B87FE9-345D-6099-BFE6-A5C5FA9FF88F}"/>
              </a:ext>
            </a:extLst>
          </p:cNvPr>
          <p:cNvSpPr/>
          <p:nvPr/>
        </p:nvSpPr>
        <p:spPr>
          <a:xfrm>
            <a:off x="10390994" y="2094538"/>
            <a:ext cx="1331495" cy="125128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mj-lt"/>
              </a:rPr>
              <a:t>08</a:t>
            </a:r>
          </a:p>
        </p:txBody>
      </p:sp>
      <p:cxnSp>
        <p:nvCxnSpPr>
          <p:cNvPr id="21" name="Straight Arrow Connector 20">
            <a:extLst>
              <a:ext uri="{FF2B5EF4-FFF2-40B4-BE49-F238E27FC236}">
                <a16:creationId xmlns:a16="http://schemas.microsoft.com/office/drawing/2014/main" id="{AE07649C-C6F9-E7D6-268B-33C8A90761BA}"/>
              </a:ext>
            </a:extLst>
          </p:cNvPr>
          <p:cNvCxnSpPr>
            <a:cxnSpLocks/>
            <a:stCxn id="12" idx="0"/>
            <a:endCxn id="13" idx="3"/>
          </p:cNvCxnSpPr>
          <p:nvPr/>
        </p:nvCxnSpPr>
        <p:spPr>
          <a:xfrm flipV="1">
            <a:off x="1877411" y="3241237"/>
            <a:ext cx="876579" cy="6471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36279E7-4F48-03D0-C901-4AC0C57F3D3A}"/>
              </a:ext>
            </a:extLst>
          </p:cNvPr>
          <p:cNvCxnSpPr>
            <a:cxnSpLocks/>
            <a:stCxn id="13" idx="5"/>
            <a:endCxn id="14" idx="0"/>
          </p:cNvCxnSpPr>
          <p:nvPr/>
        </p:nvCxnSpPr>
        <p:spPr>
          <a:xfrm>
            <a:off x="3695499" y="3241237"/>
            <a:ext cx="820355" cy="6457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30FBB89-EBA9-753E-B1DE-2039B653EBF6}"/>
              </a:ext>
            </a:extLst>
          </p:cNvPr>
          <p:cNvCxnSpPr>
            <a:cxnSpLocks/>
            <a:stCxn id="14" idx="0"/>
            <a:endCxn id="15" idx="3"/>
          </p:cNvCxnSpPr>
          <p:nvPr/>
        </p:nvCxnSpPr>
        <p:spPr>
          <a:xfrm flipV="1">
            <a:off x="4515854" y="3206164"/>
            <a:ext cx="744696" cy="6808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CE2A58A-C48F-C76E-B756-7039D362B39C}"/>
              </a:ext>
            </a:extLst>
          </p:cNvPr>
          <p:cNvCxnSpPr>
            <a:cxnSpLocks/>
            <a:stCxn id="15" idx="5"/>
            <a:endCxn id="16" idx="0"/>
          </p:cNvCxnSpPr>
          <p:nvPr/>
        </p:nvCxnSpPr>
        <p:spPr>
          <a:xfrm>
            <a:off x="6202059" y="3206164"/>
            <a:ext cx="941935" cy="634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4D80E61-0562-4252-8628-85F29B69EABE}"/>
              </a:ext>
            </a:extLst>
          </p:cNvPr>
          <p:cNvCxnSpPr>
            <a:cxnSpLocks/>
            <a:stCxn id="16" idx="0"/>
            <a:endCxn id="17" idx="3"/>
          </p:cNvCxnSpPr>
          <p:nvPr/>
        </p:nvCxnSpPr>
        <p:spPr>
          <a:xfrm flipV="1">
            <a:off x="7143994" y="3245754"/>
            <a:ext cx="781876" cy="5947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EA8AE4E-AE09-539A-659D-767281FC7AB6}"/>
              </a:ext>
            </a:extLst>
          </p:cNvPr>
          <p:cNvCxnSpPr>
            <a:cxnSpLocks/>
            <a:stCxn id="17" idx="5"/>
            <a:endCxn id="18" idx="0"/>
          </p:cNvCxnSpPr>
          <p:nvPr/>
        </p:nvCxnSpPr>
        <p:spPr>
          <a:xfrm>
            <a:off x="8867379" y="3245754"/>
            <a:ext cx="994509" cy="5907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247C852-0C84-503B-34A1-591262CE7C11}"/>
              </a:ext>
            </a:extLst>
          </p:cNvPr>
          <p:cNvCxnSpPr>
            <a:cxnSpLocks/>
            <a:stCxn id="18" idx="0"/>
            <a:endCxn id="19" idx="3"/>
          </p:cNvCxnSpPr>
          <p:nvPr/>
        </p:nvCxnSpPr>
        <p:spPr>
          <a:xfrm flipV="1">
            <a:off x="9861888" y="3162576"/>
            <a:ext cx="724099" cy="6738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2808B4EE-1564-0427-26BA-38E8DD36020A}"/>
              </a:ext>
            </a:extLst>
          </p:cNvPr>
          <p:cNvSpPr txBox="1"/>
          <p:nvPr/>
        </p:nvSpPr>
        <p:spPr>
          <a:xfrm>
            <a:off x="919172" y="5229635"/>
            <a:ext cx="2534651" cy="369332"/>
          </a:xfrm>
          <a:prstGeom prst="rect">
            <a:avLst/>
          </a:prstGeom>
          <a:noFill/>
        </p:spPr>
        <p:txBody>
          <a:bodyPr wrap="square">
            <a:spAutoFit/>
          </a:bodyPr>
          <a:lstStyle/>
          <a:p>
            <a:r>
              <a:rPr lang="en-US" b="1" dirty="0">
                <a:solidFill>
                  <a:srgbClr val="FF0000"/>
                </a:solidFill>
              </a:rPr>
              <a:t>Raw Data Collection</a:t>
            </a:r>
          </a:p>
        </p:txBody>
      </p:sp>
      <p:sp>
        <p:nvSpPr>
          <p:cNvPr id="48" name="TextBox 47">
            <a:extLst>
              <a:ext uri="{FF2B5EF4-FFF2-40B4-BE49-F238E27FC236}">
                <a16:creationId xmlns:a16="http://schemas.microsoft.com/office/drawing/2014/main" id="{72BB3D7F-3D4B-D4E6-2FD7-14E508BB9045}"/>
              </a:ext>
            </a:extLst>
          </p:cNvPr>
          <p:cNvSpPr txBox="1"/>
          <p:nvPr/>
        </p:nvSpPr>
        <p:spPr>
          <a:xfrm>
            <a:off x="1611329" y="5536599"/>
            <a:ext cx="1989984" cy="954107"/>
          </a:xfrm>
          <a:prstGeom prst="rect">
            <a:avLst/>
          </a:prstGeom>
          <a:noFill/>
        </p:spPr>
        <p:txBody>
          <a:bodyPr wrap="square">
            <a:spAutoFit/>
          </a:bodyPr>
          <a:lstStyle/>
          <a:p>
            <a:r>
              <a:rPr lang="en-US" sz="1400" b="1" dirty="0"/>
              <a:t>Customer, Order, Restaurant, and Delivery Partner datasets</a:t>
            </a:r>
          </a:p>
        </p:txBody>
      </p:sp>
      <p:sp>
        <p:nvSpPr>
          <p:cNvPr id="50" name="TextBox 49">
            <a:extLst>
              <a:ext uri="{FF2B5EF4-FFF2-40B4-BE49-F238E27FC236}">
                <a16:creationId xmlns:a16="http://schemas.microsoft.com/office/drawing/2014/main" id="{91EBF4FF-339B-9E85-F5C0-F121D5F137B6}"/>
              </a:ext>
            </a:extLst>
          </p:cNvPr>
          <p:cNvSpPr txBox="1"/>
          <p:nvPr/>
        </p:nvSpPr>
        <p:spPr>
          <a:xfrm>
            <a:off x="1381356" y="864477"/>
            <a:ext cx="3411712" cy="369332"/>
          </a:xfrm>
          <a:prstGeom prst="rect">
            <a:avLst/>
          </a:prstGeom>
          <a:noFill/>
        </p:spPr>
        <p:txBody>
          <a:bodyPr wrap="square">
            <a:spAutoFit/>
          </a:bodyPr>
          <a:lstStyle/>
          <a:p>
            <a:r>
              <a:rPr lang="en-US" b="1" dirty="0">
                <a:solidFill>
                  <a:srgbClr val="FF0000"/>
                </a:solidFill>
              </a:rPr>
              <a:t>Data Cleaning &amp; Preprocessing</a:t>
            </a:r>
          </a:p>
        </p:txBody>
      </p:sp>
      <p:sp>
        <p:nvSpPr>
          <p:cNvPr id="61" name="TextBox 60">
            <a:extLst>
              <a:ext uri="{FF2B5EF4-FFF2-40B4-BE49-F238E27FC236}">
                <a16:creationId xmlns:a16="http://schemas.microsoft.com/office/drawing/2014/main" id="{310AF83F-4506-B6A9-9400-DD32A4617A49}"/>
              </a:ext>
            </a:extLst>
          </p:cNvPr>
          <p:cNvSpPr txBox="1"/>
          <p:nvPr/>
        </p:nvSpPr>
        <p:spPr>
          <a:xfrm>
            <a:off x="1381356" y="1452693"/>
            <a:ext cx="3212429" cy="523220"/>
          </a:xfrm>
          <a:prstGeom prst="rect">
            <a:avLst/>
          </a:prstGeom>
          <a:noFill/>
        </p:spPr>
        <p:txBody>
          <a:bodyPr wrap="square">
            <a:spAutoFit/>
          </a:bodyPr>
          <a:lstStyle/>
          <a:p>
            <a:r>
              <a:rPr lang="en-US" sz="1400" b="1" dirty="0"/>
              <a:t>Missing values, duplicates, data types, and feature preparation</a:t>
            </a:r>
          </a:p>
        </p:txBody>
      </p:sp>
      <p:sp>
        <p:nvSpPr>
          <p:cNvPr id="64" name="TextBox 63">
            <a:extLst>
              <a:ext uri="{FF2B5EF4-FFF2-40B4-BE49-F238E27FC236}">
                <a16:creationId xmlns:a16="http://schemas.microsoft.com/office/drawing/2014/main" id="{CF5AD2E9-F1AE-48EB-F377-F4EA32F89C3F}"/>
              </a:ext>
            </a:extLst>
          </p:cNvPr>
          <p:cNvSpPr txBox="1"/>
          <p:nvPr/>
        </p:nvSpPr>
        <p:spPr>
          <a:xfrm>
            <a:off x="3366579" y="5243865"/>
            <a:ext cx="3430040" cy="338554"/>
          </a:xfrm>
          <a:prstGeom prst="rect">
            <a:avLst/>
          </a:prstGeom>
          <a:noFill/>
        </p:spPr>
        <p:txBody>
          <a:bodyPr wrap="square">
            <a:spAutoFit/>
          </a:bodyPr>
          <a:lstStyle/>
          <a:p>
            <a:r>
              <a:rPr lang="en-US" sz="1600" b="1" dirty="0">
                <a:solidFill>
                  <a:srgbClr val="FF0000"/>
                </a:solidFill>
              </a:rPr>
              <a:t>SQL Database Design &amp; Analysis</a:t>
            </a:r>
          </a:p>
        </p:txBody>
      </p:sp>
      <p:sp>
        <p:nvSpPr>
          <p:cNvPr id="66" name="TextBox 65">
            <a:extLst>
              <a:ext uri="{FF2B5EF4-FFF2-40B4-BE49-F238E27FC236}">
                <a16:creationId xmlns:a16="http://schemas.microsoft.com/office/drawing/2014/main" id="{E194EAF3-2F6F-074F-08EA-460518040175}"/>
              </a:ext>
            </a:extLst>
          </p:cNvPr>
          <p:cNvSpPr txBox="1"/>
          <p:nvPr/>
        </p:nvSpPr>
        <p:spPr>
          <a:xfrm>
            <a:off x="3746112" y="5706065"/>
            <a:ext cx="1989984" cy="954107"/>
          </a:xfrm>
          <a:prstGeom prst="rect">
            <a:avLst/>
          </a:prstGeom>
          <a:noFill/>
        </p:spPr>
        <p:txBody>
          <a:bodyPr wrap="square">
            <a:spAutoFit/>
          </a:bodyPr>
          <a:lstStyle/>
          <a:p>
            <a:r>
              <a:rPr lang="en-US" sz="1400" b="1" dirty="0"/>
              <a:t> Tables, ER diagram, Relationships, Views, Triggers and Stored procedures</a:t>
            </a:r>
          </a:p>
        </p:txBody>
      </p:sp>
      <p:sp>
        <p:nvSpPr>
          <p:cNvPr id="67" name="TextBox 66">
            <a:extLst>
              <a:ext uri="{FF2B5EF4-FFF2-40B4-BE49-F238E27FC236}">
                <a16:creationId xmlns:a16="http://schemas.microsoft.com/office/drawing/2014/main" id="{D1D7CDE9-A7AB-4060-4588-9A59CC1AF7BA}"/>
              </a:ext>
            </a:extLst>
          </p:cNvPr>
          <p:cNvSpPr txBox="1"/>
          <p:nvPr/>
        </p:nvSpPr>
        <p:spPr>
          <a:xfrm>
            <a:off x="4808539" y="854476"/>
            <a:ext cx="2534651" cy="338554"/>
          </a:xfrm>
          <a:prstGeom prst="rect">
            <a:avLst/>
          </a:prstGeom>
          <a:noFill/>
        </p:spPr>
        <p:txBody>
          <a:bodyPr wrap="square">
            <a:spAutoFit/>
          </a:bodyPr>
          <a:lstStyle/>
          <a:p>
            <a:r>
              <a:rPr lang="en-US" sz="1600" b="1" dirty="0">
                <a:solidFill>
                  <a:srgbClr val="FF0000"/>
                </a:solidFill>
              </a:rPr>
              <a:t>Exploratory Data Analysis</a:t>
            </a:r>
          </a:p>
        </p:txBody>
      </p:sp>
      <p:sp>
        <p:nvSpPr>
          <p:cNvPr id="84" name="TextBox 83">
            <a:extLst>
              <a:ext uri="{FF2B5EF4-FFF2-40B4-BE49-F238E27FC236}">
                <a16:creationId xmlns:a16="http://schemas.microsoft.com/office/drawing/2014/main" id="{12632EF1-B5A5-48BE-3813-D2A695054115}"/>
              </a:ext>
            </a:extLst>
          </p:cNvPr>
          <p:cNvSpPr txBox="1"/>
          <p:nvPr/>
        </p:nvSpPr>
        <p:spPr>
          <a:xfrm>
            <a:off x="4808539" y="1382914"/>
            <a:ext cx="2359637" cy="738664"/>
          </a:xfrm>
          <a:prstGeom prst="rect">
            <a:avLst/>
          </a:prstGeom>
          <a:noFill/>
        </p:spPr>
        <p:txBody>
          <a:bodyPr wrap="square">
            <a:spAutoFit/>
          </a:bodyPr>
          <a:lstStyle/>
          <a:p>
            <a:r>
              <a:rPr lang="en-US" sz="1400" b="1" dirty="0"/>
              <a:t> Data visualization, business analysis and operational pattern identification</a:t>
            </a:r>
          </a:p>
        </p:txBody>
      </p:sp>
      <p:sp>
        <p:nvSpPr>
          <p:cNvPr id="85" name="TextBox 84">
            <a:extLst>
              <a:ext uri="{FF2B5EF4-FFF2-40B4-BE49-F238E27FC236}">
                <a16:creationId xmlns:a16="http://schemas.microsoft.com/office/drawing/2014/main" id="{EC4C0CEC-F162-3230-BCCE-8F4449EEA31D}"/>
              </a:ext>
            </a:extLst>
          </p:cNvPr>
          <p:cNvSpPr txBox="1"/>
          <p:nvPr/>
        </p:nvSpPr>
        <p:spPr>
          <a:xfrm>
            <a:off x="6529931" y="5296577"/>
            <a:ext cx="2534651" cy="338554"/>
          </a:xfrm>
          <a:prstGeom prst="rect">
            <a:avLst/>
          </a:prstGeom>
          <a:noFill/>
        </p:spPr>
        <p:txBody>
          <a:bodyPr wrap="square">
            <a:spAutoFit/>
          </a:bodyPr>
          <a:lstStyle/>
          <a:p>
            <a:r>
              <a:rPr lang="en-US" sz="1600" b="1" dirty="0">
                <a:solidFill>
                  <a:srgbClr val="FF0000"/>
                </a:solidFill>
              </a:rPr>
              <a:t>Dashboard development</a:t>
            </a:r>
          </a:p>
        </p:txBody>
      </p:sp>
      <p:sp>
        <p:nvSpPr>
          <p:cNvPr id="86" name="TextBox 85">
            <a:extLst>
              <a:ext uri="{FF2B5EF4-FFF2-40B4-BE49-F238E27FC236}">
                <a16:creationId xmlns:a16="http://schemas.microsoft.com/office/drawing/2014/main" id="{C0D4FE1B-6A7A-9FF4-6DEC-DA47A67D5C06}"/>
              </a:ext>
            </a:extLst>
          </p:cNvPr>
          <p:cNvSpPr txBox="1"/>
          <p:nvPr/>
        </p:nvSpPr>
        <p:spPr>
          <a:xfrm>
            <a:off x="6529931" y="5630714"/>
            <a:ext cx="2317430" cy="738664"/>
          </a:xfrm>
          <a:prstGeom prst="rect">
            <a:avLst/>
          </a:prstGeom>
          <a:noFill/>
        </p:spPr>
        <p:txBody>
          <a:bodyPr wrap="square">
            <a:spAutoFit/>
          </a:bodyPr>
          <a:lstStyle/>
          <a:p>
            <a:r>
              <a:rPr lang="en-US" sz="1400" b="1" dirty="0"/>
              <a:t> Excel &amp; Power Bi dashboards for interactive performing monitoring</a:t>
            </a:r>
          </a:p>
        </p:txBody>
      </p:sp>
      <p:sp>
        <p:nvSpPr>
          <p:cNvPr id="87" name="TextBox 86">
            <a:extLst>
              <a:ext uri="{FF2B5EF4-FFF2-40B4-BE49-F238E27FC236}">
                <a16:creationId xmlns:a16="http://schemas.microsoft.com/office/drawing/2014/main" id="{6799AE56-2DC3-B74C-A2D9-828543A8C22D}"/>
              </a:ext>
            </a:extLst>
          </p:cNvPr>
          <p:cNvSpPr txBox="1"/>
          <p:nvPr/>
        </p:nvSpPr>
        <p:spPr>
          <a:xfrm>
            <a:off x="7591188" y="834556"/>
            <a:ext cx="2534651" cy="338554"/>
          </a:xfrm>
          <a:prstGeom prst="rect">
            <a:avLst/>
          </a:prstGeom>
          <a:noFill/>
        </p:spPr>
        <p:txBody>
          <a:bodyPr wrap="square">
            <a:spAutoFit/>
          </a:bodyPr>
          <a:lstStyle/>
          <a:p>
            <a:r>
              <a:rPr lang="en-US" sz="1600" b="1" dirty="0">
                <a:solidFill>
                  <a:srgbClr val="FF0000"/>
                </a:solidFill>
              </a:rPr>
              <a:t>Statistical Analysis</a:t>
            </a:r>
          </a:p>
        </p:txBody>
      </p:sp>
      <p:sp>
        <p:nvSpPr>
          <p:cNvPr id="88" name="TextBox 87">
            <a:extLst>
              <a:ext uri="{FF2B5EF4-FFF2-40B4-BE49-F238E27FC236}">
                <a16:creationId xmlns:a16="http://schemas.microsoft.com/office/drawing/2014/main" id="{CE0E3147-6E49-7693-D507-5D2E0074C325}"/>
              </a:ext>
            </a:extLst>
          </p:cNvPr>
          <p:cNvSpPr txBox="1"/>
          <p:nvPr/>
        </p:nvSpPr>
        <p:spPr>
          <a:xfrm>
            <a:off x="7591188" y="1382914"/>
            <a:ext cx="2359637" cy="738664"/>
          </a:xfrm>
          <a:prstGeom prst="rect">
            <a:avLst/>
          </a:prstGeom>
          <a:noFill/>
        </p:spPr>
        <p:txBody>
          <a:bodyPr wrap="square">
            <a:spAutoFit/>
          </a:bodyPr>
          <a:lstStyle/>
          <a:p>
            <a:r>
              <a:rPr lang="en-US" sz="1400" b="1" dirty="0"/>
              <a:t> Probability, Sampling distribution and hypothesis testing</a:t>
            </a:r>
          </a:p>
        </p:txBody>
      </p:sp>
      <p:sp>
        <p:nvSpPr>
          <p:cNvPr id="89" name="TextBox 88">
            <a:extLst>
              <a:ext uri="{FF2B5EF4-FFF2-40B4-BE49-F238E27FC236}">
                <a16:creationId xmlns:a16="http://schemas.microsoft.com/office/drawing/2014/main" id="{408BB85D-F655-9911-46C6-87512025E3C6}"/>
              </a:ext>
            </a:extLst>
          </p:cNvPr>
          <p:cNvSpPr txBox="1"/>
          <p:nvPr/>
        </p:nvSpPr>
        <p:spPr>
          <a:xfrm>
            <a:off x="9414093" y="5238941"/>
            <a:ext cx="2534651" cy="338554"/>
          </a:xfrm>
          <a:prstGeom prst="rect">
            <a:avLst/>
          </a:prstGeom>
          <a:noFill/>
        </p:spPr>
        <p:txBody>
          <a:bodyPr wrap="square">
            <a:spAutoFit/>
          </a:bodyPr>
          <a:lstStyle/>
          <a:p>
            <a:r>
              <a:rPr lang="en-US" sz="1600" b="1" dirty="0">
                <a:solidFill>
                  <a:srgbClr val="FF0000"/>
                </a:solidFill>
              </a:rPr>
              <a:t>Machine Learning</a:t>
            </a:r>
          </a:p>
        </p:txBody>
      </p:sp>
      <p:sp>
        <p:nvSpPr>
          <p:cNvPr id="90" name="TextBox 89">
            <a:extLst>
              <a:ext uri="{FF2B5EF4-FFF2-40B4-BE49-F238E27FC236}">
                <a16:creationId xmlns:a16="http://schemas.microsoft.com/office/drawing/2014/main" id="{4803122D-9E72-1D4B-19A3-5765BBDC25FA}"/>
              </a:ext>
            </a:extLst>
          </p:cNvPr>
          <p:cNvSpPr txBox="1"/>
          <p:nvPr/>
        </p:nvSpPr>
        <p:spPr>
          <a:xfrm>
            <a:off x="9458549" y="5625556"/>
            <a:ext cx="2317430" cy="738664"/>
          </a:xfrm>
          <a:prstGeom prst="rect">
            <a:avLst/>
          </a:prstGeom>
          <a:noFill/>
        </p:spPr>
        <p:txBody>
          <a:bodyPr wrap="square">
            <a:spAutoFit/>
          </a:bodyPr>
          <a:lstStyle/>
          <a:p>
            <a:r>
              <a:rPr lang="en-US" sz="1400" b="1" dirty="0"/>
              <a:t> Simple and Multiple Linear Regression and Logistic Regression</a:t>
            </a:r>
          </a:p>
        </p:txBody>
      </p:sp>
      <p:sp>
        <p:nvSpPr>
          <p:cNvPr id="91" name="TextBox 90">
            <a:extLst>
              <a:ext uri="{FF2B5EF4-FFF2-40B4-BE49-F238E27FC236}">
                <a16:creationId xmlns:a16="http://schemas.microsoft.com/office/drawing/2014/main" id="{B7E58A33-DE5C-ED45-8497-0E0BB81DA961}"/>
              </a:ext>
            </a:extLst>
          </p:cNvPr>
          <p:cNvSpPr txBox="1"/>
          <p:nvPr/>
        </p:nvSpPr>
        <p:spPr>
          <a:xfrm>
            <a:off x="10125839" y="689864"/>
            <a:ext cx="2534651" cy="584775"/>
          </a:xfrm>
          <a:prstGeom prst="rect">
            <a:avLst/>
          </a:prstGeom>
          <a:noFill/>
        </p:spPr>
        <p:txBody>
          <a:bodyPr wrap="square">
            <a:spAutoFit/>
          </a:bodyPr>
          <a:lstStyle/>
          <a:p>
            <a:r>
              <a:rPr lang="en-US" sz="1600" b="1" dirty="0">
                <a:solidFill>
                  <a:srgbClr val="FF0000"/>
                </a:solidFill>
              </a:rPr>
              <a:t>Business insights &amp; recommendations</a:t>
            </a:r>
          </a:p>
        </p:txBody>
      </p:sp>
      <p:sp>
        <p:nvSpPr>
          <p:cNvPr id="92" name="TextBox 91">
            <a:extLst>
              <a:ext uri="{FF2B5EF4-FFF2-40B4-BE49-F238E27FC236}">
                <a16:creationId xmlns:a16="http://schemas.microsoft.com/office/drawing/2014/main" id="{D5240A64-AC7B-DEBA-A6B7-7A634B81FCE9}"/>
              </a:ext>
            </a:extLst>
          </p:cNvPr>
          <p:cNvSpPr txBox="1"/>
          <p:nvPr/>
        </p:nvSpPr>
        <p:spPr>
          <a:xfrm>
            <a:off x="10209593" y="1239272"/>
            <a:ext cx="2359637" cy="954107"/>
          </a:xfrm>
          <a:prstGeom prst="rect">
            <a:avLst/>
          </a:prstGeom>
          <a:noFill/>
        </p:spPr>
        <p:txBody>
          <a:bodyPr wrap="square">
            <a:spAutoFit/>
          </a:bodyPr>
          <a:lstStyle/>
          <a:p>
            <a:r>
              <a:rPr lang="en-US" sz="1400" b="1" dirty="0"/>
              <a:t> Market expansion, customer retention, logistics and operational recommendations</a:t>
            </a:r>
          </a:p>
        </p:txBody>
      </p:sp>
      <p:sp>
        <p:nvSpPr>
          <p:cNvPr id="101" name="TextBox 100">
            <a:extLst>
              <a:ext uri="{FF2B5EF4-FFF2-40B4-BE49-F238E27FC236}">
                <a16:creationId xmlns:a16="http://schemas.microsoft.com/office/drawing/2014/main" id="{98B439DC-70F1-F5BE-E2D6-858023EADD28}"/>
              </a:ext>
            </a:extLst>
          </p:cNvPr>
          <p:cNvSpPr txBox="1"/>
          <p:nvPr/>
        </p:nvSpPr>
        <p:spPr>
          <a:xfrm>
            <a:off x="944348" y="4999965"/>
            <a:ext cx="437008" cy="369332"/>
          </a:xfrm>
          <a:prstGeom prst="rect">
            <a:avLst/>
          </a:prstGeom>
          <a:noFill/>
        </p:spPr>
        <p:txBody>
          <a:bodyPr wrap="square">
            <a:spAutoFit/>
          </a:bodyPr>
          <a:lstStyle/>
          <a:p>
            <a:r>
              <a:rPr lang="en-US" dirty="0"/>
              <a:t>📂</a:t>
            </a:r>
          </a:p>
        </p:txBody>
      </p:sp>
      <p:sp>
        <p:nvSpPr>
          <p:cNvPr id="103" name="TextBox 102">
            <a:extLst>
              <a:ext uri="{FF2B5EF4-FFF2-40B4-BE49-F238E27FC236}">
                <a16:creationId xmlns:a16="http://schemas.microsoft.com/office/drawing/2014/main" id="{B3E86BF1-6876-E0CF-8A3F-8962F475C1CD}"/>
              </a:ext>
            </a:extLst>
          </p:cNvPr>
          <p:cNvSpPr txBox="1"/>
          <p:nvPr/>
        </p:nvSpPr>
        <p:spPr>
          <a:xfrm>
            <a:off x="1467696" y="597381"/>
            <a:ext cx="410040" cy="369332"/>
          </a:xfrm>
          <a:prstGeom prst="rect">
            <a:avLst/>
          </a:prstGeom>
          <a:noFill/>
        </p:spPr>
        <p:txBody>
          <a:bodyPr wrap="square">
            <a:spAutoFit/>
          </a:bodyPr>
          <a:lstStyle/>
          <a:p>
            <a:r>
              <a:rPr lang="en-US" dirty="0"/>
              <a:t>🧹</a:t>
            </a:r>
          </a:p>
        </p:txBody>
      </p:sp>
      <p:sp>
        <p:nvSpPr>
          <p:cNvPr id="105" name="TextBox 104">
            <a:extLst>
              <a:ext uri="{FF2B5EF4-FFF2-40B4-BE49-F238E27FC236}">
                <a16:creationId xmlns:a16="http://schemas.microsoft.com/office/drawing/2014/main" id="{A9E08574-22A7-8C7E-7390-6FEE011812DD}"/>
              </a:ext>
            </a:extLst>
          </p:cNvPr>
          <p:cNvSpPr txBox="1"/>
          <p:nvPr/>
        </p:nvSpPr>
        <p:spPr>
          <a:xfrm>
            <a:off x="3630961" y="4935553"/>
            <a:ext cx="389201" cy="369332"/>
          </a:xfrm>
          <a:prstGeom prst="rect">
            <a:avLst/>
          </a:prstGeom>
          <a:noFill/>
        </p:spPr>
        <p:txBody>
          <a:bodyPr wrap="square">
            <a:spAutoFit/>
          </a:bodyPr>
          <a:lstStyle/>
          <a:p>
            <a:r>
              <a:rPr lang="en-US" dirty="0"/>
              <a:t>🗄️</a:t>
            </a:r>
          </a:p>
        </p:txBody>
      </p:sp>
      <p:sp>
        <p:nvSpPr>
          <p:cNvPr id="107" name="TextBox 106">
            <a:extLst>
              <a:ext uri="{FF2B5EF4-FFF2-40B4-BE49-F238E27FC236}">
                <a16:creationId xmlns:a16="http://schemas.microsoft.com/office/drawing/2014/main" id="{392C3C39-FFCE-0E0E-42DB-1F05DC4BC5F7}"/>
              </a:ext>
            </a:extLst>
          </p:cNvPr>
          <p:cNvSpPr txBox="1"/>
          <p:nvPr/>
        </p:nvSpPr>
        <p:spPr>
          <a:xfrm>
            <a:off x="4984086" y="546164"/>
            <a:ext cx="410040" cy="369332"/>
          </a:xfrm>
          <a:prstGeom prst="rect">
            <a:avLst/>
          </a:prstGeom>
          <a:noFill/>
        </p:spPr>
        <p:txBody>
          <a:bodyPr wrap="square">
            <a:spAutoFit/>
          </a:bodyPr>
          <a:lstStyle/>
          <a:p>
            <a:r>
              <a:rPr lang="en-US" dirty="0"/>
              <a:t>🐍</a:t>
            </a:r>
          </a:p>
        </p:txBody>
      </p:sp>
      <p:sp>
        <p:nvSpPr>
          <p:cNvPr id="109" name="TextBox 108">
            <a:extLst>
              <a:ext uri="{FF2B5EF4-FFF2-40B4-BE49-F238E27FC236}">
                <a16:creationId xmlns:a16="http://schemas.microsoft.com/office/drawing/2014/main" id="{38BB9A1B-5406-9749-CC62-552BBC71DC2D}"/>
              </a:ext>
            </a:extLst>
          </p:cNvPr>
          <p:cNvSpPr txBox="1"/>
          <p:nvPr/>
        </p:nvSpPr>
        <p:spPr>
          <a:xfrm>
            <a:off x="6627811" y="5017591"/>
            <a:ext cx="437008" cy="369332"/>
          </a:xfrm>
          <a:prstGeom prst="rect">
            <a:avLst/>
          </a:prstGeom>
          <a:noFill/>
        </p:spPr>
        <p:txBody>
          <a:bodyPr wrap="square">
            <a:spAutoFit/>
          </a:bodyPr>
          <a:lstStyle/>
          <a:p>
            <a:r>
              <a:rPr lang="en-US" dirty="0"/>
              <a:t>📊</a:t>
            </a:r>
          </a:p>
        </p:txBody>
      </p:sp>
      <p:sp>
        <p:nvSpPr>
          <p:cNvPr id="111" name="TextBox 110">
            <a:extLst>
              <a:ext uri="{FF2B5EF4-FFF2-40B4-BE49-F238E27FC236}">
                <a16:creationId xmlns:a16="http://schemas.microsoft.com/office/drawing/2014/main" id="{E4FF948D-E617-A0A7-073E-3ECA8C77CEDF}"/>
              </a:ext>
            </a:extLst>
          </p:cNvPr>
          <p:cNvSpPr txBox="1"/>
          <p:nvPr/>
        </p:nvSpPr>
        <p:spPr>
          <a:xfrm>
            <a:off x="7763741" y="531556"/>
            <a:ext cx="389201" cy="369332"/>
          </a:xfrm>
          <a:prstGeom prst="rect">
            <a:avLst/>
          </a:prstGeom>
          <a:noFill/>
        </p:spPr>
        <p:txBody>
          <a:bodyPr wrap="square">
            <a:spAutoFit/>
          </a:bodyPr>
          <a:lstStyle/>
          <a:p>
            <a:r>
              <a:rPr lang="en-US" dirty="0"/>
              <a:t>📐</a:t>
            </a:r>
          </a:p>
        </p:txBody>
      </p:sp>
      <p:sp>
        <p:nvSpPr>
          <p:cNvPr id="113" name="TextBox 112">
            <a:extLst>
              <a:ext uri="{FF2B5EF4-FFF2-40B4-BE49-F238E27FC236}">
                <a16:creationId xmlns:a16="http://schemas.microsoft.com/office/drawing/2014/main" id="{BC3B206D-DC4D-C192-5727-C6488AB66F18}"/>
              </a:ext>
            </a:extLst>
          </p:cNvPr>
          <p:cNvSpPr txBox="1"/>
          <p:nvPr/>
        </p:nvSpPr>
        <p:spPr>
          <a:xfrm>
            <a:off x="10159015" y="4951143"/>
            <a:ext cx="410040" cy="369332"/>
          </a:xfrm>
          <a:prstGeom prst="rect">
            <a:avLst/>
          </a:prstGeom>
          <a:noFill/>
        </p:spPr>
        <p:txBody>
          <a:bodyPr wrap="square">
            <a:spAutoFit/>
          </a:bodyPr>
          <a:lstStyle/>
          <a:p>
            <a:r>
              <a:rPr lang="en-US" dirty="0"/>
              <a:t>🤖</a:t>
            </a:r>
          </a:p>
        </p:txBody>
      </p:sp>
      <p:sp>
        <p:nvSpPr>
          <p:cNvPr id="115" name="TextBox 114">
            <a:extLst>
              <a:ext uri="{FF2B5EF4-FFF2-40B4-BE49-F238E27FC236}">
                <a16:creationId xmlns:a16="http://schemas.microsoft.com/office/drawing/2014/main" id="{1C161643-1EEA-694C-A110-C421B3BC9F1E}"/>
              </a:ext>
            </a:extLst>
          </p:cNvPr>
          <p:cNvSpPr txBox="1"/>
          <p:nvPr/>
        </p:nvSpPr>
        <p:spPr>
          <a:xfrm>
            <a:off x="10338577" y="419373"/>
            <a:ext cx="389201"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2477666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52C8EF-BD87-AD30-2EE9-4B4520B90A9C}"/>
              </a:ext>
            </a:extLst>
          </p:cNvPr>
          <p:cNvSpPr txBox="1"/>
          <p:nvPr/>
        </p:nvSpPr>
        <p:spPr>
          <a:xfrm>
            <a:off x="3901558" y="-16042"/>
            <a:ext cx="4613473" cy="461665"/>
          </a:xfrm>
          <a:prstGeom prst="rect">
            <a:avLst/>
          </a:prstGeom>
          <a:noFill/>
        </p:spPr>
        <p:txBody>
          <a:bodyPr wrap="square">
            <a:spAutoFit/>
          </a:bodyPr>
          <a:lstStyle/>
          <a:p>
            <a:pPr algn="l"/>
            <a:r>
              <a:rPr lang="en-US" sz="2400" b="1" dirty="0">
                <a:solidFill>
                  <a:srgbClr val="1B4F8C"/>
                </a:solidFill>
                <a:latin typeface="+mj-lt"/>
              </a:rPr>
              <a:t>Data Cleaning &amp; Preprocessing</a:t>
            </a:r>
          </a:p>
        </p:txBody>
      </p:sp>
      <p:sp>
        <p:nvSpPr>
          <p:cNvPr id="4" name="TextBox 3">
            <a:extLst>
              <a:ext uri="{FF2B5EF4-FFF2-40B4-BE49-F238E27FC236}">
                <a16:creationId xmlns:a16="http://schemas.microsoft.com/office/drawing/2014/main" id="{B3053F30-BB63-E68E-7F2B-2043B8F7E8ED}"/>
              </a:ext>
            </a:extLst>
          </p:cNvPr>
          <p:cNvSpPr txBox="1"/>
          <p:nvPr/>
        </p:nvSpPr>
        <p:spPr>
          <a:xfrm>
            <a:off x="1491914" y="380107"/>
            <a:ext cx="10299032" cy="861774"/>
          </a:xfrm>
          <a:prstGeom prst="rect">
            <a:avLst/>
          </a:prstGeom>
          <a:noFill/>
        </p:spPr>
        <p:txBody>
          <a:bodyPr wrap="square">
            <a:spAutoFit/>
          </a:bodyPr>
          <a:lstStyle/>
          <a:p>
            <a:pPr>
              <a:buNone/>
            </a:pPr>
            <a:r>
              <a:rPr lang="en-US" b="1" dirty="0">
                <a:solidFill>
                  <a:srgbClr val="FF0000"/>
                </a:solidFill>
              </a:rPr>
              <a:t>Short introduction</a:t>
            </a:r>
          </a:p>
          <a:p>
            <a:pPr>
              <a:buNone/>
            </a:pPr>
            <a:r>
              <a:rPr lang="en-US" sz="1600" b="1" dirty="0"/>
              <a:t>The raw FoodTech datasets were checked and prepared to improve data quality, ensure consistency, and support reliable SQL, dashboard, statistical, and machine learning analysis.</a:t>
            </a:r>
          </a:p>
        </p:txBody>
      </p:sp>
      <p:graphicFrame>
        <p:nvGraphicFramePr>
          <p:cNvPr id="5" name="Table 4">
            <a:extLst>
              <a:ext uri="{FF2B5EF4-FFF2-40B4-BE49-F238E27FC236}">
                <a16:creationId xmlns:a16="http://schemas.microsoft.com/office/drawing/2014/main" id="{068EF5D0-053C-B792-034F-814B26DFBA91}"/>
              </a:ext>
            </a:extLst>
          </p:cNvPr>
          <p:cNvGraphicFramePr>
            <a:graphicFrameLocks noGrp="1"/>
          </p:cNvGraphicFramePr>
          <p:nvPr>
            <p:extLst>
              <p:ext uri="{D42A27DB-BD31-4B8C-83A1-F6EECF244321}">
                <p14:modId xmlns:p14="http://schemas.microsoft.com/office/powerpoint/2010/main" val="71954787"/>
              </p:ext>
            </p:extLst>
          </p:nvPr>
        </p:nvGraphicFramePr>
        <p:xfrm>
          <a:off x="401054" y="1241881"/>
          <a:ext cx="11614483" cy="5601820"/>
        </p:xfrm>
        <a:graphic>
          <a:graphicData uri="http://schemas.openxmlformats.org/drawingml/2006/table">
            <a:tbl>
              <a:tblPr firstRow="1" firstCol="1" bandRow="1">
                <a:tableStyleId>{B301B821-A1FF-4177-AEE7-76D212191A09}</a:tableStyleId>
              </a:tblPr>
              <a:tblGrid>
                <a:gridCol w="2358626">
                  <a:extLst>
                    <a:ext uri="{9D8B030D-6E8A-4147-A177-3AD203B41FA5}">
                      <a16:colId xmlns:a16="http://schemas.microsoft.com/office/drawing/2014/main" val="1302568157"/>
                    </a:ext>
                  </a:extLst>
                </a:gridCol>
                <a:gridCol w="5341583">
                  <a:extLst>
                    <a:ext uri="{9D8B030D-6E8A-4147-A177-3AD203B41FA5}">
                      <a16:colId xmlns:a16="http://schemas.microsoft.com/office/drawing/2014/main" val="3891248681"/>
                    </a:ext>
                  </a:extLst>
                </a:gridCol>
                <a:gridCol w="3914274">
                  <a:extLst>
                    <a:ext uri="{9D8B030D-6E8A-4147-A177-3AD203B41FA5}">
                      <a16:colId xmlns:a16="http://schemas.microsoft.com/office/drawing/2014/main" val="2312229418"/>
                    </a:ext>
                  </a:extLst>
                </a:gridCol>
              </a:tblGrid>
              <a:tr h="484501">
                <a:tc>
                  <a:txBody>
                    <a:bodyPr/>
                    <a:lstStyle/>
                    <a:p>
                      <a:pPr algn="ctr">
                        <a:lnSpc>
                          <a:spcPct val="150000"/>
                        </a:lnSpc>
                      </a:pPr>
                      <a:r>
                        <a:rPr lang="en-US" sz="2000" dirty="0"/>
                        <a:t>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2000" dirty="0"/>
                        <a:t>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2000" dirty="0"/>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0862711"/>
                  </a:ext>
                </a:extLst>
              </a:tr>
              <a:tr h="860071">
                <a:tc>
                  <a:txBody>
                    <a:bodyPr/>
                    <a:lstStyle/>
                    <a:p>
                      <a:pPr algn="ctr">
                        <a:lnSpc>
                          <a:spcPct val="100000"/>
                        </a:lnSpc>
                      </a:pPr>
                      <a:r>
                        <a:rPr lang="en-US" sz="1600" dirty="0"/>
                        <a:t>Dataset Structure Review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en-US" sz="1600" dirty="0"/>
                        <a:t>Checked the number of rows &amp; columns</a:t>
                      </a:r>
                    </a:p>
                    <a:p>
                      <a:pPr marL="285750" indent="-285750" algn="l">
                        <a:buFont typeface="Arial" panose="020B0604020202020204" pitchFamily="34" charset="0"/>
                        <a:buChar char="•"/>
                      </a:pPr>
                      <a:r>
                        <a:rPr lang="en-US" sz="1600" dirty="0"/>
                        <a:t>Reviewed column names and data types</a:t>
                      </a:r>
                    </a:p>
                    <a:p>
                      <a:pPr marL="285750" indent="-285750" algn="l">
                        <a:buFont typeface="Arial" panose="020B0604020202020204" pitchFamily="34" charset="0"/>
                        <a:buChar char="•"/>
                      </a:pPr>
                      <a:r>
                        <a:rPr lang="en-US" sz="1600" dirty="0"/>
                        <a:t>Used df.info() and df.shape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600" dirty="0"/>
                        <a:t>Understand the structure and quality of each dataset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625049"/>
                  </a:ext>
                </a:extLst>
              </a:tr>
              <a:tr h="1020085">
                <a:tc>
                  <a:txBody>
                    <a:bodyPr/>
                    <a:lstStyle/>
                    <a:p>
                      <a:pPr algn="ctr">
                        <a:lnSpc>
                          <a:spcPct val="100000"/>
                        </a:lnSpc>
                      </a:pPr>
                      <a:r>
                        <a:rPr lang="en-US" sz="1600" dirty="0"/>
                        <a:t>Missing-value Analysis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en-US" sz="1600" dirty="0"/>
                        <a:t>Identified missing value using df.isnull().sum()</a:t>
                      </a:r>
                    </a:p>
                    <a:p>
                      <a:pPr marL="285750" indent="-285750" algn="l">
                        <a:buFont typeface="Arial" panose="020B0604020202020204" pitchFamily="34" charset="0"/>
                        <a:buChar char="•"/>
                      </a:pPr>
                      <a:r>
                        <a:rPr lang="en-US" sz="1600" dirty="0"/>
                        <a:t>Reviewed missing-value counts across all datasets</a:t>
                      </a:r>
                    </a:p>
                    <a:p>
                      <a:pPr marL="285750" indent="-285750" algn="l">
                        <a:buFont typeface="Arial" panose="020B0604020202020204" pitchFamily="34" charset="0"/>
                        <a:buChar char="•"/>
                      </a:pPr>
                      <a:r>
                        <a:rPr lang="en-US" sz="1600" dirty="0"/>
                        <a:t>Verified whether missing values required treatment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Prevent incomplete data from affecting the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270889"/>
                  </a:ext>
                </a:extLst>
              </a:tr>
              <a:tr h="1020085">
                <a:tc>
                  <a:txBody>
                    <a:bodyPr/>
                    <a:lstStyle/>
                    <a:p>
                      <a:pPr algn="ctr">
                        <a:lnSpc>
                          <a:spcPct val="100000"/>
                        </a:lnSpc>
                      </a:pPr>
                      <a:r>
                        <a:rPr lang="en-US" sz="1600" dirty="0"/>
                        <a:t>Duplicate-Record Analysis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en-US" sz="1600" dirty="0"/>
                        <a:t>Checked duplicate records using df.duplicated().sum()</a:t>
                      </a:r>
                    </a:p>
                    <a:p>
                      <a:pPr marL="285750" indent="-285750" algn="l">
                        <a:buFont typeface="Arial" panose="020B0604020202020204" pitchFamily="34" charset="0"/>
                        <a:buChar char="•"/>
                      </a:pPr>
                      <a:r>
                        <a:rPr lang="en-US" sz="1600" dirty="0"/>
                        <a:t>Verified whether duplicate rows existed</a:t>
                      </a:r>
                    </a:p>
                    <a:p>
                      <a:pPr marL="285750" indent="-285750" algn="l">
                        <a:buFont typeface="Arial" panose="020B0604020202020204" pitchFamily="34" charset="0"/>
                        <a:buChar char="•"/>
                      </a:pPr>
                      <a:r>
                        <a:rPr lang="en-US" sz="1600" dirty="0"/>
                        <a:t>Removed duplicates only where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Avoid double-counting orders, customers or operational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839021"/>
                  </a:ext>
                </a:extLst>
              </a:tr>
              <a:tr h="1020085">
                <a:tc>
                  <a:txBody>
                    <a:bodyPr/>
                    <a:lstStyle/>
                    <a:p>
                      <a:pPr algn="ctr">
                        <a:lnSpc>
                          <a:spcPct val="100000"/>
                        </a:lnSpc>
                      </a:pPr>
                      <a:r>
                        <a:rPr lang="en-US" sz="1600" dirty="0"/>
                        <a:t>Data-type Validation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en-US" sz="1600" dirty="0"/>
                        <a:t>Reviewed data types using </a:t>
                      </a:r>
                      <a:r>
                        <a:rPr lang="en-US" sz="1600" kern="1200" dirty="0">
                          <a:solidFill>
                            <a:schemeClr val="dk1"/>
                          </a:solidFill>
                          <a:latin typeface="+mn-lt"/>
                          <a:ea typeface="+mn-ea"/>
                          <a:cs typeface="+mn-cs"/>
                        </a:rPr>
                        <a:t>df.dtypes</a:t>
                      </a:r>
                      <a:r>
                        <a:rPr lang="en-US" sz="1600" dirty="0"/>
                        <a:t> </a:t>
                      </a:r>
                    </a:p>
                    <a:p>
                      <a:pPr marL="285750" indent="-285750" algn="l">
                        <a:buFont typeface="Arial" panose="020B0604020202020204" pitchFamily="34" charset="0"/>
                        <a:buChar char="•"/>
                      </a:pPr>
                      <a:r>
                        <a:rPr lang="en-US" sz="1600" dirty="0"/>
                        <a:t>Converted date fields to datetime format</a:t>
                      </a:r>
                    </a:p>
                    <a:p>
                      <a:pPr marL="285750" indent="-285750" algn="l">
                        <a:buFont typeface="Arial" panose="020B0604020202020204" pitchFamily="34" charset="0"/>
                        <a:buChar char="•"/>
                      </a:pPr>
                      <a:r>
                        <a:rPr lang="en-US" sz="1600" dirty="0"/>
                        <a:t> Verified numeric columns for calculations and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Ensure accurate calculations, time analysis, and model preparation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747205"/>
                  </a:ext>
                </a:extLst>
              </a:tr>
              <a:tr h="1180098">
                <a:tc>
                  <a:txBody>
                    <a:bodyPr/>
                    <a:lstStyle/>
                    <a:p>
                      <a:pPr algn="ctr">
                        <a:lnSpc>
                          <a:spcPct val="100000"/>
                        </a:lnSpc>
                      </a:pPr>
                      <a:r>
                        <a:rPr lang="en-US" sz="1600" dirty="0"/>
                        <a:t>Data Standardization &amp;Feature Preparation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en-US" sz="1600" dirty="0">
                          <a:solidFill>
                            <a:schemeClr val="tx1"/>
                          </a:solidFill>
                        </a:rPr>
                        <a:t>Standardized column names where required </a:t>
                      </a:r>
                    </a:p>
                    <a:p>
                      <a:pPr marL="285750" indent="-285750" algn="l">
                        <a:buFont typeface="Arial" panose="020B0604020202020204" pitchFamily="34" charset="0"/>
                        <a:buChar char="•"/>
                      </a:pPr>
                      <a:r>
                        <a:rPr lang="en-US" sz="1600" dirty="0">
                          <a:solidFill>
                            <a:schemeClr val="tx1"/>
                          </a:solidFill>
                        </a:rPr>
                        <a:t>Checked categorical values for consistency </a:t>
                      </a:r>
                    </a:p>
                    <a:p>
                      <a:pPr marL="285750" indent="-285750" algn="l">
                        <a:buFont typeface="Arial" panose="020B0604020202020204" pitchFamily="34" charset="0"/>
                        <a:buChar char="•"/>
                      </a:pPr>
                      <a:r>
                        <a:rPr lang="en-US" sz="1600" dirty="0">
                          <a:solidFill>
                            <a:schemeClr val="tx1"/>
                          </a:solidFill>
                        </a:rPr>
                        <a:t>Prepared analysis-ready datasets for SQL, dashboards, statistics, and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Create consistent and reliable data for downstream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8861401"/>
                  </a:ext>
                </a:extLst>
              </a:tr>
            </a:tbl>
          </a:graphicData>
        </a:graphic>
      </p:graphicFrame>
    </p:spTree>
    <p:extLst>
      <p:ext uri="{BB962C8B-B14F-4D97-AF65-F5344CB8AC3E}">
        <p14:creationId xmlns:p14="http://schemas.microsoft.com/office/powerpoint/2010/main" val="2240912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A63CFB-2246-CA2F-67D1-8ABB16D85DC5}"/>
              </a:ext>
            </a:extLst>
          </p:cNvPr>
          <p:cNvSpPr txBox="1"/>
          <p:nvPr/>
        </p:nvSpPr>
        <p:spPr>
          <a:xfrm>
            <a:off x="3989790" y="0"/>
            <a:ext cx="4212419" cy="461665"/>
          </a:xfrm>
          <a:prstGeom prst="rect">
            <a:avLst/>
          </a:prstGeom>
          <a:noFill/>
        </p:spPr>
        <p:txBody>
          <a:bodyPr wrap="square">
            <a:spAutoFit/>
          </a:bodyPr>
          <a:lstStyle/>
          <a:p>
            <a:pPr algn="l"/>
            <a:r>
              <a:rPr lang="en-US" sz="2400" b="1" dirty="0">
                <a:solidFill>
                  <a:srgbClr val="1B4F8C"/>
                </a:solidFill>
                <a:latin typeface="+mj-lt"/>
              </a:rPr>
              <a:t>Data Design and ER Diagram</a:t>
            </a:r>
          </a:p>
        </p:txBody>
      </p:sp>
      <p:sp>
        <p:nvSpPr>
          <p:cNvPr id="4" name="TextBox 3">
            <a:extLst>
              <a:ext uri="{FF2B5EF4-FFF2-40B4-BE49-F238E27FC236}">
                <a16:creationId xmlns:a16="http://schemas.microsoft.com/office/drawing/2014/main" id="{E1EAAA02-BDB3-30D3-2553-E403E07A3C94}"/>
              </a:ext>
            </a:extLst>
          </p:cNvPr>
          <p:cNvSpPr txBox="1"/>
          <p:nvPr/>
        </p:nvSpPr>
        <p:spPr>
          <a:xfrm>
            <a:off x="1507958" y="461665"/>
            <a:ext cx="10363200" cy="861774"/>
          </a:xfrm>
          <a:prstGeom prst="rect">
            <a:avLst/>
          </a:prstGeom>
          <a:noFill/>
        </p:spPr>
        <p:txBody>
          <a:bodyPr wrap="square">
            <a:spAutoFit/>
          </a:bodyPr>
          <a:lstStyle/>
          <a:p>
            <a:pPr>
              <a:buNone/>
            </a:pPr>
            <a:r>
              <a:rPr lang="en-US" b="1" dirty="0">
                <a:solidFill>
                  <a:srgbClr val="FF0000"/>
                </a:solidFill>
              </a:rPr>
              <a:t>Short introduction</a:t>
            </a:r>
          </a:p>
          <a:p>
            <a:pPr>
              <a:buNone/>
            </a:pPr>
            <a:r>
              <a:rPr lang="en-US" sz="1600" b="1" dirty="0"/>
              <a:t>The FoodTech data was organized into related tables using primary and foreign keys to maintain data integrity and support efficient business analysis.</a:t>
            </a:r>
          </a:p>
        </p:txBody>
      </p:sp>
      <p:pic>
        <p:nvPicPr>
          <p:cNvPr id="6" name="Picture 5">
            <a:extLst>
              <a:ext uri="{FF2B5EF4-FFF2-40B4-BE49-F238E27FC236}">
                <a16:creationId xmlns:a16="http://schemas.microsoft.com/office/drawing/2014/main" id="{54C092DB-7ED6-BCFA-0570-AD9BB87FA862}"/>
              </a:ext>
            </a:extLst>
          </p:cNvPr>
          <p:cNvPicPr>
            <a:picLocks noChangeAspect="1"/>
          </p:cNvPicPr>
          <p:nvPr/>
        </p:nvPicPr>
        <p:blipFill>
          <a:blip r:embed="rId2"/>
          <a:stretch>
            <a:fillRect/>
          </a:stretch>
        </p:blipFill>
        <p:spPr>
          <a:xfrm>
            <a:off x="1" y="1323439"/>
            <a:ext cx="12192000" cy="5534561"/>
          </a:xfrm>
          <a:prstGeom prst="rect">
            <a:avLst/>
          </a:prstGeom>
        </p:spPr>
      </p:pic>
      <p:sp>
        <p:nvSpPr>
          <p:cNvPr id="3" name="Rectangle 2">
            <a:extLst>
              <a:ext uri="{FF2B5EF4-FFF2-40B4-BE49-F238E27FC236}">
                <a16:creationId xmlns:a16="http://schemas.microsoft.com/office/drawing/2014/main" id="{BA6890B6-3D8B-0F40-F4E2-9971CF1C2C23}"/>
              </a:ext>
            </a:extLst>
          </p:cNvPr>
          <p:cNvSpPr>
            <a:spLocks noChangeArrowheads="1"/>
          </p:cNvSpPr>
          <p:nvPr/>
        </p:nvSpPr>
        <p:spPr bwMode="auto">
          <a:xfrm>
            <a:off x="323557" y="1831270"/>
            <a:ext cx="3798277" cy="830997"/>
          </a:xfrm>
          <a:prstGeom prst="rect">
            <a:avLst/>
          </a:prstGeom>
          <a:solidFill>
            <a:srgbClr val="EEF4FC"/>
          </a:solidFill>
          <a:ln>
            <a:noFill/>
          </a:ln>
          <a:effec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solidFill>
                  <a:srgbClr val="FF0000"/>
                </a:solidFill>
              </a:rPr>
              <a:t>Normalized data structure </a:t>
            </a:r>
            <a:r>
              <a:rPr lang="en-US" altLang="en-US" sz="1600" b="1" dirty="0"/>
              <a:t>to organize customer, restaurant, order, and delivery information. </a:t>
            </a:r>
          </a:p>
        </p:txBody>
      </p:sp>
      <p:sp>
        <p:nvSpPr>
          <p:cNvPr id="7" name="TextBox 6">
            <a:extLst>
              <a:ext uri="{FF2B5EF4-FFF2-40B4-BE49-F238E27FC236}">
                <a16:creationId xmlns:a16="http://schemas.microsoft.com/office/drawing/2014/main" id="{7B5B6AA0-E461-0666-8373-BA376AE9A578}"/>
              </a:ext>
            </a:extLst>
          </p:cNvPr>
          <p:cNvSpPr txBox="1"/>
          <p:nvPr/>
        </p:nvSpPr>
        <p:spPr>
          <a:xfrm>
            <a:off x="8399156" y="5916185"/>
            <a:ext cx="3192621" cy="584775"/>
          </a:xfrm>
          <a:prstGeom prst="rect">
            <a:avLst/>
          </a:prstGeom>
          <a:solidFill>
            <a:srgbClr val="EEF4FC"/>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marL="285750" lvl="0" indent="-285750" defTabSz="914400" eaLnBrk="0" fontAlgn="base" hangingPunct="0">
              <a:spcBef>
                <a:spcPct val="0"/>
              </a:spcBef>
              <a:spcAft>
                <a:spcPct val="0"/>
              </a:spcAft>
              <a:buFont typeface="Arial" panose="020B0604020202020204" pitchFamily="34" charset="0"/>
              <a:buChar char="•"/>
              <a:defRPr b="1">
                <a:solidFill>
                  <a:srgbClr val="FF0000"/>
                </a:solidFill>
              </a:defRPr>
            </a:lvl1pPr>
          </a:lstStyle>
          <a:p>
            <a:r>
              <a:rPr lang="en-US" altLang="en-US" sz="1600" dirty="0"/>
              <a:t>Primary keys </a:t>
            </a:r>
            <a:r>
              <a:rPr lang="en-US" altLang="en-US" sz="1600" dirty="0">
                <a:solidFill>
                  <a:schemeClr val="tx1"/>
                </a:solidFill>
              </a:rPr>
              <a:t>uniquely identify records in each table.</a:t>
            </a:r>
          </a:p>
        </p:txBody>
      </p:sp>
      <p:sp>
        <p:nvSpPr>
          <p:cNvPr id="10" name="TextBox 9">
            <a:extLst>
              <a:ext uri="{FF2B5EF4-FFF2-40B4-BE49-F238E27FC236}">
                <a16:creationId xmlns:a16="http://schemas.microsoft.com/office/drawing/2014/main" id="{459010CC-0E0A-B6AE-25B9-7A488839ACC7}"/>
              </a:ext>
            </a:extLst>
          </p:cNvPr>
          <p:cNvSpPr txBox="1"/>
          <p:nvPr/>
        </p:nvSpPr>
        <p:spPr>
          <a:xfrm>
            <a:off x="323557" y="5519171"/>
            <a:ext cx="3798277" cy="830997"/>
          </a:xfrm>
          <a:prstGeom prst="rect">
            <a:avLst/>
          </a:prstGeom>
          <a:solidFill>
            <a:srgbClr val="EEF4FC"/>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marL="285750" lvl="0" indent="-285750" defTabSz="914400" eaLnBrk="0" fontAlgn="base" hangingPunct="0">
              <a:spcBef>
                <a:spcPct val="0"/>
              </a:spcBef>
              <a:spcAft>
                <a:spcPct val="0"/>
              </a:spcAft>
              <a:buFont typeface="Arial" panose="020B0604020202020204" pitchFamily="34" charset="0"/>
              <a:buChar char="•"/>
              <a:defRPr b="1">
                <a:solidFill>
                  <a:srgbClr val="FF0000"/>
                </a:solidFill>
              </a:defRPr>
            </a:lvl1pPr>
          </a:lstStyle>
          <a:p>
            <a:r>
              <a:rPr lang="en-US" altLang="en-US" sz="1600" dirty="0"/>
              <a:t>Foreign keys </a:t>
            </a:r>
            <a:r>
              <a:rPr lang="en-US" altLang="en-US" sz="1600" dirty="0">
                <a:solidFill>
                  <a:schemeClr val="tx1"/>
                </a:solidFill>
              </a:rPr>
              <a:t>connect related business entities and maintain referential integrity. </a:t>
            </a:r>
          </a:p>
        </p:txBody>
      </p:sp>
      <p:sp>
        <p:nvSpPr>
          <p:cNvPr id="12" name="TextBox 11">
            <a:extLst>
              <a:ext uri="{FF2B5EF4-FFF2-40B4-BE49-F238E27FC236}">
                <a16:creationId xmlns:a16="http://schemas.microsoft.com/office/drawing/2014/main" id="{70530460-01F1-7E73-139A-FB6CF988B9CB}"/>
              </a:ext>
            </a:extLst>
          </p:cNvPr>
          <p:cNvSpPr txBox="1"/>
          <p:nvPr/>
        </p:nvSpPr>
        <p:spPr>
          <a:xfrm>
            <a:off x="7918543" y="1927040"/>
            <a:ext cx="3949900" cy="830997"/>
          </a:xfrm>
          <a:prstGeom prst="rect">
            <a:avLst/>
          </a:prstGeom>
          <a:solidFill>
            <a:srgbClr val="EEF4FC"/>
          </a:solidFill>
          <a:ln>
            <a:noFill/>
          </a:ln>
          <a:effectLst/>
        </p:spPr>
        <p:txBody>
          <a:bodyPr vert="horz" wrap="square" lIns="91440" tIns="45720" rIns="91440" bIns="45720" numCol="1" anchor="ctr" anchorCtr="0" compatLnSpc="1">
            <a:prstTxWarp prst="textNoShape">
              <a:avLst/>
            </a:prstTxWarp>
            <a:spAutoFit/>
          </a:bodyPr>
          <a:lstStyle>
            <a:defPPr>
              <a:defRPr lang="en-US"/>
            </a:defPPr>
            <a:lvl1pPr marL="285750" lvl="0" indent="-285750" defTabSz="914400" eaLnBrk="0" fontAlgn="base" hangingPunct="0">
              <a:spcBef>
                <a:spcPct val="0"/>
              </a:spcBef>
              <a:spcAft>
                <a:spcPct val="0"/>
              </a:spcAft>
              <a:buFont typeface="Arial" panose="020B0604020202020204" pitchFamily="34" charset="0"/>
              <a:buChar char="•"/>
              <a:defRPr b="1">
                <a:solidFill>
                  <a:srgbClr val="FF0000"/>
                </a:solidFill>
              </a:defRPr>
            </a:lvl1pPr>
          </a:lstStyle>
          <a:p>
            <a:r>
              <a:rPr lang="en-US" altLang="en-US" sz="1600" dirty="0"/>
              <a:t>Orders act as the central transaction table, </a:t>
            </a:r>
            <a:r>
              <a:rPr lang="en-US" altLang="en-US" sz="1600" dirty="0">
                <a:solidFill>
                  <a:schemeClr val="tx1"/>
                </a:solidFill>
              </a:rPr>
              <a:t>linking customers, restaurants, and delivery partners. </a:t>
            </a:r>
          </a:p>
        </p:txBody>
      </p:sp>
    </p:spTree>
    <p:extLst>
      <p:ext uri="{BB962C8B-B14F-4D97-AF65-F5344CB8AC3E}">
        <p14:creationId xmlns:p14="http://schemas.microsoft.com/office/powerpoint/2010/main" val="4181412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7547DD-4407-448F-5670-D80B05A4F537}"/>
              </a:ext>
            </a:extLst>
          </p:cNvPr>
          <p:cNvSpPr txBox="1"/>
          <p:nvPr/>
        </p:nvSpPr>
        <p:spPr>
          <a:xfrm>
            <a:off x="3989790" y="98474"/>
            <a:ext cx="5308955" cy="461665"/>
          </a:xfrm>
          <a:prstGeom prst="rect">
            <a:avLst/>
          </a:prstGeom>
          <a:noFill/>
        </p:spPr>
        <p:txBody>
          <a:bodyPr wrap="square">
            <a:spAutoFit/>
          </a:bodyPr>
          <a:lstStyle/>
          <a:p>
            <a:pPr algn="l"/>
            <a:r>
              <a:rPr lang="en-US" sz="2400" b="1" dirty="0">
                <a:solidFill>
                  <a:srgbClr val="1B4F8C"/>
                </a:solidFill>
                <a:latin typeface="+mj-lt"/>
              </a:rPr>
              <a:t>SQL Implementation and Automation</a:t>
            </a:r>
          </a:p>
        </p:txBody>
      </p:sp>
      <p:sp>
        <p:nvSpPr>
          <p:cNvPr id="7" name="TextBox 6">
            <a:extLst>
              <a:ext uri="{FF2B5EF4-FFF2-40B4-BE49-F238E27FC236}">
                <a16:creationId xmlns:a16="http://schemas.microsoft.com/office/drawing/2014/main" id="{0C46AFC6-8AE2-8A0D-D5C7-7A3F43CEE5D6}"/>
              </a:ext>
            </a:extLst>
          </p:cNvPr>
          <p:cNvSpPr txBox="1"/>
          <p:nvPr/>
        </p:nvSpPr>
        <p:spPr>
          <a:xfrm>
            <a:off x="1656469" y="467806"/>
            <a:ext cx="10385476" cy="861774"/>
          </a:xfrm>
          <a:prstGeom prst="rect">
            <a:avLst/>
          </a:prstGeom>
          <a:noFill/>
        </p:spPr>
        <p:txBody>
          <a:bodyPr wrap="square">
            <a:spAutoFit/>
          </a:bodyPr>
          <a:lstStyle/>
          <a:p>
            <a:r>
              <a:rPr lang="en-US" b="1" dirty="0">
                <a:solidFill>
                  <a:srgbClr val="FF0000"/>
                </a:solidFill>
                <a:latin typeface="+mj-lt"/>
              </a:rPr>
              <a:t>Introduction on Views</a:t>
            </a:r>
          </a:p>
          <a:p>
            <a:r>
              <a:rPr lang="en-US" sz="1600" b="1" dirty="0"/>
              <a:t>Business reporting often requires the same complex queries to be executed repeatedly. To simplify reporting and improve query reusability, multiple SQL views were created for frequently used FoodTech business reports.</a:t>
            </a:r>
          </a:p>
        </p:txBody>
      </p:sp>
      <p:graphicFrame>
        <p:nvGraphicFramePr>
          <p:cNvPr id="23" name="Table 22">
            <a:extLst>
              <a:ext uri="{FF2B5EF4-FFF2-40B4-BE49-F238E27FC236}">
                <a16:creationId xmlns:a16="http://schemas.microsoft.com/office/drawing/2014/main" id="{E7BAEA32-1A4D-2144-0938-06A2D2A318E2}"/>
              </a:ext>
            </a:extLst>
          </p:cNvPr>
          <p:cNvGraphicFramePr>
            <a:graphicFrameLocks noGrp="1"/>
          </p:cNvGraphicFramePr>
          <p:nvPr>
            <p:extLst>
              <p:ext uri="{D42A27DB-BD31-4B8C-83A1-F6EECF244321}">
                <p14:modId xmlns:p14="http://schemas.microsoft.com/office/powerpoint/2010/main" val="2360346143"/>
              </p:ext>
            </p:extLst>
          </p:nvPr>
        </p:nvGraphicFramePr>
        <p:xfrm>
          <a:off x="2574388" y="1712244"/>
          <a:ext cx="7427742" cy="5053312"/>
        </p:xfrm>
        <a:graphic>
          <a:graphicData uri="http://schemas.openxmlformats.org/drawingml/2006/table">
            <a:tbl>
              <a:tblPr firstRow="1" bandRow="1">
                <a:tableStyleId>{284E427A-3D55-4303-BF80-6455036E1DE7}</a:tableStyleId>
              </a:tblPr>
              <a:tblGrid>
                <a:gridCol w="3713871">
                  <a:extLst>
                    <a:ext uri="{9D8B030D-6E8A-4147-A177-3AD203B41FA5}">
                      <a16:colId xmlns:a16="http://schemas.microsoft.com/office/drawing/2014/main" val="1663030033"/>
                    </a:ext>
                  </a:extLst>
                </a:gridCol>
                <a:gridCol w="3713871">
                  <a:extLst>
                    <a:ext uri="{9D8B030D-6E8A-4147-A177-3AD203B41FA5}">
                      <a16:colId xmlns:a16="http://schemas.microsoft.com/office/drawing/2014/main" val="3216719998"/>
                    </a:ext>
                  </a:extLst>
                </a:gridCol>
              </a:tblGrid>
              <a:tr h="454346">
                <a:tc>
                  <a:txBody>
                    <a:bodyPr/>
                    <a:lstStyle/>
                    <a:p>
                      <a:pPr algn="ctr">
                        <a:lnSpc>
                          <a:spcPct val="150000"/>
                        </a:lnSpc>
                      </a:pPr>
                      <a:r>
                        <a:rPr lang="en-US" sz="1800" dirty="0">
                          <a:solidFill>
                            <a:schemeClr val="bg1"/>
                          </a:solidFill>
                          <a:latin typeface="+mj-lt"/>
                        </a:rPr>
                        <a:t>VIEWS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1800" dirty="0">
                          <a:solidFill>
                            <a:schemeClr val="bg1"/>
                          </a:solidFill>
                          <a:latin typeface="+mj-lt"/>
                        </a:rPr>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374538"/>
                  </a:ext>
                </a:extLst>
              </a:tr>
              <a:tr h="1032731">
                <a:tc>
                  <a:txBody>
                    <a:bodyPr/>
                    <a:lstStyle/>
                    <a:p>
                      <a:pPr algn="ctr"/>
                      <a:r>
                        <a:rPr lang="en-US" sz="1400" b="1" dirty="0"/>
                        <a:t>vw_region_performance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Identify high-demand regions and evaluate profitability, customer satisfaction, and operational 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4158181806"/>
                  </a:ext>
                </a:extLst>
              </a:tr>
              <a:tr h="842492">
                <a:tc>
                  <a:txBody>
                    <a:bodyPr/>
                    <a:lstStyle/>
                    <a:p>
                      <a:pPr algn="ctr"/>
                      <a:r>
                        <a:rPr lang="en-US" sz="1400" b="1" dirty="0"/>
                        <a:t>vw_delivery_partner_performance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t>To evaluate delivery partner efficiency and logistics routes to improve service 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3316038721"/>
                  </a:ext>
                </a:extLst>
              </a:tr>
              <a:tr h="842492">
                <a:tc>
                  <a:txBody>
                    <a:bodyPr/>
                    <a:lstStyle/>
                    <a:p>
                      <a:pPr algn="ctr"/>
                      <a:r>
                        <a:rPr lang="en-US" sz="1400" b="1" dirty="0"/>
                        <a:t>vw_customer_insights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To understand customer behavior and loyalty patterns to strengthen retention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2543523816"/>
                  </a:ext>
                </a:extLst>
              </a:tr>
              <a:tr h="652251">
                <a:tc>
                  <a:txBody>
                    <a:bodyPr/>
                    <a:lstStyle/>
                    <a:p>
                      <a:pPr algn="ctr"/>
                      <a:r>
                        <a:rPr lang="en-US" sz="1400" b="1" dirty="0"/>
                        <a:t>vw_restaurant_performance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t>To assess profitability and efficiency across restaurants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4059978212"/>
                  </a:ext>
                </a:extLst>
              </a:tr>
              <a:tr h="1222971">
                <a:tc>
                  <a:txBody>
                    <a:bodyPr/>
                    <a:lstStyle/>
                    <a:p>
                      <a:pPr algn="ctr"/>
                      <a:r>
                        <a:rPr lang="en-US" sz="1400" b="1" dirty="0"/>
                        <a:t>vw_monthly_business_performance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t>Provides a monthly business performance summary for trend analysis, management reporting, and decision making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2834195322"/>
                  </a:ext>
                </a:extLst>
              </a:tr>
            </a:tbl>
          </a:graphicData>
        </a:graphic>
      </p:graphicFrame>
      <p:pic>
        <p:nvPicPr>
          <p:cNvPr id="18" name="Picture 17">
            <a:extLst>
              <a:ext uri="{FF2B5EF4-FFF2-40B4-BE49-F238E27FC236}">
                <a16:creationId xmlns:a16="http://schemas.microsoft.com/office/drawing/2014/main" id="{4350BCFD-D402-223A-FB07-440BC85E1D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585" y="1754448"/>
            <a:ext cx="398939" cy="398939"/>
          </a:xfrm>
          <a:prstGeom prst="rect">
            <a:avLst/>
          </a:prstGeom>
        </p:spPr>
      </p:pic>
    </p:spTree>
    <p:extLst>
      <p:ext uri="{BB962C8B-B14F-4D97-AF65-F5344CB8AC3E}">
        <p14:creationId xmlns:p14="http://schemas.microsoft.com/office/powerpoint/2010/main" val="2559460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3DBE88-888A-CC04-3479-C64F933C0C48}"/>
              </a:ext>
            </a:extLst>
          </p:cNvPr>
          <p:cNvSpPr txBox="1"/>
          <p:nvPr/>
        </p:nvSpPr>
        <p:spPr>
          <a:xfrm>
            <a:off x="1642401" y="298993"/>
            <a:ext cx="10385476" cy="861774"/>
          </a:xfrm>
          <a:prstGeom prst="rect">
            <a:avLst/>
          </a:prstGeom>
          <a:noFill/>
        </p:spPr>
        <p:txBody>
          <a:bodyPr wrap="square">
            <a:spAutoFit/>
          </a:bodyPr>
          <a:lstStyle/>
          <a:p>
            <a:r>
              <a:rPr lang="en-US" b="1" dirty="0">
                <a:solidFill>
                  <a:srgbClr val="FF0000"/>
                </a:solidFill>
                <a:latin typeface="+mj-lt"/>
              </a:rPr>
              <a:t>9.1 Introduction on Stored Procedures</a:t>
            </a:r>
          </a:p>
          <a:p>
            <a:r>
              <a:rPr lang="en-US" sz="1600" b="1" dirty="0"/>
              <a:t>Several business operations required reusable SQL logic with minimal manual effort. Stored procedures were created to automate these operations and improve execution consistency.</a:t>
            </a:r>
          </a:p>
        </p:txBody>
      </p:sp>
      <p:graphicFrame>
        <p:nvGraphicFramePr>
          <p:cNvPr id="14" name="Table 13">
            <a:extLst>
              <a:ext uri="{FF2B5EF4-FFF2-40B4-BE49-F238E27FC236}">
                <a16:creationId xmlns:a16="http://schemas.microsoft.com/office/drawing/2014/main" id="{2A0179D3-39FE-1E74-CDBB-4FCAC84B96EB}"/>
              </a:ext>
            </a:extLst>
          </p:cNvPr>
          <p:cNvGraphicFramePr>
            <a:graphicFrameLocks noGrp="1"/>
          </p:cNvGraphicFramePr>
          <p:nvPr>
            <p:extLst>
              <p:ext uri="{D42A27DB-BD31-4B8C-83A1-F6EECF244321}">
                <p14:modId xmlns:p14="http://schemas.microsoft.com/office/powerpoint/2010/main" val="3394535674"/>
              </p:ext>
            </p:extLst>
          </p:nvPr>
        </p:nvGraphicFramePr>
        <p:xfrm>
          <a:off x="2602523" y="1426426"/>
          <a:ext cx="7751298" cy="5047283"/>
        </p:xfrm>
        <a:graphic>
          <a:graphicData uri="http://schemas.openxmlformats.org/drawingml/2006/table">
            <a:tbl>
              <a:tblPr firstRow="1" bandRow="1">
                <a:tableStyleId>{284E427A-3D55-4303-BF80-6455036E1DE7}</a:tableStyleId>
              </a:tblPr>
              <a:tblGrid>
                <a:gridCol w="3875649">
                  <a:extLst>
                    <a:ext uri="{9D8B030D-6E8A-4147-A177-3AD203B41FA5}">
                      <a16:colId xmlns:a16="http://schemas.microsoft.com/office/drawing/2014/main" val="1663030033"/>
                    </a:ext>
                  </a:extLst>
                </a:gridCol>
                <a:gridCol w="3875649">
                  <a:extLst>
                    <a:ext uri="{9D8B030D-6E8A-4147-A177-3AD203B41FA5}">
                      <a16:colId xmlns:a16="http://schemas.microsoft.com/office/drawing/2014/main" val="3216719998"/>
                    </a:ext>
                  </a:extLst>
                </a:gridCol>
              </a:tblGrid>
              <a:tr h="454346">
                <a:tc>
                  <a:txBody>
                    <a:bodyPr/>
                    <a:lstStyle/>
                    <a:p>
                      <a:pPr algn="ctr">
                        <a:lnSpc>
                          <a:spcPct val="100000"/>
                        </a:lnSpc>
                      </a:pPr>
                      <a:r>
                        <a:rPr lang="en-US" sz="2000" dirty="0">
                          <a:solidFill>
                            <a:schemeClr val="bg1"/>
                          </a:solidFill>
                          <a:latin typeface="+mj-lt"/>
                        </a:rPr>
                        <a:t>Stored Procedures </a:t>
                      </a:r>
                      <a:r>
                        <a:rPr lang="en-US" sz="2000" dirty="0"/>
                        <a:t>⚙️</a:t>
                      </a:r>
                      <a:endParaRPr lang="en-US" sz="200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2000" dirty="0">
                          <a:solidFill>
                            <a:schemeClr val="bg1"/>
                          </a:solidFill>
                          <a:latin typeface="+mj-lt"/>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374538"/>
                  </a:ext>
                </a:extLst>
              </a:tr>
              <a:tr h="1032731">
                <a:tc>
                  <a:txBody>
                    <a:bodyPr/>
                    <a:lstStyle/>
                    <a:p>
                      <a:pPr algn="ctr">
                        <a:buNone/>
                      </a:pPr>
                      <a:r>
                        <a:rPr lang="en-US" sz="1400" b="1" dirty="0" err="1">
                          <a:solidFill>
                            <a:schemeClr val="tx1"/>
                          </a:solidFill>
                        </a:rPr>
                        <a:t>sp_customer_profile</a:t>
                      </a: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Retrieve purchase behavior and loyalty information for a specific customer.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4158181806"/>
                  </a:ext>
                </a:extLst>
              </a:tr>
              <a:tr h="842492">
                <a:tc>
                  <a:txBody>
                    <a:bodyPr/>
                    <a:lstStyle/>
                    <a:p>
                      <a:pPr algn="ctr">
                        <a:buNone/>
                      </a:pPr>
                      <a:r>
                        <a:rPr lang="en-US" sz="1400" b="1" dirty="0" err="1">
                          <a:solidFill>
                            <a:schemeClr val="tx1"/>
                          </a:solidFill>
                        </a:rPr>
                        <a:t>sp_delivery_partner_summary</a:t>
                      </a: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Retrieve the performance of a delivery partner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3316038721"/>
                  </a:ext>
                </a:extLst>
              </a:tr>
              <a:tr h="842492">
                <a:tc>
                  <a:txBody>
                    <a:bodyPr/>
                    <a:lstStyle/>
                    <a:p>
                      <a:pPr algn="ctr">
                        <a:buNone/>
                      </a:pPr>
                      <a:r>
                        <a:rPr lang="en-US" sz="1400" b="1" dirty="0" err="1">
                          <a:solidFill>
                            <a:schemeClr val="tx1"/>
                          </a:solidFill>
                        </a:rPr>
                        <a:t>sp_monthly_summary</a:t>
                      </a: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Returns monthly business performance for the specified year and 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2543523816"/>
                  </a:ext>
                </a:extLst>
              </a:tr>
              <a:tr h="652251">
                <a:tc>
                  <a:txBody>
                    <a:bodyPr/>
                    <a:lstStyle/>
                    <a:p>
                      <a:pPr algn="ctr">
                        <a:buNone/>
                      </a:pPr>
                      <a:r>
                        <a:rPr lang="en-US" sz="1400" b="1" dirty="0" err="1">
                          <a:solidFill>
                            <a:schemeClr val="tx1"/>
                          </a:solidFill>
                        </a:rPr>
                        <a:t>sp_restaurant_summary</a:t>
                      </a: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Retrieve profitability and operational performance for a specific restaurant.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4059978212"/>
                  </a:ext>
                </a:extLst>
              </a:tr>
              <a:tr h="1222971">
                <a:tc>
                  <a:txBody>
                    <a:bodyPr/>
                    <a:lstStyle/>
                    <a:p>
                      <a:pPr algn="ctr">
                        <a:buNone/>
                      </a:pPr>
                      <a:r>
                        <a:rPr lang="en-US" sz="1400" b="1" dirty="0" err="1">
                          <a:solidFill>
                            <a:schemeClr val="tx1"/>
                          </a:solidFill>
                        </a:rPr>
                        <a:t>sp_top_restaurants</a:t>
                      </a: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tc>
                  <a:txBody>
                    <a:bodyPr/>
                    <a:lstStyle/>
                    <a:p>
                      <a:pPr algn="ctr"/>
                      <a:r>
                        <a:rPr lang="en-US" sz="1400" b="1" dirty="0">
                          <a:solidFill>
                            <a:schemeClr val="tx1"/>
                          </a:solidFill>
                        </a:rPr>
                        <a:t>Retrieve the Top N restaurants based on revenue and customer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FC"/>
                    </a:solidFill>
                  </a:tcPr>
                </a:tc>
                <a:extLst>
                  <a:ext uri="{0D108BD9-81ED-4DB2-BD59-A6C34878D82A}">
                    <a16:rowId xmlns:a16="http://schemas.microsoft.com/office/drawing/2014/main" val="2834195322"/>
                  </a:ext>
                </a:extLst>
              </a:tr>
            </a:tbl>
          </a:graphicData>
        </a:graphic>
      </p:graphicFrame>
    </p:spTree>
    <p:extLst>
      <p:ext uri="{BB962C8B-B14F-4D97-AF65-F5344CB8AC3E}">
        <p14:creationId xmlns:p14="http://schemas.microsoft.com/office/powerpoint/2010/main" val="1345059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FBBB0E-C206-A9EA-269B-EB7AFFD3B157}"/>
              </a:ext>
            </a:extLst>
          </p:cNvPr>
          <p:cNvSpPr txBox="1"/>
          <p:nvPr/>
        </p:nvSpPr>
        <p:spPr>
          <a:xfrm>
            <a:off x="1642400" y="200519"/>
            <a:ext cx="10118190" cy="1107996"/>
          </a:xfrm>
          <a:prstGeom prst="rect">
            <a:avLst/>
          </a:prstGeom>
          <a:noFill/>
        </p:spPr>
        <p:txBody>
          <a:bodyPr wrap="square">
            <a:spAutoFit/>
          </a:bodyPr>
          <a:lstStyle/>
          <a:p>
            <a:r>
              <a:rPr lang="en-US" b="1" dirty="0">
                <a:solidFill>
                  <a:srgbClr val="FF0000"/>
                </a:solidFill>
                <a:latin typeface="+mj-lt"/>
              </a:rPr>
              <a:t>9.2 Introduction on Triggers</a:t>
            </a:r>
          </a:p>
          <a:p>
            <a:r>
              <a:rPr lang="en-US" sz="1600" b="1" dirty="0"/>
              <a:t>Maintaining an audit trail of important database changes is essential for ensuring data integrity. SQL triggers were implemented to automatically record database activities in dedicated audit tables whenever specified events occurred.</a:t>
            </a:r>
          </a:p>
        </p:txBody>
      </p:sp>
      <p:graphicFrame>
        <p:nvGraphicFramePr>
          <p:cNvPr id="6" name="Table 5">
            <a:extLst>
              <a:ext uri="{FF2B5EF4-FFF2-40B4-BE49-F238E27FC236}">
                <a16:creationId xmlns:a16="http://schemas.microsoft.com/office/drawing/2014/main" id="{970F1063-D1C8-1A3F-5F32-5C1887830667}"/>
              </a:ext>
            </a:extLst>
          </p:cNvPr>
          <p:cNvGraphicFramePr>
            <a:graphicFrameLocks noGrp="1"/>
          </p:cNvGraphicFramePr>
          <p:nvPr>
            <p:extLst>
              <p:ext uri="{D42A27DB-BD31-4B8C-83A1-F6EECF244321}">
                <p14:modId xmlns:p14="http://schemas.microsoft.com/office/powerpoint/2010/main" val="3027647897"/>
              </p:ext>
            </p:extLst>
          </p:nvPr>
        </p:nvGraphicFramePr>
        <p:xfrm>
          <a:off x="1642400" y="1464378"/>
          <a:ext cx="9805184" cy="4685136"/>
        </p:xfrm>
        <a:graphic>
          <a:graphicData uri="http://schemas.openxmlformats.org/drawingml/2006/table">
            <a:tbl>
              <a:tblPr firstRow="1" bandRow="1">
                <a:tableStyleId>{21E4AEA4-8DFA-4A89-87EB-49C32662AFE0}</a:tableStyleId>
              </a:tblPr>
              <a:tblGrid>
                <a:gridCol w="2451296">
                  <a:extLst>
                    <a:ext uri="{9D8B030D-6E8A-4147-A177-3AD203B41FA5}">
                      <a16:colId xmlns:a16="http://schemas.microsoft.com/office/drawing/2014/main" val="1992178532"/>
                    </a:ext>
                  </a:extLst>
                </a:gridCol>
                <a:gridCol w="2451296">
                  <a:extLst>
                    <a:ext uri="{9D8B030D-6E8A-4147-A177-3AD203B41FA5}">
                      <a16:colId xmlns:a16="http://schemas.microsoft.com/office/drawing/2014/main" val="698607443"/>
                    </a:ext>
                  </a:extLst>
                </a:gridCol>
                <a:gridCol w="2451296">
                  <a:extLst>
                    <a:ext uri="{9D8B030D-6E8A-4147-A177-3AD203B41FA5}">
                      <a16:colId xmlns:a16="http://schemas.microsoft.com/office/drawing/2014/main" val="3544221710"/>
                    </a:ext>
                  </a:extLst>
                </a:gridCol>
                <a:gridCol w="2451296">
                  <a:extLst>
                    <a:ext uri="{9D8B030D-6E8A-4147-A177-3AD203B41FA5}">
                      <a16:colId xmlns:a16="http://schemas.microsoft.com/office/drawing/2014/main" val="2693616913"/>
                    </a:ext>
                  </a:extLst>
                </a:gridCol>
              </a:tblGrid>
              <a:tr h="289726">
                <a:tc>
                  <a:txBody>
                    <a:bodyPr/>
                    <a:lstStyle/>
                    <a:p>
                      <a:pPr algn="ctr"/>
                      <a:r>
                        <a:rPr lang="en-US" sz="2000" dirty="0">
                          <a:solidFill>
                            <a:schemeClr val="bg1"/>
                          </a:solidFill>
                          <a:latin typeface="+mj-lt"/>
                        </a:rPr>
                        <a:t>Triggers </a:t>
                      </a:r>
                      <a:r>
                        <a:rPr lang="en-US" sz="1800" dirty="0"/>
                        <a:t>⚡</a:t>
                      </a:r>
                      <a:endParaRPr lang="en-US" sz="2000" dirty="0">
                        <a:solidFill>
                          <a:schemeClr val="bg1"/>
                        </a:solidFill>
                        <a:latin typeface="+mj-lt"/>
                      </a:endParaRPr>
                    </a:p>
                  </a:txBody>
                  <a:tcPr/>
                </a:tc>
                <a:tc>
                  <a:txBody>
                    <a:bodyPr/>
                    <a:lstStyle/>
                    <a:p>
                      <a:pPr algn="ctr"/>
                      <a:r>
                        <a:rPr lang="en-US" sz="2000" dirty="0">
                          <a:solidFill>
                            <a:schemeClr val="bg1"/>
                          </a:solidFill>
                          <a:latin typeface="+mj-lt"/>
                        </a:rPr>
                        <a:t>Event</a:t>
                      </a:r>
                    </a:p>
                  </a:txBody>
                  <a:tcPr/>
                </a:tc>
                <a:tc>
                  <a:txBody>
                    <a:bodyPr/>
                    <a:lstStyle/>
                    <a:p>
                      <a:pPr algn="ctr"/>
                      <a:r>
                        <a:rPr lang="en-US" sz="2000" dirty="0">
                          <a:solidFill>
                            <a:schemeClr val="bg1"/>
                          </a:solidFill>
                          <a:latin typeface="+mj-lt"/>
                        </a:rPr>
                        <a:t>On table</a:t>
                      </a:r>
                    </a:p>
                  </a:txBody>
                  <a:tcPr/>
                </a:tc>
                <a:tc>
                  <a:txBody>
                    <a:bodyPr/>
                    <a:lstStyle/>
                    <a:p>
                      <a:pPr algn="ctr"/>
                      <a:r>
                        <a:rPr lang="en-US" sz="2000" dirty="0">
                          <a:solidFill>
                            <a:schemeClr val="bg1"/>
                          </a:solidFill>
                          <a:latin typeface="+mj-lt"/>
                        </a:rPr>
                        <a:t>Purpose</a:t>
                      </a:r>
                    </a:p>
                  </a:txBody>
                  <a:tcPr/>
                </a:tc>
                <a:extLst>
                  <a:ext uri="{0D108BD9-81ED-4DB2-BD59-A6C34878D82A}">
                    <a16:rowId xmlns:a16="http://schemas.microsoft.com/office/drawing/2014/main" val="697306266"/>
                  </a:ext>
                </a:extLst>
              </a:tr>
              <a:tr h="1585967">
                <a:tc>
                  <a:txBody>
                    <a:bodyPr/>
                    <a:lstStyle/>
                    <a:p>
                      <a:pPr algn="ctr"/>
                      <a:r>
                        <a:rPr lang="en-US" sz="1400" b="1" dirty="0" err="1">
                          <a:solidFill>
                            <a:schemeClr val="tx1"/>
                          </a:solidFill>
                        </a:rPr>
                        <a:t>trg_order_insert_audit</a:t>
                      </a:r>
                      <a:endParaRPr lang="en-US" sz="1400" b="1" dirty="0">
                        <a:solidFill>
                          <a:schemeClr val="tx1"/>
                        </a:solidFill>
                      </a:endParaRPr>
                    </a:p>
                  </a:txBody>
                  <a:tcPr anchor="ctr"/>
                </a:tc>
                <a:tc>
                  <a:txBody>
                    <a:bodyPr/>
                    <a:lstStyle/>
                    <a:p>
                      <a:pPr algn="ctr"/>
                      <a:r>
                        <a:rPr lang="en-US" sz="1400" b="1" dirty="0">
                          <a:solidFill>
                            <a:schemeClr val="tx1"/>
                          </a:solidFill>
                        </a:rPr>
                        <a:t>INSERT</a:t>
                      </a:r>
                    </a:p>
                  </a:txBody>
                  <a:tcPr anchor="ctr"/>
                </a:tc>
                <a:tc>
                  <a:txBody>
                    <a:bodyPr/>
                    <a:lstStyle/>
                    <a:p>
                      <a:pPr algn="ctr"/>
                      <a:r>
                        <a:rPr lang="en-US" sz="1400" b="1" dirty="0">
                          <a:solidFill>
                            <a:schemeClr val="tx1"/>
                          </a:solidFill>
                        </a:rPr>
                        <a:t>Orders</a:t>
                      </a:r>
                    </a:p>
                  </a:txBody>
                  <a:tcPr anchor="ctr"/>
                </a:tc>
                <a:tc>
                  <a:txBody>
                    <a:bodyPr/>
                    <a:lstStyle/>
                    <a:p>
                      <a:pPr algn="ctr"/>
                      <a:r>
                        <a:rPr lang="en-US" sz="1400" b="1" dirty="0">
                          <a:solidFill>
                            <a:schemeClr val="tx1"/>
                          </a:solidFill>
                        </a:rPr>
                        <a:t>Automatically records newly inserted orders in the audit table, storing the Order Key, Order ID, action, and timestamp for auditing and traceability.</a:t>
                      </a:r>
                    </a:p>
                  </a:txBody>
                  <a:tcPr anchor="ctr"/>
                </a:tc>
                <a:extLst>
                  <a:ext uri="{0D108BD9-81ED-4DB2-BD59-A6C34878D82A}">
                    <a16:rowId xmlns:a16="http://schemas.microsoft.com/office/drawing/2014/main" val="4173638467"/>
                  </a:ext>
                </a:extLst>
              </a:tr>
              <a:tr h="1331329">
                <a:tc>
                  <a:txBody>
                    <a:bodyPr/>
                    <a:lstStyle/>
                    <a:p>
                      <a:pPr algn="ctr"/>
                      <a:r>
                        <a:rPr lang="en-US" sz="1400" b="1" dirty="0" err="1">
                          <a:solidFill>
                            <a:schemeClr val="tx1"/>
                          </a:solidFill>
                        </a:rPr>
                        <a:t>trg_order_status_update</a:t>
                      </a:r>
                      <a:endParaRPr lang="en-US" sz="1400" b="1" dirty="0">
                        <a:solidFill>
                          <a:schemeClr val="tx1"/>
                        </a:solidFill>
                      </a:endParaRPr>
                    </a:p>
                  </a:txBody>
                  <a:tcPr anchor="ctr"/>
                </a:tc>
                <a:tc>
                  <a:txBody>
                    <a:bodyPr/>
                    <a:lstStyle/>
                    <a:p>
                      <a:pPr algn="ctr"/>
                      <a:r>
                        <a:rPr lang="en-US" sz="1400" b="1" dirty="0">
                          <a:solidFill>
                            <a:schemeClr val="tx1"/>
                          </a:solidFill>
                        </a:rPr>
                        <a:t>UPDATE</a:t>
                      </a:r>
                    </a:p>
                  </a:txBody>
                  <a:tcPr anchor="ctr"/>
                </a:tc>
                <a:tc>
                  <a:txBody>
                    <a:bodyPr/>
                    <a:lstStyle/>
                    <a:p>
                      <a:pPr algn="ctr"/>
                      <a:r>
                        <a:rPr lang="en-US" sz="1400" b="1" dirty="0">
                          <a:solidFill>
                            <a:schemeClr val="tx1"/>
                          </a:solidFill>
                        </a:rPr>
                        <a:t>Orders</a:t>
                      </a:r>
                    </a:p>
                  </a:txBody>
                  <a:tcPr anchor="ctr"/>
                </a:tc>
                <a:tc>
                  <a:txBody>
                    <a:bodyPr/>
                    <a:lstStyle/>
                    <a:p>
                      <a:pPr algn="ctr"/>
                      <a:r>
                        <a:rPr lang="en-US" sz="1400" b="1" dirty="0">
                          <a:solidFill>
                            <a:schemeClr val="tx1"/>
                          </a:solidFill>
                        </a:rPr>
                        <a:t>Automatically records order status changes, storing the previous status, new status, Order Key, Order ID, and timestamp in the audit table.</a:t>
                      </a:r>
                    </a:p>
                  </a:txBody>
                  <a:tcPr anchor="ctr"/>
                </a:tc>
                <a:extLst>
                  <a:ext uri="{0D108BD9-81ED-4DB2-BD59-A6C34878D82A}">
                    <a16:rowId xmlns:a16="http://schemas.microsoft.com/office/drawing/2014/main" val="1141435942"/>
                  </a:ext>
                </a:extLst>
              </a:tr>
              <a:tr h="249401">
                <a:tc>
                  <a:txBody>
                    <a:bodyPr/>
                    <a:lstStyle/>
                    <a:p>
                      <a:pPr algn="ctr"/>
                      <a:r>
                        <a:rPr lang="en-US" sz="1400" b="1" dirty="0" err="1">
                          <a:solidFill>
                            <a:schemeClr val="tx1"/>
                          </a:solidFill>
                        </a:rPr>
                        <a:t>trg_order_delete_audit</a:t>
                      </a:r>
                      <a:endParaRPr lang="en-US" sz="1400" b="1" dirty="0">
                        <a:solidFill>
                          <a:schemeClr val="tx1"/>
                        </a:solidFill>
                      </a:endParaRPr>
                    </a:p>
                  </a:txBody>
                  <a:tcPr anchor="ctr"/>
                </a:tc>
                <a:tc>
                  <a:txBody>
                    <a:bodyPr/>
                    <a:lstStyle/>
                    <a:p>
                      <a:pPr algn="ctr"/>
                      <a:r>
                        <a:rPr lang="en-US" sz="1400" b="1" dirty="0">
                          <a:solidFill>
                            <a:schemeClr val="tx1"/>
                          </a:solidFill>
                        </a:rPr>
                        <a:t>DELETE</a:t>
                      </a:r>
                    </a:p>
                  </a:txBody>
                  <a:tcPr anchor="ctr"/>
                </a:tc>
                <a:tc>
                  <a:txBody>
                    <a:bodyPr/>
                    <a:lstStyle/>
                    <a:p>
                      <a:pPr algn="ctr"/>
                      <a:r>
                        <a:rPr lang="en-US" sz="1400" b="1" dirty="0">
                          <a:solidFill>
                            <a:schemeClr val="tx1"/>
                          </a:solidFill>
                        </a:rPr>
                        <a:t>Orders</a:t>
                      </a:r>
                    </a:p>
                  </a:txBody>
                  <a:tcPr anchor="ctr"/>
                </a:tc>
                <a:tc>
                  <a:txBody>
                    <a:bodyPr/>
                    <a:lstStyle/>
                    <a:p>
                      <a:pPr algn="ctr"/>
                      <a:r>
                        <a:rPr lang="en-US" sz="1400" b="1" dirty="0">
                          <a:solidFill>
                            <a:schemeClr val="tx1"/>
                          </a:solidFill>
                        </a:rPr>
                        <a:t>Automatically records deleted orders in the audit table, preserving the Order Key, Order ID, deletion action, and timestamp for auditing and traceability.</a:t>
                      </a:r>
                    </a:p>
                  </a:txBody>
                  <a:tcPr anchor="ctr"/>
                </a:tc>
                <a:extLst>
                  <a:ext uri="{0D108BD9-81ED-4DB2-BD59-A6C34878D82A}">
                    <a16:rowId xmlns:a16="http://schemas.microsoft.com/office/drawing/2014/main" val="1605503153"/>
                  </a:ext>
                </a:extLst>
              </a:tr>
            </a:tbl>
          </a:graphicData>
        </a:graphic>
      </p:graphicFrame>
    </p:spTree>
    <p:extLst>
      <p:ext uri="{BB962C8B-B14F-4D97-AF65-F5344CB8AC3E}">
        <p14:creationId xmlns:p14="http://schemas.microsoft.com/office/powerpoint/2010/main" val="2937335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39FA19-508C-90F3-1A39-F17DF3F7CBA7}"/>
              </a:ext>
            </a:extLst>
          </p:cNvPr>
          <p:cNvSpPr txBox="1"/>
          <p:nvPr/>
        </p:nvSpPr>
        <p:spPr>
          <a:xfrm>
            <a:off x="3213588" y="-23082"/>
            <a:ext cx="5764823" cy="461665"/>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dirty="0"/>
              <a:t>Excel Dashboard (FoodTech Analytics)</a:t>
            </a:r>
          </a:p>
        </p:txBody>
      </p:sp>
      <p:pic>
        <p:nvPicPr>
          <p:cNvPr id="2" name="FoodTech - Excel dashboard">
            <a:hlinkClick r:id="" action="ppaction://media"/>
            <a:extLst>
              <a:ext uri="{FF2B5EF4-FFF2-40B4-BE49-F238E27FC236}">
                <a16:creationId xmlns:a16="http://schemas.microsoft.com/office/drawing/2014/main" id="{6AC4E20E-8177-7EA2-75BF-A03A487644E5}"/>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b="7205"/>
          <a:stretch>
            <a:fillRect/>
          </a:stretch>
        </p:blipFill>
        <p:spPr>
          <a:xfrm>
            <a:off x="73269" y="438583"/>
            <a:ext cx="8648700" cy="4622056"/>
          </a:xfrm>
          <a:prstGeom prst="rect">
            <a:avLst/>
          </a:prstGeom>
        </p:spPr>
      </p:pic>
      <p:sp>
        <p:nvSpPr>
          <p:cNvPr id="8" name="TextBox 7">
            <a:extLst>
              <a:ext uri="{FF2B5EF4-FFF2-40B4-BE49-F238E27FC236}">
                <a16:creationId xmlns:a16="http://schemas.microsoft.com/office/drawing/2014/main" id="{275387CB-3DB2-B683-D10C-3812190B0E5C}"/>
              </a:ext>
            </a:extLst>
          </p:cNvPr>
          <p:cNvSpPr txBox="1"/>
          <p:nvPr/>
        </p:nvSpPr>
        <p:spPr>
          <a:xfrm>
            <a:off x="8820443" y="405518"/>
            <a:ext cx="3371557" cy="5693866"/>
          </a:xfrm>
          <a:prstGeom prst="rect">
            <a:avLst/>
          </a:prstGeom>
          <a:solidFill>
            <a:srgbClr val="EEF4FC"/>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latin typeface="Aptos" panose="020B0004020202020204" pitchFamily="34" charset="0"/>
              </a:rPr>
              <a:t>Urban and Semi-Urban </a:t>
            </a:r>
            <a:r>
              <a:rPr kumimoji="0" lang="en-US" altLang="en-US" sz="1400" i="0" u="none" strike="noStrike" cap="none" normalizeH="0" baseline="0" dirty="0">
                <a:ln>
                  <a:noFill/>
                </a:ln>
                <a:effectLst/>
                <a:latin typeface="Aptos" panose="020B0004020202020204" pitchFamily="34" charset="0"/>
              </a:rPr>
              <a:t>regions generate nearly </a:t>
            </a:r>
            <a:r>
              <a:rPr kumimoji="0" lang="en-US" altLang="en-US" sz="1400" b="1" i="0" u="none" strike="noStrike" cap="none" normalizeH="0" baseline="0" dirty="0">
                <a:ln>
                  <a:noFill/>
                </a:ln>
                <a:solidFill>
                  <a:schemeClr val="accent1"/>
                </a:solidFill>
                <a:effectLst/>
                <a:latin typeface="Aptos" panose="020B0004020202020204" pitchFamily="34" charset="0"/>
              </a:rPr>
              <a:t>equal revenue (~₹18.6–18.8M)</a:t>
            </a:r>
            <a:r>
              <a:rPr kumimoji="0" lang="en-US" altLang="en-US" sz="1400" i="0" u="none" strike="noStrike" cap="none" normalizeH="0" baseline="0" dirty="0">
                <a:ln>
                  <a:noFill/>
                </a:ln>
                <a:effectLst/>
                <a:latin typeface="Aptos" panose="020B0004020202020204" pitchFamily="34" charset="0"/>
              </a:rPr>
              <a:t>, indicating balanced demand across major markets.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latin typeface="Aptos" panose="020B0004020202020204" pitchFamily="34" charset="0"/>
              </a:rPr>
              <a:t>New customers </a:t>
            </a:r>
            <a:r>
              <a:rPr kumimoji="0" lang="en-US" altLang="en-US" sz="1400" i="0" u="none" strike="noStrike" cap="none" normalizeH="0" baseline="0" dirty="0">
                <a:ln>
                  <a:noFill/>
                </a:ln>
                <a:effectLst/>
                <a:latin typeface="Aptos" panose="020B0004020202020204" pitchFamily="34" charset="0"/>
              </a:rPr>
              <a:t>contribute </a:t>
            </a:r>
            <a:r>
              <a:rPr kumimoji="0" lang="en-US" altLang="en-US" sz="1400" b="1" i="0" u="none" strike="noStrike" cap="none" normalizeH="0" baseline="0" dirty="0">
                <a:ln>
                  <a:noFill/>
                </a:ln>
                <a:solidFill>
                  <a:schemeClr val="accent1"/>
                </a:solidFill>
                <a:effectLst/>
                <a:latin typeface="Aptos" panose="020B0004020202020204" pitchFamily="34" charset="0"/>
              </a:rPr>
              <a:t>54% of revenue</a:t>
            </a:r>
            <a:r>
              <a:rPr kumimoji="0" lang="en-US" altLang="en-US" sz="1400" b="1" i="0" u="none" strike="noStrike" cap="none" normalizeH="0" baseline="0" dirty="0">
                <a:ln>
                  <a:noFill/>
                </a:ln>
                <a:solidFill>
                  <a:srgbClr val="FF0000"/>
                </a:solidFill>
                <a:effectLst/>
                <a:latin typeface="Aptos" panose="020B0004020202020204" pitchFamily="34" charset="0"/>
              </a:rPr>
              <a:t> </a:t>
            </a:r>
            <a:r>
              <a:rPr kumimoji="0" lang="en-US" altLang="en-US" sz="1400" i="0" u="none" strike="noStrike" cap="none" normalizeH="0" baseline="0" dirty="0">
                <a:ln>
                  <a:noFill/>
                </a:ln>
                <a:effectLst/>
                <a:latin typeface="Aptos" panose="020B0004020202020204" pitchFamily="34" charset="0"/>
              </a:rPr>
              <a:t>(₹30.3M), highlighting strong customer acquisition, while repeat customer retention remains an opportunity.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i="0" u="none" strike="noStrike" cap="none" normalizeH="0" baseline="0" dirty="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latin typeface="Aptos" panose="020B0004020202020204" pitchFamily="34" charset="0"/>
              </a:rPr>
              <a:t>Italian cuisine</a:t>
            </a:r>
            <a:r>
              <a:rPr kumimoji="0" lang="en-US" altLang="en-US" sz="1400" i="0" u="none" strike="noStrike" cap="none" normalizeH="0" baseline="0" dirty="0">
                <a:ln>
                  <a:noFill/>
                </a:ln>
                <a:solidFill>
                  <a:schemeClr val="accent1"/>
                </a:solidFill>
                <a:effectLst/>
                <a:latin typeface="Aptos" panose="020B0004020202020204" pitchFamily="34" charset="0"/>
              </a:rPr>
              <a:t> </a:t>
            </a:r>
            <a:r>
              <a:rPr kumimoji="0" lang="en-US" altLang="en-US" sz="1400" i="0" u="none" strike="noStrike" cap="none" normalizeH="0" baseline="0" dirty="0">
                <a:ln>
                  <a:noFill/>
                </a:ln>
                <a:effectLst/>
                <a:latin typeface="Aptos" panose="020B0004020202020204" pitchFamily="34" charset="0"/>
              </a:rPr>
              <a:t>generates</a:t>
            </a:r>
            <a:r>
              <a:rPr kumimoji="0" lang="en-US" altLang="en-US" sz="1400" i="0" u="none" strike="noStrike" cap="none" normalizeH="0" baseline="0" dirty="0">
                <a:ln>
                  <a:noFill/>
                </a:ln>
                <a:solidFill>
                  <a:schemeClr val="accent1"/>
                </a:solidFill>
                <a:effectLst/>
                <a:latin typeface="Aptos" panose="020B0004020202020204" pitchFamily="34" charset="0"/>
              </a:rPr>
              <a:t> </a:t>
            </a:r>
            <a:r>
              <a:rPr kumimoji="0" lang="en-US" altLang="en-US" sz="1400" b="1" i="0" u="none" strike="noStrike" cap="none" normalizeH="0" baseline="0" dirty="0">
                <a:ln>
                  <a:noFill/>
                </a:ln>
                <a:solidFill>
                  <a:schemeClr val="accent1"/>
                </a:solidFill>
                <a:effectLst/>
                <a:latin typeface="Aptos" panose="020B0004020202020204" pitchFamily="34" charset="0"/>
              </a:rPr>
              <a:t>the highest revenue (₹16.3M)</a:t>
            </a:r>
            <a:r>
              <a:rPr kumimoji="0" lang="en-US" altLang="en-US" sz="1400" i="0" u="none" strike="noStrike" cap="none" normalizeH="0" baseline="0" dirty="0">
                <a:ln>
                  <a:noFill/>
                </a:ln>
                <a:effectLst/>
                <a:latin typeface="Aptos" panose="020B0004020202020204" pitchFamily="34" charset="0"/>
              </a:rPr>
              <a:t>, followed closely by </a:t>
            </a:r>
            <a:r>
              <a:rPr kumimoji="0" lang="en-US" altLang="en-US" sz="1400" b="1" i="0" u="none" strike="noStrike" cap="none" normalizeH="0" baseline="0" dirty="0">
                <a:ln>
                  <a:noFill/>
                </a:ln>
                <a:solidFill>
                  <a:schemeClr val="accent1"/>
                </a:solidFill>
                <a:effectLst/>
                <a:latin typeface="Aptos" panose="020B0004020202020204" pitchFamily="34" charset="0"/>
              </a:rPr>
              <a:t>Chinese cuisine (₹15.1M)</a:t>
            </a:r>
            <a:r>
              <a:rPr kumimoji="0" lang="en-US" altLang="en-US" sz="1400" i="0" u="none" strike="noStrike" cap="none" normalizeH="0" baseline="0" dirty="0">
                <a:ln>
                  <a:noFill/>
                </a:ln>
                <a:solidFill>
                  <a:schemeClr val="accent1"/>
                </a:solidFill>
                <a:effectLst/>
                <a:latin typeface="Aptos" panose="020B0004020202020204" pitchFamily="34" charset="0"/>
              </a:rPr>
              <a:t>, </a:t>
            </a:r>
            <a:r>
              <a:rPr kumimoji="0" lang="en-US" altLang="en-US" sz="1400" i="0" u="none" strike="noStrike" cap="none" normalizeH="0" baseline="0" dirty="0">
                <a:ln>
                  <a:noFill/>
                </a:ln>
                <a:effectLst/>
                <a:latin typeface="Aptos" panose="020B0004020202020204" pitchFamily="34" charset="0"/>
              </a:rPr>
              <a:t>showing strong customer preference.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latin typeface="Aptos" panose="020B0004020202020204" pitchFamily="34" charset="0"/>
              </a:rPr>
              <a:t>Moderate deliveries </a:t>
            </a:r>
            <a:r>
              <a:rPr kumimoji="0" lang="en-US" altLang="en-US" sz="1400" i="0" u="none" strike="noStrike" cap="none" normalizeH="0" baseline="0" dirty="0">
                <a:ln>
                  <a:noFill/>
                </a:ln>
                <a:effectLst/>
                <a:latin typeface="Aptos" panose="020B0004020202020204" pitchFamily="34" charset="0"/>
              </a:rPr>
              <a:t>account for over </a:t>
            </a:r>
            <a:r>
              <a:rPr kumimoji="0" lang="en-US" altLang="en-US" sz="1400" b="1" i="0" u="none" strike="noStrike" cap="none" normalizeH="0" baseline="0" dirty="0">
                <a:ln>
                  <a:noFill/>
                </a:ln>
                <a:solidFill>
                  <a:schemeClr val="accent1"/>
                </a:solidFill>
                <a:effectLst/>
                <a:latin typeface="Aptos" panose="020B0004020202020204" pitchFamily="34" charset="0"/>
              </a:rPr>
              <a:t>81% of total orders</a:t>
            </a:r>
            <a:r>
              <a:rPr kumimoji="0" lang="en-US" altLang="en-US" sz="1400" i="0" u="none" strike="noStrike" cap="none" normalizeH="0" baseline="0" dirty="0">
                <a:ln>
                  <a:noFill/>
                </a:ln>
                <a:effectLst/>
                <a:latin typeface="Aptos" panose="020B0004020202020204" pitchFamily="34" charset="0"/>
              </a:rPr>
              <a:t>, while the on-time delivery rate remains high at 87.52%, indicating stable logistics performance.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latin typeface="Aptos" panose="020B0004020202020204" pitchFamily="34" charset="0"/>
              </a:rPr>
              <a:t>Scooters and bikes </a:t>
            </a:r>
            <a:r>
              <a:rPr kumimoji="0" lang="en-US" altLang="en-US" sz="1400" i="0" u="none" strike="noStrike" cap="none" normalizeH="0" baseline="0" dirty="0">
                <a:ln>
                  <a:noFill/>
                </a:ln>
                <a:effectLst/>
                <a:latin typeface="Aptos" panose="020B0004020202020204" pitchFamily="34" charset="0"/>
              </a:rPr>
              <a:t>demonstrate better </a:t>
            </a:r>
            <a:r>
              <a:rPr kumimoji="0" lang="en-US" altLang="en-US" sz="1400" b="1" i="0" u="none" strike="noStrike" cap="none" normalizeH="0" baseline="0" dirty="0">
                <a:ln>
                  <a:noFill/>
                </a:ln>
                <a:solidFill>
                  <a:schemeClr val="accent1"/>
                </a:solidFill>
                <a:effectLst/>
                <a:latin typeface="Aptos" panose="020B0004020202020204" pitchFamily="34" charset="0"/>
              </a:rPr>
              <a:t>delivery efficiency and speed than cars</a:t>
            </a:r>
            <a:r>
              <a:rPr kumimoji="0" lang="en-US" altLang="en-US" sz="1400" i="0" u="none" strike="noStrike" cap="none" normalizeH="0" baseline="0" dirty="0">
                <a:ln>
                  <a:noFill/>
                </a:ln>
                <a:effectLst/>
                <a:latin typeface="Aptos" panose="020B0004020202020204" pitchFamily="34" charset="0"/>
              </a:rPr>
              <a:t>, making them more suitable for urban operations. </a:t>
            </a:r>
          </a:p>
        </p:txBody>
      </p:sp>
      <p:sp>
        <p:nvSpPr>
          <p:cNvPr id="12" name="TextBox 11">
            <a:extLst>
              <a:ext uri="{FF2B5EF4-FFF2-40B4-BE49-F238E27FC236}">
                <a16:creationId xmlns:a16="http://schemas.microsoft.com/office/drawing/2014/main" id="{2B301B0B-D269-294F-DBAD-1C3F72E1E7F7}"/>
              </a:ext>
            </a:extLst>
          </p:cNvPr>
          <p:cNvSpPr txBox="1"/>
          <p:nvPr/>
        </p:nvSpPr>
        <p:spPr>
          <a:xfrm>
            <a:off x="73269" y="5406886"/>
            <a:ext cx="8412480" cy="1384995"/>
          </a:xfrm>
          <a:prstGeom prst="rect">
            <a:avLst/>
          </a:prstGeom>
          <a:solidFill>
            <a:srgbClr val="EEF4FC"/>
          </a:solidFill>
        </p:spPr>
        <p:txBody>
          <a:bodyPr wrap="square">
            <a:spAutoFit/>
          </a:bodyPr>
          <a:lstStyle/>
          <a:p>
            <a:pPr>
              <a:buNone/>
            </a:pPr>
            <a:r>
              <a:rPr lang="en-US" sz="1400" b="1" dirty="0">
                <a:solidFill>
                  <a:srgbClr val="FF0000"/>
                </a:solidFill>
                <a:latin typeface="Aptos" panose="020B0004020202020204" pitchFamily="34" charset="0"/>
              </a:rPr>
              <a:t>Key Recommendations</a:t>
            </a:r>
          </a:p>
          <a:p>
            <a:pPr>
              <a:buFont typeface="Arial" panose="020B0604020202020204" pitchFamily="34" charset="0"/>
              <a:buChar char="•"/>
            </a:pPr>
            <a:r>
              <a:rPr lang="en-US" sz="1400" dirty="0">
                <a:latin typeface="Aptos" panose="020B0004020202020204" pitchFamily="34" charset="0"/>
              </a:rPr>
              <a:t>Expand marketing efforts in </a:t>
            </a:r>
            <a:r>
              <a:rPr lang="en-US" sz="1400" b="1" dirty="0">
                <a:solidFill>
                  <a:schemeClr val="accent1"/>
                </a:solidFill>
                <a:latin typeface="Aptos" panose="020B0004020202020204" pitchFamily="34" charset="0"/>
              </a:rPr>
              <a:t>Urban and Semi-Urban</a:t>
            </a:r>
            <a:r>
              <a:rPr lang="en-US" sz="1400" dirty="0">
                <a:solidFill>
                  <a:schemeClr val="accent1"/>
                </a:solidFill>
                <a:latin typeface="Aptos" panose="020B0004020202020204" pitchFamily="34" charset="0"/>
              </a:rPr>
              <a:t> </a:t>
            </a:r>
            <a:r>
              <a:rPr lang="en-US" sz="1400" dirty="0">
                <a:latin typeface="Aptos" panose="020B0004020202020204" pitchFamily="34" charset="0"/>
              </a:rPr>
              <a:t>regions to maximize growth. </a:t>
            </a:r>
          </a:p>
          <a:p>
            <a:pPr>
              <a:buFont typeface="Arial" panose="020B0604020202020204" pitchFamily="34" charset="0"/>
              <a:buChar char="•"/>
            </a:pPr>
            <a:r>
              <a:rPr lang="en-US" sz="1400" dirty="0">
                <a:latin typeface="Aptos" panose="020B0004020202020204" pitchFamily="34" charset="0"/>
              </a:rPr>
              <a:t>Improve </a:t>
            </a:r>
            <a:r>
              <a:rPr lang="en-US" sz="1400" b="1" dirty="0">
                <a:solidFill>
                  <a:schemeClr val="accent1"/>
                </a:solidFill>
                <a:latin typeface="Aptos" panose="020B0004020202020204" pitchFamily="34" charset="0"/>
              </a:rPr>
              <a:t>customer retention strategies</a:t>
            </a:r>
            <a:r>
              <a:rPr lang="en-US" sz="1400" dirty="0">
                <a:solidFill>
                  <a:schemeClr val="accent1"/>
                </a:solidFill>
                <a:latin typeface="Aptos" panose="020B0004020202020204" pitchFamily="34" charset="0"/>
              </a:rPr>
              <a:t> </a:t>
            </a:r>
            <a:r>
              <a:rPr lang="en-US" sz="1400" dirty="0">
                <a:latin typeface="Aptos" panose="020B0004020202020204" pitchFamily="34" charset="0"/>
              </a:rPr>
              <a:t>through loyalty programs and personalized offers. </a:t>
            </a:r>
          </a:p>
          <a:p>
            <a:pPr>
              <a:buFont typeface="Arial" panose="020B0604020202020204" pitchFamily="34" charset="0"/>
              <a:buChar char="•"/>
            </a:pPr>
            <a:r>
              <a:rPr lang="en-US" sz="1400" dirty="0">
                <a:latin typeface="Aptos" panose="020B0004020202020204" pitchFamily="34" charset="0"/>
              </a:rPr>
              <a:t>Prioritize </a:t>
            </a:r>
            <a:r>
              <a:rPr lang="en-US" sz="1400" b="1" dirty="0">
                <a:solidFill>
                  <a:schemeClr val="accent1"/>
                </a:solidFill>
                <a:latin typeface="Aptos" panose="020B0004020202020204" pitchFamily="34" charset="0"/>
              </a:rPr>
              <a:t>Italian and Chinese cuisine partners</a:t>
            </a:r>
            <a:r>
              <a:rPr lang="en-US" sz="1400" dirty="0">
                <a:solidFill>
                  <a:schemeClr val="accent1"/>
                </a:solidFill>
                <a:latin typeface="Aptos" panose="020B0004020202020204" pitchFamily="34" charset="0"/>
              </a:rPr>
              <a:t> </a:t>
            </a:r>
            <a:r>
              <a:rPr lang="en-US" sz="1400" dirty="0">
                <a:latin typeface="Aptos" panose="020B0004020202020204" pitchFamily="34" charset="0"/>
              </a:rPr>
              <a:t>while promoting lower-performing cuisines. </a:t>
            </a:r>
          </a:p>
          <a:p>
            <a:pPr>
              <a:buFont typeface="Arial" panose="020B0604020202020204" pitchFamily="34" charset="0"/>
              <a:buChar char="•"/>
            </a:pPr>
            <a:r>
              <a:rPr lang="en-US" sz="1400" dirty="0">
                <a:latin typeface="Aptos" panose="020B0004020202020204" pitchFamily="34" charset="0"/>
              </a:rPr>
              <a:t>Increase the proportion of </a:t>
            </a:r>
            <a:r>
              <a:rPr lang="en-US" sz="1400" b="1" dirty="0">
                <a:solidFill>
                  <a:schemeClr val="accent1"/>
                </a:solidFill>
                <a:latin typeface="Aptos" panose="020B0004020202020204" pitchFamily="34" charset="0"/>
              </a:rPr>
              <a:t>fast deliveries</a:t>
            </a:r>
            <a:r>
              <a:rPr lang="en-US" sz="1400" dirty="0">
                <a:solidFill>
                  <a:schemeClr val="accent1"/>
                </a:solidFill>
                <a:latin typeface="Aptos" panose="020B0004020202020204" pitchFamily="34" charset="0"/>
              </a:rPr>
              <a:t> </a:t>
            </a:r>
            <a:r>
              <a:rPr lang="en-US" sz="1400" dirty="0">
                <a:latin typeface="Aptos" panose="020B0004020202020204" pitchFamily="34" charset="0"/>
              </a:rPr>
              <a:t>by optimizing delivery routes and resource allocation. </a:t>
            </a:r>
          </a:p>
          <a:p>
            <a:pPr>
              <a:buFont typeface="Arial" panose="020B0604020202020204" pitchFamily="34" charset="0"/>
              <a:buChar char="•"/>
            </a:pPr>
            <a:r>
              <a:rPr lang="en-US" sz="1400" dirty="0">
                <a:latin typeface="Aptos" panose="020B0004020202020204" pitchFamily="34" charset="0"/>
              </a:rPr>
              <a:t>Deploy more </a:t>
            </a:r>
            <a:r>
              <a:rPr lang="en-US" sz="1400" b="1" dirty="0">
                <a:solidFill>
                  <a:schemeClr val="accent1"/>
                </a:solidFill>
                <a:latin typeface="Aptos" panose="020B0004020202020204" pitchFamily="34" charset="0"/>
              </a:rPr>
              <a:t>two-wheelers</a:t>
            </a:r>
            <a:r>
              <a:rPr lang="en-US" sz="1400" dirty="0">
                <a:latin typeface="Aptos" panose="020B0004020202020204" pitchFamily="34" charset="0"/>
              </a:rPr>
              <a:t> for dense urban deliveries to improve efficiency and reduce delivery time.</a:t>
            </a:r>
          </a:p>
        </p:txBody>
      </p:sp>
    </p:spTree>
    <p:extLst>
      <p:ext uri="{BB962C8B-B14F-4D97-AF65-F5344CB8AC3E}">
        <p14:creationId xmlns:p14="http://schemas.microsoft.com/office/powerpoint/2010/main" val="51164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2FE61D-9FCD-4D42-ED0C-E7809CFD87A8}"/>
              </a:ext>
            </a:extLst>
          </p:cNvPr>
          <p:cNvSpPr txBox="1"/>
          <p:nvPr/>
        </p:nvSpPr>
        <p:spPr>
          <a:xfrm>
            <a:off x="4012222" y="98476"/>
            <a:ext cx="4400257" cy="461665"/>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dirty="0"/>
              <a:t>Power BI Dashboard Overview</a:t>
            </a:r>
          </a:p>
        </p:txBody>
      </p:sp>
      <p:graphicFrame>
        <p:nvGraphicFramePr>
          <p:cNvPr id="5" name="Diagram 4">
            <a:extLst>
              <a:ext uri="{FF2B5EF4-FFF2-40B4-BE49-F238E27FC236}">
                <a16:creationId xmlns:a16="http://schemas.microsoft.com/office/drawing/2014/main" id="{8B34351A-1F85-82EA-EAAA-30C7CE235D10}"/>
              </a:ext>
            </a:extLst>
          </p:cNvPr>
          <p:cNvGraphicFramePr/>
          <p:nvPr>
            <p:extLst>
              <p:ext uri="{D42A27DB-BD31-4B8C-83A1-F6EECF244321}">
                <p14:modId xmlns:p14="http://schemas.microsoft.com/office/powerpoint/2010/main" val="3113279381"/>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descr="Customer Insights Icon, HD Png Download , Transparent Png Image - PNGitem">
            <a:extLst>
              <a:ext uri="{FF2B5EF4-FFF2-40B4-BE49-F238E27FC236}">
                <a16:creationId xmlns:a16="http://schemas.microsoft.com/office/drawing/2014/main" id="{5A81CE27-E7D5-3801-B786-64E105B114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6413" y="3010708"/>
            <a:ext cx="1793632" cy="1266092"/>
          </a:xfrm>
          <a:prstGeom prst="rect">
            <a:avLst/>
          </a:prstGeom>
          <a:solidFill>
            <a:schemeClr val="accent1"/>
          </a:solidFill>
        </p:spPr>
      </p:pic>
      <p:pic>
        <p:nvPicPr>
          <p:cNvPr id="4100" name="Picture 4" descr="Sales Symbol, Business, Management, Report, Executive Summary, Project,  Personal Branding, Text transparent background PNG clipart | HiClipart">
            <a:extLst>
              <a:ext uri="{FF2B5EF4-FFF2-40B4-BE49-F238E27FC236}">
                <a16:creationId xmlns:a16="http://schemas.microsoft.com/office/drawing/2014/main" id="{3290CA50-7234-109D-A675-DED42DB059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9728" y="732449"/>
            <a:ext cx="1542647" cy="150302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D5C4AA6-0294-7032-138F-6DF02954A8D8}"/>
              </a:ext>
            </a:extLst>
          </p:cNvPr>
          <p:cNvSpPr/>
          <p:nvPr/>
        </p:nvSpPr>
        <p:spPr>
          <a:xfrm>
            <a:off x="4332848" y="1012874"/>
            <a:ext cx="1542647" cy="703385"/>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Executive Overview</a:t>
            </a:r>
          </a:p>
        </p:txBody>
      </p:sp>
      <p:sp>
        <p:nvSpPr>
          <p:cNvPr id="7" name="Rectangle 6">
            <a:extLst>
              <a:ext uri="{FF2B5EF4-FFF2-40B4-BE49-F238E27FC236}">
                <a16:creationId xmlns:a16="http://schemas.microsoft.com/office/drawing/2014/main" id="{56E13AC0-C339-94B3-C9B3-D90ED9EC10E7}"/>
              </a:ext>
            </a:extLst>
          </p:cNvPr>
          <p:cNvSpPr/>
          <p:nvPr/>
        </p:nvSpPr>
        <p:spPr>
          <a:xfrm>
            <a:off x="8243667" y="2231982"/>
            <a:ext cx="1542647" cy="70338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Customer Insights</a:t>
            </a:r>
          </a:p>
        </p:txBody>
      </p:sp>
      <p:sp>
        <p:nvSpPr>
          <p:cNvPr id="8" name="Rectangle 7">
            <a:extLst>
              <a:ext uri="{FF2B5EF4-FFF2-40B4-BE49-F238E27FC236}">
                <a16:creationId xmlns:a16="http://schemas.microsoft.com/office/drawing/2014/main" id="{99FAC7B1-EA3F-8951-0925-55A279A257EA}"/>
              </a:ext>
            </a:extLst>
          </p:cNvPr>
          <p:cNvSpPr/>
          <p:nvPr/>
        </p:nvSpPr>
        <p:spPr>
          <a:xfrm>
            <a:off x="8617353" y="5352796"/>
            <a:ext cx="1542647" cy="703385"/>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Restaurant Performance</a:t>
            </a:r>
          </a:p>
        </p:txBody>
      </p:sp>
      <p:pic>
        <p:nvPicPr>
          <p:cNvPr id="4102" name="Picture 6" descr="1,334 Dining Hall Logo Royalty-Free Images, Stock Photos &amp; Pictures |  Shutterstock">
            <a:extLst>
              <a:ext uri="{FF2B5EF4-FFF2-40B4-BE49-F238E27FC236}">
                <a16:creationId xmlns:a16="http://schemas.microsoft.com/office/drawing/2014/main" id="{2B165D58-DD45-D820-F244-0B2E614AA4F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97968" y="4686045"/>
            <a:ext cx="1542647" cy="1452287"/>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Power BI Logo, symbol, meaning, history, PNG, brand">
            <a:extLst>
              <a:ext uri="{FF2B5EF4-FFF2-40B4-BE49-F238E27FC236}">
                <a16:creationId xmlns:a16="http://schemas.microsoft.com/office/drawing/2014/main" id="{BEE0373C-73CD-C748-EE60-A8880D77CA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2346" y="2316389"/>
            <a:ext cx="3657600" cy="2210132"/>
          </a:xfrm>
          <a:prstGeom prst="rect">
            <a:avLst/>
          </a:prstGeom>
          <a:solidFill>
            <a:schemeClr val="accent1"/>
          </a:solidFill>
        </p:spPr>
      </p:pic>
      <p:pic>
        <p:nvPicPr>
          <p:cNvPr id="4108" name="Picture 12" descr="Food delivery logo png Images - Free Download on Magnific (formerly Freepik)">
            <a:extLst>
              <a:ext uri="{FF2B5EF4-FFF2-40B4-BE49-F238E27FC236}">
                <a16:creationId xmlns:a16="http://schemas.microsoft.com/office/drawing/2014/main" id="{43433BC9-79FC-92D0-A628-B783091373D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48984" y="4686045"/>
            <a:ext cx="1863273" cy="96916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F5F4D86-547B-F7D3-0EA5-8000C40CE508}"/>
              </a:ext>
            </a:extLst>
          </p:cNvPr>
          <p:cNvSpPr/>
          <p:nvPr/>
        </p:nvSpPr>
        <p:spPr>
          <a:xfrm>
            <a:off x="3833391" y="5771551"/>
            <a:ext cx="1542647" cy="703385"/>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Delivery Partner Performance</a:t>
            </a:r>
          </a:p>
        </p:txBody>
      </p:sp>
      <p:pic>
        <p:nvPicPr>
          <p:cNvPr id="4114" name="Picture 18" descr="Business Trends Images – Browse 3,889,543 Stock Photos, Vectors, and Video  | Adobe Stock">
            <a:extLst>
              <a:ext uri="{FF2B5EF4-FFF2-40B4-BE49-F238E27FC236}">
                <a16:creationId xmlns:a16="http://schemas.microsoft.com/office/drawing/2014/main" id="{34CEC9E8-AED6-E31E-0927-659B2759568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2347" y="3429000"/>
            <a:ext cx="1604956" cy="109752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192C44F-7A50-7439-459B-6A2891807C17}"/>
              </a:ext>
            </a:extLst>
          </p:cNvPr>
          <p:cNvSpPr/>
          <p:nvPr/>
        </p:nvSpPr>
        <p:spPr>
          <a:xfrm>
            <a:off x="1653544" y="2489982"/>
            <a:ext cx="1771942" cy="79707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Business Trends &amp; Performance</a:t>
            </a:r>
          </a:p>
        </p:txBody>
      </p:sp>
      <p:sp>
        <p:nvSpPr>
          <p:cNvPr id="12" name="TextBox 11">
            <a:extLst>
              <a:ext uri="{FF2B5EF4-FFF2-40B4-BE49-F238E27FC236}">
                <a16:creationId xmlns:a16="http://schemas.microsoft.com/office/drawing/2014/main" id="{591971CD-A796-88FC-BE0D-3204CD67EE87}"/>
              </a:ext>
            </a:extLst>
          </p:cNvPr>
          <p:cNvSpPr txBox="1"/>
          <p:nvPr/>
        </p:nvSpPr>
        <p:spPr>
          <a:xfrm>
            <a:off x="9786314" y="2244130"/>
            <a:ext cx="2426679" cy="738664"/>
          </a:xfrm>
          <a:prstGeom prst="rect">
            <a:avLst/>
          </a:prstGeom>
          <a:noFill/>
        </p:spPr>
        <p:txBody>
          <a:bodyPr wrap="square">
            <a:spAutoFit/>
          </a:bodyPr>
          <a:lstStyle/>
          <a:p>
            <a:r>
              <a:rPr lang="en-US" sz="1400" b="1" i="1" dirty="0">
                <a:effectLst/>
              </a:rPr>
              <a:t>Analyze customer demographics, spending behavior, loyalty, and preferences</a:t>
            </a:r>
            <a:endParaRPr lang="en-US" sz="1400" b="1" dirty="0"/>
          </a:p>
        </p:txBody>
      </p:sp>
      <p:sp>
        <p:nvSpPr>
          <p:cNvPr id="14" name="TextBox 13">
            <a:extLst>
              <a:ext uri="{FF2B5EF4-FFF2-40B4-BE49-F238E27FC236}">
                <a16:creationId xmlns:a16="http://schemas.microsoft.com/office/drawing/2014/main" id="{556B8F96-16F5-DA27-D53A-3C98BC58A93E}"/>
              </a:ext>
            </a:extLst>
          </p:cNvPr>
          <p:cNvSpPr txBox="1"/>
          <p:nvPr/>
        </p:nvSpPr>
        <p:spPr>
          <a:xfrm>
            <a:off x="2192200" y="1713407"/>
            <a:ext cx="4020150" cy="523220"/>
          </a:xfrm>
          <a:prstGeom prst="rect">
            <a:avLst/>
          </a:prstGeom>
          <a:noFill/>
        </p:spPr>
        <p:txBody>
          <a:bodyPr wrap="square">
            <a:spAutoFit/>
          </a:bodyPr>
          <a:lstStyle/>
          <a:p>
            <a:r>
              <a:rPr lang="en-US" sz="1400" b="1" i="1" dirty="0"/>
              <a:t>Monitor overall business KPIs, revenue, customer segments, regional demand, and order status.</a:t>
            </a:r>
          </a:p>
        </p:txBody>
      </p:sp>
      <p:sp>
        <p:nvSpPr>
          <p:cNvPr id="16" name="TextBox 15">
            <a:extLst>
              <a:ext uri="{FF2B5EF4-FFF2-40B4-BE49-F238E27FC236}">
                <a16:creationId xmlns:a16="http://schemas.microsoft.com/office/drawing/2014/main" id="{397E1A2D-D28C-431F-2A9B-344BBEF753ED}"/>
              </a:ext>
            </a:extLst>
          </p:cNvPr>
          <p:cNvSpPr txBox="1"/>
          <p:nvPr/>
        </p:nvSpPr>
        <p:spPr>
          <a:xfrm>
            <a:off x="766668" y="4479432"/>
            <a:ext cx="2785067" cy="738664"/>
          </a:xfrm>
          <a:prstGeom prst="rect">
            <a:avLst/>
          </a:prstGeom>
          <a:noFill/>
        </p:spPr>
        <p:txBody>
          <a:bodyPr wrap="square">
            <a:spAutoFit/>
          </a:bodyPr>
          <a:lstStyle/>
          <a:p>
            <a:r>
              <a:rPr lang="en-US" sz="1400" b="1" i="1" dirty="0"/>
              <a:t>Track revenue trends, order patterns, customer ratings, and seasonal business performance.</a:t>
            </a:r>
          </a:p>
        </p:txBody>
      </p:sp>
      <p:sp>
        <p:nvSpPr>
          <p:cNvPr id="18" name="TextBox 17">
            <a:extLst>
              <a:ext uri="{FF2B5EF4-FFF2-40B4-BE49-F238E27FC236}">
                <a16:creationId xmlns:a16="http://schemas.microsoft.com/office/drawing/2014/main" id="{0BF36889-A6DF-3A5C-BCA4-89A45B3AC684}"/>
              </a:ext>
            </a:extLst>
          </p:cNvPr>
          <p:cNvSpPr txBox="1"/>
          <p:nvPr/>
        </p:nvSpPr>
        <p:spPr>
          <a:xfrm>
            <a:off x="10160000" y="5051148"/>
            <a:ext cx="2133599" cy="1169551"/>
          </a:xfrm>
          <a:prstGeom prst="rect">
            <a:avLst/>
          </a:prstGeom>
          <a:noFill/>
        </p:spPr>
        <p:txBody>
          <a:bodyPr wrap="square">
            <a:spAutoFit/>
          </a:bodyPr>
          <a:lstStyle/>
          <a:p>
            <a:r>
              <a:rPr lang="en-US" sz="1400" b="1" i="1" dirty="0"/>
              <a:t>Evaluate restaurant revenue, cuisine performance, customer ratings, and delivery efficiency.</a:t>
            </a:r>
          </a:p>
        </p:txBody>
      </p:sp>
      <p:sp>
        <p:nvSpPr>
          <p:cNvPr id="20" name="TextBox 19">
            <a:extLst>
              <a:ext uri="{FF2B5EF4-FFF2-40B4-BE49-F238E27FC236}">
                <a16:creationId xmlns:a16="http://schemas.microsoft.com/office/drawing/2014/main" id="{D12108EC-0572-B986-7688-A7B6C489A69C}"/>
              </a:ext>
            </a:extLst>
          </p:cNvPr>
          <p:cNvSpPr txBox="1"/>
          <p:nvPr/>
        </p:nvSpPr>
        <p:spPr>
          <a:xfrm>
            <a:off x="2423505" y="6456565"/>
            <a:ext cx="7577689" cy="307777"/>
          </a:xfrm>
          <a:prstGeom prst="rect">
            <a:avLst/>
          </a:prstGeom>
          <a:noFill/>
        </p:spPr>
        <p:txBody>
          <a:bodyPr wrap="square">
            <a:spAutoFit/>
          </a:bodyPr>
          <a:lstStyle/>
          <a:p>
            <a:r>
              <a:rPr lang="en-US" sz="1400" b="1" i="1" dirty="0"/>
              <a:t>Assess delivery partner efficiency, vehicle performance, customer ratings, and logistics operations.</a:t>
            </a:r>
          </a:p>
        </p:txBody>
      </p:sp>
    </p:spTree>
    <p:extLst>
      <p:ext uri="{BB962C8B-B14F-4D97-AF65-F5344CB8AC3E}">
        <p14:creationId xmlns:p14="http://schemas.microsoft.com/office/powerpoint/2010/main" val="1287466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2411F2-BE51-D4C0-4942-5A8893416F04}"/>
              </a:ext>
            </a:extLst>
          </p:cNvPr>
          <p:cNvSpPr txBox="1"/>
          <p:nvPr/>
        </p:nvSpPr>
        <p:spPr>
          <a:xfrm>
            <a:off x="4683662" y="0"/>
            <a:ext cx="2824676" cy="461665"/>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dirty="0"/>
              <a:t>Executive Overview</a:t>
            </a:r>
          </a:p>
        </p:txBody>
      </p:sp>
      <p:pic>
        <p:nvPicPr>
          <p:cNvPr id="4" name="Picture 3">
            <a:extLst>
              <a:ext uri="{FF2B5EF4-FFF2-40B4-BE49-F238E27FC236}">
                <a16:creationId xmlns:a16="http://schemas.microsoft.com/office/drawing/2014/main" id="{C38962D9-CD8D-549A-1851-52C35CFB2316}"/>
              </a:ext>
            </a:extLst>
          </p:cNvPr>
          <p:cNvPicPr>
            <a:picLocks noChangeAspect="1"/>
          </p:cNvPicPr>
          <p:nvPr/>
        </p:nvPicPr>
        <p:blipFill>
          <a:blip r:embed="rId2"/>
          <a:stretch>
            <a:fillRect/>
          </a:stretch>
        </p:blipFill>
        <p:spPr>
          <a:xfrm>
            <a:off x="101860" y="459096"/>
            <a:ext cx="8915531" cy="5258534"/>
          </a:xfrm>
          <a:prstGeom prst="rect">
            <a:avLst/>
          </a:prstGeom>
        </p:spPr>
      </p:pic>
      <p:sp>
        <p:nvSpPr>
          <p:cNvPr id="5" name="Rectangle 1">
            <a:extLst>
              <a:ext uri="{FF2B5EF4-FFF2-40B4-BE49-F238E27FC236}">
                <a16:creationId xmlns:a16="http://schemas.microsoft.com/office/drawing/2014/main" id="{220B3F3B-E76F-3F41-9720-2E6CF6D91C5B}"/>
              </a:ext>
            </a:extLst>
          </p:cNvPr>
          <p:cNvSpPr>
            <a:spLocks noChangeArrowheads="1"/>
          </p:cNvSpPr>
          <p:nvPr/>
        </p:nvSpPr>
        <p:spPr bwMode="auto">
          <a:xfrm>
            <a:off x="9129932" y="651555"/>
            <a:ext cx="2960208"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400" dirty="0"/>
              <a:t>The platform </a:t>
            </a:r>
            <a:r>
              <a:rPr lang="en-US" altLang="en-US" sz="1400" b="1" dirty="0">
                <a:solidFill>
                  <a:schemeClr val="accent1"/>
                </a:solidFill>
              </a:rPr>
              <a:t>generated ₹ 56M revenue from 100K </a:t>
            </a:r>
            <a:r>
              <a:rPr lang="en-US" altLang="en-US" sz="1400" dirty="0"/>
              <a:t>orders (avg. order value ₹ 545.68), with a strong 88.25% order success rate (only 4.93K cancelled, 2.02K returned).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Revenue is evenly split across Urban, Semi-Urban, and Metropolitan regions </a:t>
            </a:r>
            <a:r>
              <a:rPr lang="en-US" altLang="en-US" sz="1400" dirty="0"/>
              <a:t>(₹ 56M each), showing balanced demand across all markets.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Italian</a:t>
            </a:r>
            <a:r>
              <a:rPr lang="en-US" altLang="en-US" sz="1400" dirty="0">
                <a:solidFill>
                  <a:schemeClr val="accent1"/>
                </a:solidFill>
              </a:rPr>
              <a:t> </a:t>
            </a:r>
            <a:r>
              <a:rPr lang="en-US" altLang="en-US" sz="1400" b="1" dirty="0">
                <a:solidFill>
                  <a:schemeClr val="accent1"/>
                </a:solidFill>
              </a:rPr>
              <a:t>leads cuisine revenue (₹ 16.34M)</a:t>
            </a:r>
            <a:r>
              <a:rPr lang="en-US" altLang="en-US" sz="1400" dirty="0">
                <a:solidFill>
                  <a:schemeClr val="accent1"/>
                </a:solidFill>
              </a:rPr>
              <a:t>, </a:t>
            </a:r>
            <a:r>
              <a:rPr lang="en-US" altLang="en-US" sz="1400" dirty="0"/>
              <a:t>followed by Chinese (₹ 15.08M) — strong customer preference for both.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New customers drive the most orders (54K)</a:t>
            </a:r>
            <a:r>
              <a:rPr lang="en-US" altLang="en-US" sz="1400" dirty="0">
                <a:solidFill>
                  <a:schemeClr val="accent1"/>
                </a:solidFill>
              </a:rPr>
              <a:t>, </a:t>
            </a:r>
            <a:r>
              <a:rPr lang="en-US" altLang="en-US" sz="1400" dirty="0"/>
              <a:t>while Loyal customers account for only 11K — a clear retention gap. </a:t>
            </a:r>
          </a:p>
        </p:txBody>
      </p:sp>
      <p:sp>
        <p:nvSpPr>
          <p:cNvPr id="7" name="TextBox 6">
            <a:extLst>
              <a:ext uri="{FF2B5EF4-FFF2-40B4-BE49-F238E27FC236}">
                <a16:creationId xmlns:a16="http://schemas.microsoft.com/office/drawing/2014/main" id="{4C977C6A-CA06-6476-2623-26CF18374B6E}"/>
              </a:ext>
            </a:extLst>
          </p:cNvPr>
          <p:cNvSpPr txBox="1"/>
          <p:nvPr/>
        </p:nvSpPr>
        <p:spPr>
          <a:xfrm>
            <a:off x="2486464" y="5819485"/>
            <a:ext cx="8008033" cy="954107"/>
          </a:xfrm>
          <a:prstGeom prst="rect">
            <a:avLst/>
          </a:prstGeom>
          <a:noFill/>
        </p:spPr>
        <p:txBody>
          <a:bodyPr wrap="square">
            <a:spAutoFit/>
          </a:bodyPr>
          <a:lstStyle/>
          <a:p>
            <a:r>
              <a:rPr lang="en-US" sz="1400" b="1" dirty="0"/>
              <a:t>Business Recommendations</a:t>
            </a:r>
          </a:p>
          <a:p>
            <a:r>
              <a:rPr lang="en-US" sz="1400" dirty="0"/>
              <a:t>Sustain the strong delivery success rate while </a:t>
            </a:r>
            <a:r>
              <a:rPr lang="en-US" sz="1400" b="1" dirty="0">
                <a:solidFill>
                  <a:schemeClr val="accent1"/>
                </a:solidFill>
              </a:rPr>
              <a:t>expanding evenly across all regions given their balanced demand</a:t>
            </a:r>
            <a:r>
              <a:rPr lang="en-US" sz="1400" dirty="0">
                <a:solidFill>
                  <a:schemeClr val="accent1"/>
                </a:solidFill>
              </a:rPr>
              <a:t>; </a:t>
            </a:r>
            <a:r>
              <a:rPr lang="en-US" sz="1400" b="1" dirty="0">
                <a:solidFill>
                  <a:schemeClr val="accent1"/>
                </a:solidFill>
              </a:rPr>
              <a:t>promote top cuisines like Italian and Chinese </a:t>
            </a:r>
            <a:r>
              <a:rPr lang="en-US" sz="1400" dirty="0"/>
              <a:t>while boosting lower performers, and launch loyalty programs </a:t>
            </a:r>
            <a:r>
              <a:rPr lang="en-US" sz="1400" b="1" dirty="0">
                <a:solidFill>
                  <a:schemeClr val="accent1"/>
                </a:solidFill>
              </a:rPr>
              <a:t>to convert New and Returning customers into Loyal </a:t>
            </a:r>
            <a:r>
              <a:rPr lang="en-US" sz="1400" dirty="0"/>
              <a:t>ones for stronger long-term value.</a:t>
            </a:r>
          </a:p>
        </p:txBody>
      </p:sp>
    </p:spTree>
    <p:extLst>
      <p:ext uri="{BB962C8B-B14F-4D97-AF65-F5344CB8AC3E}">
        <p14:creationId xmlns:p14="http://schemas.microsoft.com/office/powerpoint/2010/main" val="3587247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22958D-7277-2F84-C935-80045E393C17}"/>
              </a:ext>
            </a:extLst>
          </p:cNvPr>
          <p:cNvPicPr>
            <a:picLocks noChangeAspect="1"/>
          </p:cNvPicPr>
          <p:nvPr/>
        </p:nvPicPr>
        <p:blipFill>
          <a:blip r:embed="rId2"/>
          <a:stretch>
            <a:fillRect/>
          </a:stretch>
        </p:blipFill>
        <p:spPr>
          <a:xfrm>
            <a:off x="140678" y="461666"/>
            <a:ext cx="9059594" cy="5011340"/>
          </a:xfrm>
          <a:prstGeom prst="rect">
            <a:avLst/>
          </a:prstGeom>
        </p:spPr>
      </p:pic>
      <p:sp>
        <p:nvSpPr>
          <p:cNvPr id="4" name="TextBox 3">
            <a:extLst>
              <a:ext uri="{FF2B5EF4-FFF2-40B4-BE49-F238E27FC236}">
                <a16:creationId xmlns:a16="http://schemas.microsoft.com/office/drawing/2014/main" id="{A2031D90-37A9-1DA7-F661-6F393D155BE7}"/>
              </a:ext>
            </a:extLst>
          </p:cNvPr>
          <p:cNvSpPr txBox="1"/>
          <p:nvPr/>
        </p:nvSpPr>
        <p:spPr>
          <a:xfrm>
            <a:off x="4740813" y="0"/>
            <a:ext cx="2710374" cy="461665"/>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dirty="0"/>
              <a:t>Customer Insights</a:t>
            </a:r>
          </a:p>
        </p:txBody>
      </p:sp>
      <p:sp>
        <p:nvSpPr>
          <p:cNvPr id="12" name="TextBox 11">
            <a:extLst>
              <a:ext uri="{FF2B5EF4-FFF2-40B4-BE49-F238E27FC236}">
                <a16:creationId xmlns:a16="http://schemas.microsoft.com/office/drawing/2014/main" id="{036DB982-FEA1-FA3D-685A-44A2C2D14E0A}"/>
              </a:ext>
            </a:extLst>
          </p:cNvPr>
          <p:cNvSpPr txBox="1"/>
          <p:nvPr/>
        </p:nvSpPr>
        <p:spPr>
          <a:xfrm>
            <a:off x="9340945" y="461665"/>
            <a:ext cx="2710374" cy="461664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effectLst/>
                <a:cs typeface="Segoe UI Light" panose="020B0502040204020203" pitchFamily="34" charset="0"/>
              </a:rPr>
              <a:t>The </a:t>
            </a:r>
            <a:r>
              <a:rPr kumimoji="0" lang="en-US" altLang="en-US" sz="1400" b="1" i="0" u="none" strike="noStrike" cap="none" normalizeH="0" baseline="0" dirty="0">
                <a:ln>
                  <a:noFill/>
                </a:ln>
                <a:solidFill>
                  <a:schemeClr val="accent1"/>
                </a:solidFill>
                <a:effectLst/>
                <a:cs typeface="Segoe UI Light" panose="020B0502040204020203" pitchFamily="34" charset="0"/>
              </a:rPr>
              <a:t>36–50 age group </a:t>
            </a:r>
            <a:r>
              <a:rPr kumimoji="0" lang="en-US" altLang="en-US" sz="1400" i="0" u="none" strike="noStrike" cap="none" normalizeH="0" baseline="0" dirty="0">
                <a:ln>
                  <a:noFill/>
                </a:ln>
                <a:solidFill>
                  <a:schemeClr val="accent1"/>
                </a:solidFill>
                <a:effectLst/>
                <a:cs typeface="Segoe UI Light" panose="020B0502040204020203" pitchFamily="34" charset="0"/>
              </a:rPr>
              <a:t>drives the </a:t>
            </a:r>
            <a:r>
              <a:rPr kumimoji="0" lang="en-US" altLang="en-US" sz="1400" b="1" i="0" u="none" strike="noStrike" cap="none" normalizeH="0" baseline="0" dirty="0">
                <a:ln>
                  <a:noFill/>
                </a:ln>
                <a:solidFill>
                  <a:schemeClr val="accent1"/>
                </a:solidFill>
                <a:effectLst/>
                <a:cs typeface="Segoe UI Light" panose="020B0502040204020203" pitchFamily="34" charset="0"/>
              </a:rPr>
              <a:t>highest revenue </a:t>
            </a:r>
            <a:r>
              <a:rPr kumimoji="0" lang="en-US" altLang="en-US" sz="1400" i="0" u="none" strike="noStrike" cap="none" normalizeH="0" baseline="0" dirty="0">
                <a:ln>
                  <a:noFill/>
                </a:ln>
                <a:effectLst/>
                <a:cs typeface="Segoe UI Light" panose="020B0502040204020203" pitchFamily="34" charset="0"/>
              </a:rPr>
              <a:t>(₹20.7M), followed by 26–35 (₹16.2M) — middle-aged customers are the core revenue base.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effectLst/>
              <a:cs typeface="Segoe UI Ligh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cs typeface="Segoe UI Light" panose="020B0502040204020203" pitchFamily="34" charset="0"/>
              </a:rPr>
              <a:t>Customer base is ~55% male, ~40% female </a:t>
            </a:r>
            <a:r>
              <a:rPr kumimoji="0" lang="en-US" altLang="en-US" sz="1400" i="0" u="none" strike="noStrike" cap="none" normalizeH="0" baseline="0" dirty="0">
                <a:ln>
                  <a:noFill/>
                </a:ln>
                <a:effectLst/>
                <a:cs typeface="Segoe UI Light" panose="020B0502040204020203" pitchFamily="34" charset="0"/>
              </a:rPr>
              <a:t>— a fairly balanced split with slight male skew.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effectLst/>
              <a:cs typeface="Segoe UI Ligh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cs typeface="Segoe UI Light" panose="020B0502040204020203" pitchFamily="34" charset="0"/>
              </a:rPr>
              <a:t>Returning customers (10.4K) </a:t>
            </a:r>
            <a:r>
              <a:rPr kumimoji="0" lang="en-US" altLang="en-US" sz="1400" i="0" u="none" strike="noStrike" cap="none" normalizeH="0" baseline="0" dirty="0">
                <a:ln>
                  <a:noFill/>
                </a:ln>
                <a:effectLst/>
                <a:cs typeface="Segoe UI Light" panose="020B0502040204020203" pitchFamily="34" charset="0"/>
              </a:rPr>
              <a:t>far outnumber New (6.3K) and Loyal (4.0K) — strong repeat behavior, weak conversion to loyalty.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effectLst/>
              <a:cs typeface="Segoe UI Ligh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accent1"/>
                </a:solidFill>
                <a:effectLst/>
                <a:cs typeface="Segoe UI Light" panose="020B0502040204020203" pitchFamily="34" charset="0"/>
              </a:rPr>
              <a:t>Cuisine revenue </a:t>
            </a:r>
            <a:r>
              <a:rPr kumimoji="0" lang="en-US" altLang="en-US" sz="1400" i="0" u="none" strike="noStrike" cap="none" normalizeH="0" baseline="0" dirty="0">
                <a:ln>
                  <a:noFill/>
                </a:ln>
                <a:effectLst/>
                <a:cs typeface="Segoe UI Light" panose="020B0502040204020203" pitchFamily="34" charset="0"/>
              </a:rPr>
              <a:t>is well-balanced, led </a:t>
            </a:r>
            <a:r>
              <a:rPr kumimoji="0" lang="en-US" altLang="en-US" sz="1400" b="1" i="0" u="none" strike="noStrike" cap="none" normalizeH="0" baseline="0" dirty="0">
                <a:ln>
                  <a:noFill/>
                </a:ln>
                <a:solidFill>
                  <a:schemeClr val="accent1"/>
                </a:solidFill>
                <a:effectLst/>
                <a:cs typeface="Segoe UI Light" panose="020B0502040204020203" pitchFamily="34" charset="0"/>
              </a:rPr>
              <a:t>by Chinese (₹10.39M)</a:t>
            </a:r>
            <a:r>
              <a:rPr kumimoji="0" lang="en-US" altLang="en-US" sz="1400" i="0" u="none" strike="noStrike" cap="none" normalizeH="0" baseline="0" dirty="0">
                <a:ln>
                  <a:noFill/>
                </a:ln>
                <a:solidFill>
                  <a:schemeClr val="accent1"/>
                </a:solidFill>
                <a:effectLst/>
                <a:cs typeface="Segoe UI Light" panose="020B0502040204020203" pitchFamily="34" charset="0"/>
              </a:rPr>
              <a:t>, </a:t>
            </a:r>
            <a:r>
              <a:rPr kumimoji="0" lang="en-US" altLang="en-US" sz="1400" i="0" u="none" strike="noStrike" cap="none" normalizeH="0" baseline="0" dirty="0">
                <a:ln>
                  <a:noFill/>
                </a:ln>
                <a:effectLst/>
                <a:cs typeface="Segoe UI Light" panose="020B0502040204020203" pitchFamily="34" charset="0"/>
              </a:rPr>
              <a:t>followed closely by South Indian, Fast Food, and Italian. </a:t>
            </a:r>
          </a:p>
        </p:txBody>
      </p:sp>
      <p:sp>
        <p:nvSpPr>
          <p:cNvPr id="13" name="Rectangle 6">
            <a:extLst>
              <a:ext uri="{FF2B5EF4-FFF2-40B4-BE49-F238E27FC236}">
                <a16:creationId xmlns:a16="http://schemas.microsoft.com/office/drawing/2014/main" id="{7AFCA49B-3938-423F-90B6-CCA257A43A36}"/>
              </a:ext>
            </a:extLst>
          </p:cNvPr>
          <p:cNvSpPr>
            <a:spLocks noChangeArrowheads="1"/>
          </p:cNvSpPr>
          <p:nvPr/>
        </p:nvSpPr>
        <p:spPr bwMode="auto">
          <a:xfrm>
            <a:off x="2574388" y="5473005"/>
            <a:ext cx="846875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400" b="1" dirty="0"/>
              <a:t>Business Recommendations</a:t>
            </a:r>
          </a:p>
          <a:p>
            <a:pPr lvl="0" defTabSz="914400" eaLnBrk="0" fontAlgn="base" hangingPunct="0">
              <a:spcBef>
                <a:spcPct val="0"/>
              </a:spcBef>
              <a:spcAft>
                <a:spcPct val="0"/>
              </a:spcAft>
              <a:buFontTx/>
              <a:buChar char="•"/>
            </a:pPr>
            <a:r>
              <a:rPr lang="en-US" altLang="en-US" sz="1400" b="1" dirty="0">
                <a:solidFill>
                  <a:schemeClr val="accent1"/>
                </a:solidFill>
              </a:rPr>
              <a:t>Target the 26–50 age </a:t>
            </a:r>
            <a:r>
              <a:rPr lang="en-US" altLang="en-US" sz="1400" dirty="0"/>
              <a:t>segment with personalized offers, since it drives the most revenue. </a:t>
            </a:r>
          </a:p>
          <a:p>
            <a:pPr lvl="0" defTabSz="914400" eaLnBrk="0" fontAlgn="base" hangingPunct="0">
              <a:spcBef>
                <a:spcPct val="0"/>
              </a:spcBef>
              <a:spcAft>
                <a:spcPct val="0"/>
              </a:spcAft>
              <a:buFontTx/>
              <a:buChar char="•"/>
            </a:pPr>
            <a:r>
              <a:rPr lang="en-US" altLang="en-US" sz="1400" dirty="0"/>
              <a:t>Launch a loyalty program to </a:t>
            </a:r>
            <a:r>
              <a:rPr lang="en-US" altLang="en-US" sz="1400" b="1" dirty="0">
                <a:solidFill>
                  <a:schemeClr val="accent1"/>
                </a:solidFill>
              </a:rPr>
              <a:t>convert Returning customers </a:t>
            </a:r>
            <a:r>
              <a:rPr lang="en-US" altLang="en-US" sz="1400" dirty="0"/>
              <a:t>(10.4K) </a:t>
            </a:r>
            <a:r>
              <a:rPr lang="en-US" altLang="en-US" sz="1400" b="1" dirty="0">
                <a:solidFill>
                  <a:schemeClr val="accent1"/>
                </a:solidFill>
              </a:rPr>
              <a:t>into long-term Loyal ones</a:t>
            </a:r>
            <a:r>
              <a:rPr lang="en-US" altLang="en-US" sz="1400" dirty="0"/>
              <a:t>. </a:t>
            </a:r>
          </a:p>
          <a:p>
            <a:pPr lvl="0" defTabSz="914400" eaLnBrk="0" fontAlgn="base" hangingPunct="0">
              <a:spcBef>
                <a:spcPct val="0"/>
              </a:spcBef>
              <a:spcAft>
                <a:spcPct val="0"/>
              </a:spcAft>
              <a:buFontTx/>
              <a:buChar char="•"/>
            </a:pPr>
            <a:r>
              <a:rPr lang="en-US" altLang="en-US" sz="1400" dirty="0"/>
              <a:t>Keep promoting top cuisines while running targeted campaigns for lower performers. </a:t>
            </a:r>
          </a:p>
          <a:p>
            <a:pPr lvl="0" defTabSz="914400" eaLnBrk="0" fontAlgn="base" hangingPunct="0">
              <a:spcBef>
                <a:spcPct val="0"/>
              </a:spcBef>
              <a:spcAft>
                <a:spcPct val="0"/>
              </a:spcAft>
              <a:buFontTx/>
              <a:buChar char="•"/>
            </a:pPr>
            <a:r>
              <a:rPr lang="en-US" altLang="en-US" sz="1400" b="1" dirty="0">
                <a:solidFill>
                  <a:schemeClr val="accent1"/>
                </a:solidFill>
              </a:rPr>
              <a:t>Use customer segmentation </a:t>
            </a:r>
            <a:r>
              <a:rPr lang="en-US" altLang="en-US" sz="1400" dirty="0"/>
              <a:t>(age, spend, cuisine) to </a:t>
            </a:r>
            <a:r>
              <a:rPr lang="en-US" altLang="en-US" sz="1400" b="1" dirty="0">
                <a:solidFill>
                  <a:schemeClr val="accent1"/>
                </a:solidFill>
              </a:rPr>
              <a:t>personalize offers </a:t>
            </a:r>
            <a:r>
              <a:rPr lang="en-US" altLang="en-US" sz="1400" dirty="0"/>
              <a:t>and </a:t>
            </a:r>
            <a:r>
              <a:rPr lang="en-US" altLang="en-US" sz="1400" b="1" dirty="0">
                <a:solidFill>
                  <a:schemeClr val="accent1"/>
                </a:solidFill>
              </a:rPr>
              <a:t>sustain the 4.82 avg</a:t>
            </a:r>
            <a:r>
              <a:rPr lang="en-US" altLang="en-US" sz="1400" b="1" dirty="0">
                <a:solidFill>
                  <a:srgbClr val="FF0000"/>
                </a:solidFill>
              </a:rPr>
              <a:t>. </a:t>
            </a:r>
            <a:r>
              <a:rPr lang="en-US" altLang="en-US" sz="1400" b="1" dirty="0">
                <a:solidFill>
                  <a:schemeClr val="accent1"/>
                </a:solidFill>
              </a:rPr>
              <a:t>orders/customer and 4.02 avg. rating</a:t>
            </a:r>
            <a:r>
              <a:rPr lang="en-US" altLang="en-US" sz="1400" dirty="0"/>
              <a:t>. </a:t>
            </a:r>
          </a:p>
        </p:txBody>
      </p:sp>
    </p:spTree>
    <p:extLst>
      <p:ext uri="{BB962C8B-B14F-4D97-AF65-F5344CB8AC3E}">
        <p14:creationId xmlns:p14="http://schemas.microsoft.com/office/powerpoint/2010/main" val="3156179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F9C404-CC7D-B024-E84C-4F5E2FDDBE18}"/>
              </a:ext>
            </a:extLst>
          </p:cNvPr>
          <p:cNvSpPr txBox="1"/>
          <p:nvPr/>
        </p:nvSpPr>
        <p:spPr>
          <a:xfrm>
            <a:off x="4688790" y="0"/>
            <a:ext cx="3470471" cy="461665"/>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dirty="0"/>
              <a:t>Restaurant Performance</a:t>
            </a:r>
          </a:p>
        </p:txBody>
      </p:sp>
      <p:sp>
        <p:nvSpPr>
          <p:cNvPr id="5" name="Rectangle 1">
            <a:extLst>
              <a:ext uri="{FF2B5EF4-FFF2-40B4-BE49-F238E27FC236}">
                <a16:creationId xmlns:a16="http://schemas.microsoft.com/office/drawing/2014/main" id="{2FAF84D3-B674-E9E0-5959-5926DE3D409A}"/>
              </a:ext>
            </a:extLst>
          </p:cNvPr>
          <p:cNvSpPr>
            <a:spLocks noChangeArrowheads="1"/>
          </p:cNvSpPr>
          <p:nvPr/>
        </p:nvSpPr>
        <p:spPr bwMode="auto">
          <a:xfrm>
            <a:off x="9142349" y="997193"/>
            <a:ext cx="299542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550 restaurants</a:t>
            </a:r>
            <a:r>
              <a:rPr lang="en-US" altLang="en-US" sz="1400" dirty="0">
                <a:solidFill>
                  <a:schemeClr val="accent1"/>
                </a:solidFill>
              </a:rPr>
              <a:t> </a:t>
            </a:r>
            <a:r>
              <a:rPr lang="en-US" altLang="en-US" sz="1400" dirty="0"/>
              <a:t>generated </a:t>
            </a:r>
            <a:r>
              <a:rPr lang="en-US" altLang="en-US" sz="1400" b="1" dirty="0">
                <a:solidFill>
                  <a:schemeClr val="accent1"/>
                </a:solidFill>
              </a:rPr>
              <a:t>₹56M revenue </a:t>
            </a:r>
            <a:r>
              <a:rPr lang="en-US" altLang="en-US" sz="1400" dirty="0"/>
              <a:t>with an average rating of 4.02, reflecting consistent restaurant performance.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Metropolitan region </a:t>
            </a:r>
            <a:r>
              <a:rPr lang="en-US" altLang="en-US" sz="1400" dirty="0"/>
              <a:t>has the </a:t>
            </a:r>
            <a:r>
              <a:rPr lang="en-US" altLang="en-US" sz="1400" b="1" dirty="0">
                <a:solidFill>
                  <a:schemeClr val="accent1"/>
                </a:solidFill>
              </a:rPr>
              <a:t>highest restaurant presence </a:t>
            </a:r>
            <a:r>
              <a:rPr lang="en-US" altLang="en-US" sz="1400" dirty="0"/>
              <a:t>(285), while Semi-Urban has only 48 restaurants, indicating expansion opportunities.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Top restaurants each generated over ₹400K revenue </a:t>
            </a:r>
            <a:r>
              <a:rPr lang="en-US" altLang="en-US" sz="1400" dirty="0"/>
              <a:t>while maintaining stable ratings and delivery times.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Customer ratings remain consistent across delivery times</a:t>
            </a:r>
            <a:r>
              <a:rPr lang="en-US" altLang="en-US" sz="1400" dirty="0"/>
              <a:t>, suggesting restaurant quality influences satisfaction more than delivery speed. </a:t>
            </a:r>
          </a:p>
        </p:txBody>
      </p:sp>
      <p:pic>
        <p:nvPicPr>
          <p:cNvPr id="7" name="Picture 6">
            <a:extLst>
              <a:ext uri="{FF2B5EF4-FFF2-40B4-BE49-F238E27FC236}">
                <a16:creationId xmlns:a16="http://schemas.microsoft.com/office/drawing/2014/main" id="{C566B3D5-2990-7919-6649-1FE005A166E6}"/>
              </a:ext>
            </a:extLst>
          </p:cNvPr>
          <p:cNvPicPr>
            <a:picLocks noChangeAspect="1"/>
          </p:cNvPicPr>
          <p:nvPr/>
        </p:nvPicPr>
        <p:blipFill>
          <a:blip r:embed="rId2"/>
          <a:stretch>
            <a:fillRect/>
          </a:stretch>
        </p:blipFill>
        <p:spPr>
          <a:xfrm>
            <a:off x="54229" y="461665"/>
            <a:ext cx="9088118" cy="4940329"/>
          </a:xfrm>
          <a:prstGeom prst="rect">
            <a:avLst/>
          </a:prstGeom>
        </p:spPr>
      </p:pic>
      <p:sp>
        <p:nvSpPr>
          <p:cNvPr id="9" name="TextBox 8">
            <a:extLst>
              <a:ext uri="{FF2B5EF4-FFF2-40B4-BE49-F238E27FC236}">
                <a16:creationId xmlns:a16="http://schemas.microsoft.com/office/drawing/2014/main" id="{D0233466-6D4D-CFA3-ACAB-D180E80E992D}"/>
              </a:ext>
            </a:extLst>
          </p:cNvPr>
          <p:cNvSpPr txBox="1"/>
          <p:nvPr/>
        </p:nvSpPr>
        <p:spPr>
          <a:xfrm>
            <a:off x="2444262" y="5503039"/>
            <a:ext cx="8880230" cy="1169551"/>
          </a:xfrm>
          <a:prstGeom prst="rect">
            <a:avLst/>
          </a:prstGeom>
          <a:noFill/>
        </p:spPr>
        <p:txBody>
          <a:bodyPr wrap="square">
            <a:spAutoFit/>
          </a:bodyPr>
          <a:lstStyle/>
          <a:p>
            <a:pPr>
              <a:buNone/>
            </a:pPr>
            <a:r>
              <a:rPr lang="en-US" sz="1400" b="1" dirty="0"/>
              <a:t>Business Recommendations</a:t>
            </a:r>
          </a:p>
          <a:p>
            <a:pPr marL="285750" indent="-285750">
              <a:buFont typeface="Arial" panose="020B0604020202020204" pitchFamily="34" charset="0"/>
              <a:buChar char="•"/>
            </a:pPr>
            <a:r>
              <a:rPr lang="en-US" sz="1400" b="1" dirty="0">
                <a:solidFill>
                  <a:schemeClr val="accent1"/>
                </a:solidFill>
              </a:rPr>
              <a:t>Expand restaurant </a:t>
            </a:r>
            <a:r>
              <a:rPr lang="en-US" sz="1400" dirty="0"/>
              <a:t>partnerships in Semi-Urban regions to increase market coverage. </a:t>
            </a:r>
          </a:p>
          <a:p>
            <a:pPr marL="285750" indent="-285750">
              <a:buFont typeface="Arial" panose="020B0604020202020204" pitchFamily="34" charset="0"/>
              <a:buChar char="•"/>
            </a:pPr>
            <a:r>
              <a:rPr lang="en-US" sz="1400" b="1" dirty="0">
                <a:solidFill>
                  <a:schemeClr val="accent1"/>
                </a:solidFill>
              </a:rPr>
              <a:t>Replicate</a:t>
            </a:r>
            <a:r>
              <a:rPr lang="en-US" sz="1400" dirty="0"/>
              <a:t> best </a:t>
            </a:r>
            <a:r>
              <a:rPr lang="en-US" sz="1400" b="1" dirty="0">
                <a:solidFill>
                  <a:schemeClr val="accent1"/>
                </a:solidFill>
              </a:rPr>
              <a:t>practices</a:t>
            </a:r>
            <a:r>
              <a:rPr lang="en-US" sz="1400" dirty="0"/>
              <a:t> from </a:t>
            </a:r>
            <a:r>
              <a:rPr lang="en-US" sz="1400" b="1" dirty="0">
                <a:solidFill>
                  <a:schemeClr val="accent1"/>
                </a:solidFill>
              </a:rPr>
              <a:t>top-performing restaurants </a:t>
            </a:r>
            <a:r>
              <a:rPr lang="en-US" sz="1400" dirty="0"/>
              <a:t>across </a:t>
            </a:r>
            <a:r>
              <a:rPr lang="en-US" sz="1400" b="1" dirty="0">
                <a:solidFill>
                  <a:schemeClr val="accent1"/>
                </a:solidFill>
              </a:rPr>
              <a:t>lower-performing outlets</a:t>
            </a:r>
            <a:r>
              <a:rPr lang="en-US" sz="1400" dirty="0"/>
              <a:t>. </a:t>
            </a:r>
          </a:p>
          <a:p>
            <a:pPr marL="285750" indent="-285750">
              <a:buFont typeface="Arial" panose="020B0604020202020204" pitchFamily="34" charset="0"/>
              <a:buChar char="•"/>
            </a:pPr>
            <a:r>
              <a:rPr lang="en-US" sz="1400" dirty="0"/>
              <a:t>Focus on improving food quality and customer experience to maintain high ratings. </a:t>
            </a:r>
          </a:p>
          <a:p>
            <a:pPr marL="285750" indent="-285750">
              <a:buFont typeface="Arial" panose="020B0604020202020204" pitchFamily="34" charset="0"/>
              <a:buChar char="•"/>
            </a:pPr>
            <a:r>
              <a:rPr lang="en-US" sz="1400" dirty="0"/>
              <a:t>Continuously monitor restaurant KPIs to identify improvement opportunities.</a:t>
            </a:r>
          </a:p>
        </p:txBody>
      </p:sp>
    </p:spTree>
    <p:extLst>
      <p:ext uri="{BB962C8B-B14F-4D97-AF65-F5344CB8AC3E}">
        <p14:creationId xmlns:p14="http://schemas.microsoft.com/office/powerpoint/2010/main" val="523117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EC44A5-A7CE-CD24-B83E-61CA7A9C0B90}"/>
              </a:ext>
            </a:extLst>
          </p:cNvPr>
          <p:cNvSpPr txBox="1"/>
          <p:nvPr/>
        </p:nvSpPr>
        <p:spPr>
          <a:xfrm>
            <a:off x="4381866" y="0"/>
            <a:ext cx="4143156" cy="707886"/>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Delivery Partner Performance Performance</a:t>
            </a:r>
          </a:p>
        </p:txBody>
      </p:sp>
      <p:pic>
        <p:nvPicPr>
          <p:cNvPr id="4" name="Picture 3">
            <a:extLst>
              <a:ext uri="{FF2B5EF4-FFF2-40B4-BE49-F238E27FC236}">
                <a16:creationId xmlns:a16="http://schemas.microsoft.com/office/drawing/2014/main" id="{28476469-4941-5131-2F63-311644394B10}"/>
              </a:ext>
            </a:extLst>
          </p:cNvPr>
          <p:cNvPicPr>
            <a:picLocks noChangeAspect="1"/>
          </p:cNvPicPr>
          <p:nvPr/>
        </p:nvPicPr>
        <p:blipFill>
          <a:blip r:embed="rId2"/>
          <a:stretch>
            <a:fillRect/>
          </a:stretch>
        </p:blipFill>
        <p:spPr>
          <a:xfrm>
            <a:off x="154477" y="400111"/>
            <a:ext cx="8750372" cy="5156628"/>
          </a:xfrm>
          <a:prstGeom prst="rect">
            <a:avLst/>
          </a:prstGeom>
        </p:spPr>
      </p:pic>
      <p:sp>
        <p:nvSpPr>
          <p:cNvPr id="6" name="TextBox 5">
            <a:extLst>
              <a:ext uri="{FF2B5EF4-FFF2-40B4-BE49-F238E27FC236}">
                <a16:creationId xmlns:a16="http://schemas.microsoft.com/office/drawing/2014/main" id="{91B14224-0CB4-E8C3-EE8F-8DA7229F5354}"/>
              </a:ext>
            </a:extLst>
          </p:cNvPr>
          <p:cNvSpPr txBox="1"/>
          <p:nvPr/>
        </p:nvSpPr>
        <p:spPr>
          <a:xfrm>
            <a:off x="2342270" y="5556739"/>
            <a:ext cx="8321041" cy="1169551"/>
          </a:xfrm>
          <a:prstGeom prst="rect">
            <a:avLst/>
          </a:prstGeom>
          <a:noFill/>
        </p:spPr>
        <p:txBody>
          <a:bodyPr wrap="square">
            <a:spAutoFit/>
          </a:bodyPr>
          <a:lstStyle/>
          <a:p>
            <a:r>
              <a:rPr lang="en-US" sz="1400" b="1" dirty="0"/>
              <a:t>Business Recommendations</a:t>
            </a:r>
            <a:br>
              <a:rPr lang="en-US" sz="1400" dirty="0"/>
            </a:br>
            <a:r>
              <a:rPr lang="en-US" sz="1400" dirty="0"/>
              <a:t>Rely more on </a:t>
            </a:r>
            <a:r>
              <a:rPr lang="en-US" sz="1400" b="1" dirty="0">
                <a:solidFill>
                  <a:schemeClr val="accent1"/>
                </a:solidFill>
              </a:rPr>
              <a:t>bikes and scooters for deliveries since they're both faster and more efficient than cars</a:t>
            </a:r>
            <a:r>
              <a:rPr lang="en-US" sz="1400" dirty="0"/>
              <a:t>, while investigating </a:t>
            </a:r>
            <a:r>
              <a:rPr lang="en-US" sz="1400" b="1" dirty="0">
                <a:solidFill>
                  <a:schemeClr val="accent1"/>
                </a:solidFill>
              </a:rPr>
              <a:t>Bicycle's</a:t>
            </a:r>
            <a:r>
              <a:rPr lang="en-US" sz="1400" dirty="0"/>
              <a:t> disproportionately </a:t>
            </a:r>
            <a:r>
              <a:rPr lang="en-US" sz="1400" b="1" dirty="0">
                <a:solidFill>
                  <a:schemeClr val="accent1"/>
                </a:solidFill>
              </a:rPr>
              <a:t>high delay rate (30%) despite low volume </a:t>
            </a:r>
            <a:r>
              <a:rPr lang="en-US" sz="1400" dirty="0"/>
              <a:t>— it may not be a good fit for longer or time-sensitive routes. Most urgently, </a:t>
            </a:r>
            <a:r>
              <a:rPr lang="en-US" sz="1400" b="1" dirty="0">
                <a:solidFill>
                  <a:schemeClr val="accent1"/>
                </a:solidFill>
              </a:rPr>
              <a:t>focus on improving the low 16% Fast Delivery Rate</a:t>
            </a:r>
            <a:r>
              <a:rPr lang="en-US" sz="1400" dirty="0"/>
              <a:t>, since this remains the biggest gap between partner ratings and actual delivery performance.</a:t>
            </a:r>
          </a:p>
        </p:txBody>
      </p:sp>
      <p:sp>
        <p:nvSpPr>
          <p:cNvPr id="7" name="Rectangle 1">
            <a:extLst>
              <a:ext uri="{FF2B5EF4-FFF2-40B4-BE49-F238E27FC236}">
                <a16:creationId xmlns:a16="http://schemas.microsoft.com/office/drawing/2014/main" id="{CAF1E284-E93F-BF13-159E-117A524D585C}"/>
              </a:ext>
            </a:extLst>
          </p:cNvPr>
          <p:cNvSpPr>
            <a:spLocks noChangeArrowheads="1"/>
          </p:cNvSpPr>
          <p:nvPr/>
        </p:nvSpPr>
        <p:spPr bwMode="auto">
          <a:xfrm>
            <a:off x="9031458" y="411559"/>
            <a:ext cx="3006065"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400" dirty="0"/>
              <a:t>The platform has </a:t>
            </a:r>
            <a:r>
              <a:rPr lang="en-US" altLang="en-US" sz="1400" b="1" dirty="0">
                <a:solidFill>
                  <a:schemeClr val="accent1"/>
                </a:solidFill>
              </a:rPr>
              <a:t>1,100 delivery partners </a:t>
            </a:r>
            <a:r>
              <a:rPr lang="en-US" altLang="en-US" sz="1400" dirty="0"/>
              <a:t>with an average delivery efficiency of 79.13% and an average delivery time of 35.51 minutes.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Bikes handle the highest delivery volume (533 deliveries), </a:t>
            </a:r>
            <a:r>
              <a:rPr lang="en-US" altLang="en-US" sz="1400" dirty="0"/>
              <a:t>while scooters achieve the highest delivery efficiency (79.81%), making two-wheelers the strongest performers.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Most delivery partner ratings are concentrated around 4.0</a:t>
            </a:r>
            <a:r>
              <a:rPr lang="en-US" altLang="en-US" sz="1400" dirty="0"/>
              <a:t>, indicating consistently positive customer feedback across delivery partners.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dirty="0"/>
              <a:t>Although most deliveries are successful</a:t>
            </a:r>
            <a:r>
              <a:rPr lang="en-US" altLang="en-US" sz="1400" b="1" dirty="0">
                <a:solidFill>
                  <a:schemeClr val="accent1"/>
                </a:solidFill>
              </a:rPr>
              <a:t>, the fast delivery rate is only 16%</a:t>
            </a:r>
            <a:r>
              <a:rPr lang="en-US" altLang="en-US" sz="1400" dirty="0"/>
              <a:t>, highlighting opportunities to </a:t>
            </a:r>
            <a:r>
              <a:rPr lang="en-US" altLang="en-US" sz="1400" b="1" dirty="0">
                <a:solidFill>
                  <a:schemeClr val="accent1"/>
                </a:solidFill>
              </a:rPr>
              <a:t>improve delivery speed and service responsiveness</a:t>
            </a:r>
            <a:r>
              <a:rPr lang="en-US" altLang="en-US" sz="1400" dirty="0"/>
              <a:t>. </a:t>
            </a:r>
          </a:p>
        </p:txBody>
      </p:sp>
    </p:spTree>
    <p:extLst>
      <p:ext uri="{BB962C8B-B14F-4D97-AF65-F5344CB8AC3E}">
        <p14:creationId xmlns:p14="http://schemas.microsoft.com/office/powerpoint/2010/main" val="1683296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A9A93E-683C-62DE-050F-88EFDD4BB061}"/>
              </a:ext>
            </a:extLst>
          </p:cNvPr>
          <p:cNvSpPr txBox="1"/>
          <p:nvPr/>
        </p:nvSpPr>
        <p:spPr>
          <a:xfrm>
            <a:off x="4276358" y="0"/>
            <a:ext cx="3639284"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Business Trends &amp; Performance</a:t>
            </a:r>
          </a:p>
        </p:txBody>
      </p:sp>
      <p:pic>
        <p:nvPicPr>
          <p:cNvPr id="4" name="Picture 3">
            <a:extLst>
              <a:ext uri="{FF2B5EF4-FFF2-40B4-BE49-F238E27FC236}">
                <a16:creationId xmlns:a16="http://schemas.microsoft.com/office/drawing/2014/main" id="{9D8C01E8-353C-181D-3B1D-977C98AF112A}"/>
              </a:ext>
            </a:extLst>
          </p:cNvPr>
          <p:cNvPicPr>
            <a:picLocks noChangeAspect="1"/>
          </p:cNvPicPr>
          <p:nvPr/>
        </p:nvPicPr>
        <p:blipFill>
          <a:blip r:embed="rId2"/>
          <a:stretch>
            <a:fillRect/>
          </a:stretch>
        </p:blipFill>
        <p:spPr>
          <a:xfrm>
            <a:off x="98476" y="400110"/>
            <a:ext cx="8679764" cy="5201376"/>
          </a:xfrm>
          <a:prstGeom prst="rect">
            <a:avLst/>
          </a:prstGeom>
        </p:spPr>
      </p:pic>
      <p:sp>
        <p:nvSpPr>
          <p:cNvPr id="5" name="Rectangle 1">
            <a:extLst>
              <a:ext uri="{FF2B5EF4-FFF2-40B4-BE49-F238E27FC236}">
                <a16:creationId xmlns:a16="http://schemas.microsoft.com/office/drawing/2014/main" id="{061E89F3-344C-087A-55BD-84D61D041951}"/>
              </a:ext>
            </a:extLst>
          </p:cNvPr>
          <p:cNvSpPr>
            <a:spLocks noChangeArrowheads="1"/>
          </p:cNvSpPr>
          <p:nvPr/>
        </p:nvSpPr>
        <p:spPr bwMode="auto">
          <a:xfrm>
            <a:off x="8989256" y="589618"/>
            <a:ext cx="3104268"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Revenue and order volume </a:t>
            </a:r>
            <a:r>
              <a:rPr lang="en-US" altLang="en-US" sz="1400" dirty="0">
                <a:solidFill>
                  <a:schemeClr val="accent1"/>
                </a:solidFill>
              </a:rPr>
              <a:t>show a </a:t>
            </a:r>
            <a:r>
              <a:rPr lang="en-US" altLang="en-US" sz="1400" b="1" dirty="0">
                <a:solidFill>
                  <a:schemeClr val="accent1"/>
                </a:solidFill>
              </a:rPr>
              <a:t>clear seasonal trend</a:t>
            </a:r>
            <a:r>
              <a:rPr lang="en-US" altLang="en-US" sz="1400" dirty="0"/>
              <a:t>, with both peaking in </a:t>
            </a:r>
            <a:r>
              <a:rPr lang="en-US" altLang="en-US" sz="1400" b="1" dirty="0">
                <a:solidFill>
                  <a:schemeClr val="accent1"/>
                </a:solidFill>
              </a:rPr>
              <a:t>October and remaining strong through November and December, indicating high festive-season demand</a:t>
            </a:r>
            <a:r>
              <a:rPr lang="en-US" altLang="en-US" sz="1400" dirty="0"/>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b="1" dirty="0">
                <a:solidFill>
                  <a:schemeClr val="accent1"/>
                </a:solidFill>
              </a:rPr>
              <a:t>Average Order Value </a:t>
            </a:r>
            <a:r>
              <a:rPr lang="en-US" altLang="en-US" sz="1400" dirty="0"/>
              <a:t>remains </a:t>
            </a:r>
            <a:r>
              <a:rPr lang="en-US" altLang="en-US" sz="1400" b="1" dirty="0">
                <a:solidFill>
                  <a:schemeClr val="accent1"/>
                </a:solidFill>
              </a:rPr>
              <a:t>stable</a:t>
            </a:r>
            <a:r>
              <a:rPr lang="en-US" altLang="en-US" sz="1400" dirty="0"/>
              <a:t> at around </a:t>
            </a:r>
            <a:r>
              <a:rPr lang="en-US" altLang="en-US" sz="1400" b="1" dirty="0">
                <a:solidFill>
                  <a:schemeClr val="accent1"/>
                </a:solidFill>
              </a:rPr>
              <a:t>₹546 </a:t>
            </a:r>
            <a:r>
              <a:rPr lang="en-US" altLang="en-US" sz="1400" dirty="0"/>
              <a:t>throughout the year, suggesting consistent customer spending patterns despite fluctuations in order volume.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dirty="0"/>
              <a:t>Average Customer Rating stays close to 4.0 across all months, indicating consistently positive customer satisfaction and service quality. </a:t>
            </a:r>
          </a:p>
          <a:p>
            <a:pPr marL="285750" lvl="0" indent="-285750" defTabSz="914400" eaLnBrk="0" fontAlgn="base" hangingPunct="0">
              <a:spcBef>
                <a:spcPct val="0"/>
              </a:spcBef>
              <a:spcAft>
                <a:spcPct val="0"/>
              </a:spcAft>
              <a:buFont typeface="Arial" panose="020B0604020202020204" pitchFamily="34" charset="0"/>
              <a:buChar char="•"/>
            </a:pPr>
            <a:r>
              <a:rPr lang="en-US" altLang="en-US" sz="1400" dirty="0"/>
              <a:t>Business growth is primarily driven by higher order volumes during peak months rather than significant changes in customer spending or ratings. </a:t>
            </a:r>
          </a:p>
        </p:txBody>
      </p:sp>
      <p:sp>
        <p:nvSpPr>
          <p:cNvPr id="7" name="TextBox 6">
            <a:extLst>
              <a:ext uri="{FF2B5EF4-FFF2-40B4-BE49-F238E27FC236}">
                <a16:creationId xmlns:a16="http://schemas.microsoft.com/office/drawing/2014/main" id="{39B1DCEC-78B3-F8AB-018A-AEF7D490A582}"/>
              </a:ext>
            </a:extLst>
          </p:cNvPr>
          <p:cNvSpPr txBox="1"/>
          <p:nvPr/>
        </p:nvSpPr>
        <p:spPr>
          <a:xfrm>
            <a:off x="2637693" y="5633398"/>
            <a:ext cx="7125285" cy="1169551"/>
          </a:xfrm>
          <a:prstGeom prst="rect">
            <a:avLst/>
          </a:prstGeom>
          <a:noFill/>
        </p:spPr>
        <p:txBody>
          <a:bodyPr wrap="square">
            <a:spAutoFit/>
          </a:bodyPr>
          <a:lstStyle/>
          <a:p>
            <a:r>
              <a:rPr lang="en-US" sz="1400" b="1" dirty="0"/>
              <a:t>Business Recommendations</a:t>
            </a:r>
            <a:br>
              <a:rPr lang="en-US" sz="1400" dirty="0"/>
            </a:br>
            <a:r>
              <a:rPr lang="en-US" sz="1400" b="1" dirty="0">
                <a:solidFill>
                  <a:schemeClr val="accent1"/>
                </a:solidFill>
              </a:rPr>
              <a:t>Plan ahead </a:t>
            </a:r>
            <a:r>
              <a:rPr lang="en-US" sz="1400" dirty="0"/>
              <a:t>for the </a:t>
            </a:r>
            <a:r>
              <a:rPr lang="en-US" sz="1400" b="1" dirty="0">
                <a:solidFill>
                  <a:schemeClr val="accent1"/>
                </a:solidFill>
              </a:rPr>
              <a:t>October–December demand </a:t>
            </a:r>
            <a:r>
              <a:rPr lang="en-US" sz="1400" dirty="0"/>
              <a:t>spike by </a:t>
            </a:r>
            <a:r>
              <a:rPr lang="en-US" sz="1400" b="1" dirty="0">
                <a:solidFill>
                  <a:schemeClr val="accent1"/>
                </a:solidFill>
              </a:rPr>
              <a:t>having extra delivery partners and restaurant capacity</a:t>
            </a:r>
            <a:r>
              <a:rPr lang="en-US" sz="1400" dirty="0"/>
              <a:t> ready in advance; since </a:t>
            </a:r>
            <a:r>
              <a:rPr lang="en-US" sz="1400" b="1" dirty="0">
                <a:solidFill>
                  <a:schemeClr val="accent1"/>
                </a:solidFill>
              </a:rPr>
              <a:t>order value per customer isn't growing</a:t>
            </a:r>
            <a:r>
              <a:rPr lang="en-US" sz="1400" dirty="0"/>
              <a:t>, explore </a:t>
            </a:r>
            <a:r>
              <a:rPr lang="en-US" sz="1400" b="1" dirty="0">
                <a:solidFill>
                  <a:schemeClr val="accent1"/>
                </a:solidFill>
              </a:rPr>
              <a:t>upselling or combo offers to increase spend per order</a:t>
            </a:r>
            <a:r>
              <a:rPr lang="en-US" sz="1400" dirty="0"/>
              <a:t>, and look into February's rating dip to rule out a recurring seasonal service issue.</a:t>
            </a:r>
          </a:p>
        </p:txBody>
      </p:sp>
    </p:spTree>
    <p:extLst>
      <p:ext uri="{BB962C8B-B14F-4D97-AF65-F5344CB8AC3E}">
        <p14:creationId xmlns:p14="http://schemas.microsoft.com/office/powerpoint/2010/main" val="3810629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FD9410-7191-0989-A9A2-886750095A1F}"/>
              </a:ext>
            </a:extLst>
          </p:cNvPr>
          <p:cNvSpPr txBox="1"/>
          <p:nvPr/>
        </p:nvSpPr>
        <p:spPr>
          <a:xfrm>
            <a:off x="4276358" y="0"/>
            <a:ext cx="4769168"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Statistical Analysis – Joint Probability</a:t>
            </a:r>
          </a:p>
        </p:txBody>
      </p:sp>
      <p:sp>
        <p:nvSpPr>
          <p:cNvPr id="3" name="Rectangle 2">
            <a:extLst>
              <a:ext uri="{FF2B5EF4-FFF2-40B4-BE49-F238E27FC236}">
                <a16:creationId xmlns:a16="http://schemas.microsoft.com/office/drawing/2014/main" id="{76514A17-CBF6-06D5-D0C7-97F25A379B35}"/>
              </a:ext>
            </a:extLst>
          </p:cNvPr>
          <p:cNvSpPr/>
          <p:nvPr/>
        </p:nvSpPr>
        <p:spPr>
          <a:xfrm>
            <a:off x="1406769" y="285928"/>
            <a:ext cx="10635176" cy="5142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latin typeface="+mj-lt"/>
              </a:rPr>
              <a:t>Business question : </a:t>
            </a:r>
            <a:r>
              <a:rPr lang="en-US" sz="1600" b="1" dirty="0">
                <a:solidFill>
                  <a:schemeClr val="tx1"/>
                </a:solidFill>
                <a:latin typeface="+mj-lt"/>
              </a:rPr>
              <a:t>What is the probability that an order experiences both a slow delivery and a low customer rating?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864147-85CF-166F-E1A1-6D1C584D8215}"/>
                  </a:ext>
                </a:extLst>
              </p:cNvPr>
              <p:cNvSpPr txBox="1"/>
              <p:nvPr/>
            </p:nvSpPr>
            <p:spPr>
              <a:xfrm>
                <a:off x="1531400" y="719217"/>
                <a:ext cx="5574323" cy="2370714"/>
              </a:xfrm>
              <a:prstGeom prst="rect">
                <a:avLst/>
              </a:prstGeom>
              <a:noFill/>
            </p:spPr>
            <p:txBody>
              <a:bodyPr wrap="square">
                <a:spAutoFit/>
              </a:bodyPr>
              <a:lstStyle/>
              <a:p>
                <a:pPr>
                  <a:buNone/>
                </a:pPr>
                <a:r>
                  <a:rPr lang="en-US" sz="1600" b="1" dirty="0">
                    <a:solidFill>
                      <a:srgbClr val="FF0000"/>
                    </a:solidFill>
                    <a:latin typeface="+mj-lt"/>
                  </a:rPr>
                  <a:t>Methodology:</a:t>
                </a:r>
              </a:p>
              <a:p>
                <a:pPr>
                  <a:buFont typeface="Arial" panose="020B0604020202020204" pitchFamily="34" charset="0"/>
                  <a:buChar char="•"/>
                </a:pPr>
                <a:r>
                  <a:rPr lang="en-US" sz="1600" b="1" dirty="0"/>
                  <a:t>Total Orders Analyzed</a:t>
                </a:r>
                <a:r>
                  <a:rPr lang="en-US" dirty="0"/>
                  <a:t>: </a:t>
                </a:r>
                <a:r>
                  <a:rPr lang="en-US" sz="1600" b="1" dirty="0"/>
                  <a:t>100,000</a:t>
                </a:r>
                <a:r>
                  <a:rPr lang="en-US" dirty="0"/>
                  <a:t> </a:t>
                </a:r>
              </a:p>
              <a:p>
                <a:pPr>
                  <a:buFont typeface="Arial" panose="020B0604020202020204" pitchFamily="34" charset="0"/>
                  <a:buChar char="•"/>
                </a:pPr>
                <a:r>
                  <a:rPr lang="en-US" sz="1600" b="1" dirty="0"/>
                  <a:t>Joint Event</a:t>
                </a:r>
                <a:r>
                  <a:rPr lang="en-US" dirty="0"/>
                  <a:t>: </a:t>
                </a:r>
              </a:p>
              <a:p>
                <a:pPr marL="742950" lvl="1" indent="-285750">
                  <a:buFont typeface="Arial" panose="020B0604020202020204" pitchFamily="34" charset="0"/>
                  <a:buChar char="•"/>
                </a:pPr>
                <a:r>
                  <a:rPr lang="en-US" sz="1600" dirty="0"/>
                  <a:t>Delivery Time Category = </a:t>
                </a:r>
                <a:r>
                  <a:rPr lang="en-US" sz="1600" b="1" dirty="0"/>
                  <a:t>Slow</a:t>
                </a:r>
                <a:r>
                  <a:rPr lang="en-US" sz="1600" dirty="0"/>
                  <a:t> </a:t>
                </a:r>
              </a:p>
              <a:p>
                <a:pPr marL="742950" lvl="1" indent="-285750">
                  <a:buFont typeface="Arial" panose="020B0604020202020204" pitchFamily="34" charset="0"/>
                  <a:buChar char="•"/>
                </a:pPr>
                <a:r>
                  <a:rPr lang="en-US" sz="1600" dirty="0"/>
                  <a:t>Customer Rating </a:t>
                </a:r>
                <a:r>
                  <a:rPr lang="en-US" sz="1600" b="1" dirty="0"/>
                  <a:t>&lt; 4</a:t>
                </a:r>
                <a:r>
                  <a:rPr lang="en-US" sz="1600" dirty="0"/>
                  <a:t> </a:t>
                </a:r>
              </a:p>
              <a:p>
                <a:pPr>
                  <a:buFont typeface="Arial" panose="020B0604020202020204" pitchFamily="34" charset="0"/>
                  <a:buChar char="•"/>
                </a:pPr>
                <a:r>
                  <a:rPr lang="en-US" sz="1600" b="1" dirty="0"/>
                  <a:t>Joint Probability Formula</a:t>
                </a:r>
                <a:r>
                  <a:rPr lang="en-US" dirty="0"/>
                  <a:t>: </a:t>
                </a:r>
              </a:p>
              <a:p>
                <a:pPr>
                  <a:buNone/>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𝑃</m:t>
                      </m:r>
                      <m:d>
                        <m:dPr>
                          <m:ctrlPr>
                            <a:rPr lang="ar-AE" sz="1600" i="1">
                              <a:latin typeface="Cambria Math" panose="02040503050406030204" pitchFamily="18" charset="0"/>
                            </a:rPr>
                          </m:ctrlPr>
                        </m:dPr>
                        <m:e>
                          <m:r>
                            <m:rPr>
                              <m:nor/>
                            </m:rPr>
                            <a:rPr lang="en-US" sz="1600" b="0" i="1">
                              <a:latin typeface="Cambria Math" panose="02040503050406030204" pitchFamily="18" charset="0"/>
                            </a:rPr>
                            <m:t>Slow</m:t>
                          </m:r>
                          <m:r>
                            <m:rPr>
                              <m:nor/>
                            </m:rPr>
                            <a:rPr lang="en-US" sz="1600" b="0" i="1">
                              <a:latin typeface="Cambria Math" panose="02040503050406030204" pitchFamily="18" charset="0"/>
                            </a:rPr>
                            <m:t> </m:t>
                          </m:r>
                          <m:r>
                            <m:rPr>
                              <m:nor/>
                            </m:rPr>
                            <a:rPr lang="en-US" sz="1600" b="0" i="1">
                              <a:latin typeface="Cambria Math" panose="02040503050406030204" pitchFamily="18" charset="0"/>
                            </a:rPr>
                            <m:t>Delivery</m:t>
                          </m:r>
                          <m:r>
                            <a:rPr lang="en-US" sz="1600" b="0" i="0">
                              <a:latin typeface="Cambria Math" panose="02040503050406030204" pitchFamily="18" charset="0"/>
                            </a:rPr>
                            <m:t>∩</m:t>
                          </m:r>
                          <m:r>
                            <m:rPr>
                              <m:nor/>
                            </m:rPr>
                            <a:rPr lang="en-US" sz="1600" b="0" i="1">
                              <a:latin typeface="Cambria Math" panose="02040503050406030204" pitchFamily="18" charset="0"/>
                            </a:rPr>
                            <m:t>Low</m:t>
                          </m:r>
                          <m:r>
                            <m:rPr>
                              <m:nor/>
                            </m:rPr>
                            <a:rPr lang="en-US" sz="1600" b="0" i="1">
                              <a:latin typeface="Cambria Math" panose="02040503050406030204" pitchFamily="18" charset="0"/>
                            </a:rPr>
                            <m:t> </m:t>
                          </m:r>
                          <m:r>
                            <m:rPr>
                              <m:nor/>
                            </m:rPr>
                            <a:rPr lang="en-US" sz="1600" b="0" i="1">
                              <a:latin typeface="Cambria Math" panose="02040503050406030204" pitchFamily="18" charset="0"/>
                            </a:rPr>
                            <m:t>Rating</m:t>
                          </m:r>
                        </m:e>
                      </m:d>
                      <m:r>
                        <a:rPr lang="ar-AE" sz="1600" b="0" i="0">
                          <a:latin typeface="Cambria Math" panose="02040503050406030204" pitchFamily="18" charset="0"/>
                        </a:rPr>
                        <m:t>=</m:t>
                      </m:r>
                      <m:f>
                        <m:fPr>
                          <m:ctrlPr>
                            <a:rPr lang="ar-AE" sz="1600" b="0" i="1">
                              <a:latin typeface="Cambria Math" panose="02040503050406030204" pitchFamily="18" charset="0"/>
                            </a:rPr>
                          </m:ctrlPr>
                        </m:fPr>
                        <m:num>
                          <m:r>
                            <m:rPr>
                              <m:nor/>
                            </m:rPr>
                            <a:rPr lang="en-US" sz="1600" b="0" i="1">
                              <a:latin typeface="Cambria Math" panose="02040503050406030204" pitchFamily="18" charset="0"/>
                            </a:rPr>
                            <m:t>Orders</m:t>
                          </m:r>
                          <m:r>
                            <m:rPr>
                              <m:nor/>
                            </m:rPr>
                            <a:rPr lang="en-US" sz="1600" b="0" i="1">
                              <a:latin typeface="Cambria Math" panose="02040503050406030204" pitchFamily="18" charset="0"/>
                            </a:rPr>
                            <m:t> </m:t>
                          </m:r>
                          <m:r>
                            <m:rPr>
                              <m:nor/>
                            </m:rPr>
                            <a:rPr lang="en-US" sz="1600" b="0" i="1">
                              <a:latin typeface="Cambria Math" panose="02040503050406030204" pitchFamily="18" charset="0"/>
                            </a:rPr>
                            <m:t>satisfying</m:t>
                          </m:r>
                          <m:r>
                            <m:rPr>
                              <m:nor/>
                            </m:rPr>
                            <a:rPr lang="en-US" sz="1600" b="0" i="1">
                              <a:latin typeface="Cambria Math" panose="02040503050406030204" pitchFamily="18" charset="0"/>
                            </a:rPr>
                            <m:t> </m:t>
                          </m:r>
                          <m:r>
                            <m:rPr>
                              <m:nor/>
                            </m:rPr>
                            <a:rPr lang="en-US" sz="1600" b="0" i="1">
                              <a:latin typeface="Cambria Math" panose="02040503050406030204" pitchFamily="18" charset="0"/>
                            </a:rPr>
                            <m:t>both</m:t>
                          </m:r>
                          <m:r>
                            <m:rPr>
                              <m:nor/>
                            </m:rPr>
                            <a:rPr lang="en-US" sz="1600" b="0" i="1">
                              <a:latin typeface="Cambria Math" panose="02040503050406030204" pitchFamily="18" charset="0"/>
                            </a:rPr>
                            <m:t> </m:t>
                          </m:r>
                          <m:r>
                            <m:rPr>
                              <m:nor/>
                            </m:rPr>
                            <a:rPr lang="en-US" sz="1600" b="0" i="1">
                              <a:latin typeface="Cambria Math" panose="02040503050406030204" pitchFamily="18" charset="0"/>
                            </a:rPr>
                            <m:t>conditions</m:t>
                          </m:r>
                        </m:num>
                        <m:den>
                          <m:r>
                            <m:rPr>
                              <m:nor/>
                            </m:rPr>
                            <a:rPr lang="en-US" sz="1600" b="0" i="1">
                              <a:latin typeface="Cambria Math" panose="02040503050406030204" pitchFamily="18" charset="0"/>
                            </a:rPr>
                            <m:t>Total</m:t>
                          </m:r>
                          <m:r>
                            <m:rPr>
                              <m:nor/>
                            </m:rPr>
                            <a:rPr lang="en-US" sz="1600" b="0" i="1">
                              <a:latin typeface="Cambria Math" panose="02040503050406030204" pitchFamily="18" charset="0"/>
                            </a:rPr>
                            <m:t> </m:t>
                          </m:r>
                          <m:r>
                            <m:rPr>
                              <m:nor/>
                            </m:rPr>
                            <a:rPr lang="en-US" sz="1600" b="0" i="1">
                              <a:latin typeface="Cambria Math" panose="02040503050406030204" pitchFamily="18" charset="0"/>
                            </a:rPr>
                            <m:t>Orders</m:t>
                          </m:r>
                        </m:den>
                      </m:f>
                    </m:oMath>
                  </m:oMathPara>
                </a14:m>
                <a:endParaRPr lang="ar-AE" b="0" dirty="0"/>
              </a:p>
            </p:txBody>
          </p:sp>
        </mc:Choice>
        <mc:Fallback xmlns="">
          <p:sp>
            <p:nvSpPr>
              <p:cNvPr id="5" name="TextBox 4">
                <a:extLst>
                  <a:ext uri="{FF2B5EF4-FFF2-40B4-BE49-F238E27FC236}">
                    <a16:creationId xmlns:a16="http://schemas.microsoft.com/office/drawing/2014/main" id="{75864147-85CF-166F-E1A1-6D1C584D8215}"/>
                  </a:ext>
                </a:extLst>
              </p:cNvPr>
              <p:cNvSpPr txBox="1">
                <a:spLocks noRot="1" noChangeAspect="1" noMove="1" noResize="1" noEditPoints="1" noAdjustHandles="1" noChangeArrowheads="1" noChangeShapeType="1" noTextEdit="1"/>
              </p:cNvSpPr>
              <p:nvPr/>
            </p:nvSpPr>
            <p:spPr>
              <a:xfrm>
                <a:off x="1531400" y="719217"/>
                <a:ext cx="5574323" cy="2370714"/>
              </a:xfrm>
              <a:prstGeom prst="rect">
                <a:avLst/>
              </a:prstGeom>
              <a:blipFill>
                <a:blip r:embed="rId2"/>
                <a:stretch>
                  <a:fillRect l="-546" t="-77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A22C21F-ADF2-9D38-5C6D-DDE6A01243CA}"/>
              </a:ext>
            </a:extLst>
          </p:cNvPr>
          <p:cNvPicPr>
            <a:picLocks noChangeAspect="1"/>
          </p:cNvPicPr>
          <p:nvPr/>
        </p:nvPicPr>
        <p:blipFill>
          <a:blip r:embed="rId3"/>
          <a:stretch>
            <a:fillRect/>
          </a:stretch>
        </p:blipFill>
        <p:spPr>
          <a:xfrm>
            <a:off x="8159262" y="2955933"/>
            <a:ext cx="3882683" cy="3241674"/>
          </a:xfrm>
          <a:prstGeom prst="rect">
            <a:avLst/>
          </a:prstGeom>
        </p:spPr>
      </p:pic>
      <p:graphicFrame>
        <p:nvGraphicFramePr>
          <p:cNvPr id="8" name="Table 7">
            <a:extLst>
              <a:ext uri="{FF2B5EF4-FFF2-40B4-BE49-F238E27FC236}">
                <a16:creationId xmlns:a16="http://schemas.microsoft.com/office/drawing/2014/main" id="{1BD4C243-344A-542D-9F32-E8D3ACB06CDF}"/>
              </a:ext>
            </a:extLst>
          </p:cNvPr>
          <p:cNvGraphicFramePr>
            <a:graphicFrameLocks noGrp="1"/>
          </p:cNvGraphicFramePr>
          <p:nvPr>
            <p:extLst>
              <p:ext uri="{D42A27DB-BD31-4B8C-83A1-F6EECF244321}">
                <p14:modId xmlns:p14="http://schemas.microsoft.com/office/powerpoint/2010/main" val="3422763708"/>
              </p:ext>
            </p:extLst>
          </p:nvPr>
        </p:nvGraphicFramePr>
        <p:xfrm>
          <a:off x="7260271" y="877404"/>
          <a:ext cx="4781674" cy="1483360"/>
        </p:xfrm>
        <a:graphic>
          <a:graphicData uri="http://schemas.openxmlformats.org/drawingml/2006/table">
            <a:tbl>
              <a:tblPr firstRow="1" bandRow="1">
                <a:tableStyleId>{B301B821-A1FF-4177-AEE7-76D212191A09}</a:tableStyleId>
              </a:tblPr>
              <a:tblGrid>
                <a:gridCol w="2390837">
                  <a:extLst>
                    <a:ext uri="{9D8B030D-6E8A-4147-A177-3AD203B41FA5}">
                      <a16:colId xmlns:a16="http://schemas.microsoft.com/office/drawing/2014/main" val="2971477416"/>
                    </a:ext>
                  </a:extLst>
                </a:gridCol>
                <a:gridCol w="2390837">
                  <a:extLst>
                    <a:ext uri="{9D8B030D-6E8A-4147-A177-3AD203B41FA5}">
                      <a16:colId xmlns:a16="http://schemas.microsoft.com/office/drawing/2014/main" val="976103319"/>
                    </a:ext>
                  </a:extLst>
                </a:gridCol>
              </a:tblGrid>
              <a:tr h="370840">
                <a:tc>
                  <a:txBody>
                    <a:bodyPr/>
                    <a:lstStyle/>
                    <a:p>
                      <a:pPr algn="ctr"/>
                      <a:r>
                        <a:rPr lang="en-US" dirty="0">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008253"/>
                  </a:ext>
                </a:extLst>
              </a:tr>
              <a:tr h="370840">
                <a:tc>
                  <a:txBody>
                    <a:bodyPr/>
                    <a:lstStyle/>
                    <a:p>
                      <a:pPr algn="ctr"/>
                      <a:r>
                        <a:rPr lang="en-US" sz="1600" dirty="0"/>
                        <a:t>Total Orders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756136"/>
                  </a:ext>
                </a:extLst>
              </a:tr>
              <a:tr h="370840">
                <a:tc>
                  <a:txBody>
                    <a:bodyPr/>
                    <a:lstStyle/>
                    <a:p>
                      <a:pPr algn="ctr"/>
                      <a:r>
                        <a:rPr lang="en-US" sz="1600" dirty="0"/>
                        <a:t>Slow Delivery + Rating &lt;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61666"/>
                  </a:ext>
                </a:extLst>
              </a:tr>
              <a:tr h="370840">
                <a:tc>
                  <a:txBody>
                    <a:bodyPr/>
                    <a:lstStyle/>
                    <a:p>
                      <a:pPr algn="ctr"/>
                      <a:r>
                        <a:rPr lang="en-US" sz="1600" dirty="0"/>
                        <a:t>Joint Probability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0.53 %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324256"/>
                  </a:ext>
                </a:extLst>
              </a:tr>
            </a:tbl>
          </a:graphicData>
        </a:graphic>
      </p:graphicFrame>
      <p:sp>
        <p:nvSpPr>
          <p:cNvPr id="10" name="TextBox 9">
            <a:extLst>
              <a:ext uri="{FF2B5EF4-FFF2-40B4-BE49-F238E27FC236}">
                <a16:creationId xmlns:a16="http://schemas.microsoft.com/office/drawing/2014/main" id="{61E4EFC9-5AFD-BFC8-98B6-BC7560AD1B89}"/>
              </a:ext>
            </a:extLst>
          </p:cNvPr>
          <p:cNvSpPr txBox="1"/>
          <p:nvPr/>
        </p:nvSpPr>
        <p:spPr>
          <a:xfrm>
            <a:off x="1012874" y="2955933"/>
            <a:ext cx="7033845" cy="1815882"/>
          </a:xfrm>
          <a:prstGeom prst="rect">
            <a:avLst/>
          </a:prstGeom>
          <a:noFill/>
        </p:spPr>
        <p:txBody>
          <a:bodyPr wrap="square">
            <a:spAutoFit/>
          </a:bodyPr>
          <a:lstStyle/>
          <a:p>
            <a:pPr>
              <a:buNone/>
            </a:pPr>
            <a:r>
              <a:rPr lang="en-US" sz="1600" b="1" dirty="0">
                <a:solidFill>
                  <a:srgbClr val="FF0000"/>
                </a:solidFill>
              </a:rPr>
              <a:t>Business Insights</a:t>
            </a:r>
          </a:p>
          <a:p>
            <a:pPr marL="285750" indent="-285750">
              <a:buFont typeface="Arial" panose="020B0604020202020204" pitchFamily="34" charset="0"/>
              <a:buChar char="•"/>
            </a:pPr>
            <a:r>
              <a:rPr lang="en-US" sz="1600" dirty="0"/>
              <a:t>Only </a:t>
            </a:r>
            <a:r>
              <a:rPr lang="en-US" sz="1600" b="1" dirty="0">
                <a:solidFill>
                  <a:schemeClr val="accent1"/>
                </a:solidFill>
              </a:rPr>
              <a:t>0.53%</a:t>
            </a:r>
            <a:r>
              <a:rPr lang="en-US" sz="1600" dirty="0"/>
              <a:t> of all orders experienced </a:t>
            </a:r>
            <a:r>
              <a:rPr lang="en-US" sz="1600" b="1" dirty="0">
                <a:solidFill>
                  <a:schemeClr val="accent1"/>
                </a:solidFill>
              </a:rPr>
              <a:t>both</a:t>
            </a:r>
            <a:r>
              <a:rPr lang="en-US" sz="1600" dirty="0"/>
              <a:t> slow delivery and a low customer rating. </a:t>
            </a:r>
          </a:p>
          <a:p>
            <a:pPr marL="285750" indent="-285750">
              <a:buFont typeface="Arial" panose="020B0604020202020204" pitchFamily="34" charset="0"/>
              <a:buChar char="•"/>
            </a:pPr>
            <a:r>
              <a:rPr lang="en-US" sz="1600" dirty="0"/>
              <a:t>This indicates that the combined event is </a:t>
            </a:r>
            <a:r>
              <a:rPr lang="en-US" sz="1600" b="1" dirty="0">
                <a:solidFill>
                  <a:schemeClr val="accent1"/>
                </a:solidFill>
              </a:rPr>
              <a:t>rare</a:t>
            </a:r>
            <a:r>
              <a:rPr lang="en-US" sz="1600" dirty="0"/>
              <a:t>. </a:t>
            </a:r>
          </a:p>
          <a:p>
            <a:pPr marL="285750" indent="-285750">
              <a:buFont typeface="Arial" panose="020B0604020202020204" pitchFamily="34" charset="0"/>
              <a:buChar char="•"/>
            </a:pPr>
            <a:r>
              <a:rPr lang="en-US" sz="1600" dirty="0"/>
              <a:t>Most delayed deliveries </a:t>
            </a:r>
            <a:r>
              <a:rPr lang="en-US" sz="1600" b="1" dirty="0">
                <a:solidFill>
                  <a:schemeClr val="accent1"/>
                </a:solidFill>
              </a:rPr>
              <a:t>did not</a:t>
            </a:r>
            <a:r>
              <a:rPr lang="en-US" sz="1600" dirty="0">
                <a:solidFill>
                  <a:schemeClr val="accent1"/>
                </a:solidFill>
              </a:rPr>
              <a:t> </a:t>
            </a:r>
            <a:r>
              <a:rPr lang="en-US" sz="1600" dirty="0"/>
              <a:t>result in poor customer ratings. </a:t>
            </a:r>
          </a:p>
          <a:p>
            <a:pPr marL="285750" indent="-285750">
              <a:buFont typeface="Arial" panose="020B0604020202020204" pitchFamily="34" charset="0"/>
              <a:buChar char="•"/>
            </a:pPr>
            <a:r>
              <a:rPr lang="en-US" sz="1600" dirty="0"/>
              <a:t>Customer satisfaction is influenced by additional factors such as </a:t>
            </a:r>
            <a:r>
              <a:rPr lang="en-US" sz="1600" b="1" dirty="0">
                <a:solidFill>
                  <a:schemeClr val="accent1"/>
                </a:solidFill>
              </a:rPr>
              <a:t>food quality, order accuracy, and service experience</a:t>
            </a:r>
            <a:r>
              <a:rPr lang="en-US" sz="1600" dirty="0">
                <a:solidFill>
                  <a:schemeClr val="accent1"/>
                </a:solidFill>
              </a:rPr>
              <a:t>.</a:t>
            </a:r>
          </a:p>
        </p:txBody>
      </p:sp>
      <p:sp>
        <p:nvSpPr>
          <p:cNvPr id="12" name="TextBox 11">
            <a:extLst>
              <a:ext uri="{FF2B5EF4-FFF2-40B4-BE49-F238E27FC236}">
                <a16:creationId xmlns:a16="http://schemas.microsoft.com/office/drawing/2014/main" id="{3F96E9BF-9C95-55E7-09DF-9B234903E65E}"/>
              </a:ext>
            </a:extLst>
          </p:cNvPr>
          <p:cNvSpPr txBox="1"/>
          <p:nvPr/>
        </p:nvSpPr>
        <p:spPr>
          <a:xfrm>
            <a:off x="1534149" y="4968763"/>
            <a:ext cx="6098344" cy="1323439"/>
          </a:xfrm>
          <a:prstGeom prst="rect">
            <a:avLst/>
          </a:prstGeom>
          <a:noFill/>
        </p:spPr>
        <p:txBody>
          <a:bodyPr wrap="square">
            <a:spAutoFit/>
          </a:bodyPr>
          <a:lstStyle/>
          <a:p>
            <a:pPr>
              <a:buNone/>
            </a:pPr>
            <a:r>
              <a:rPr lang="en-US" sz="1600" b="1" dirty="0">
                <a:solidFill>
                  <a:srgbClr val="FF0000"/>
                </a:solidFill>
              </a:rPr>
              <a:t>Business Recommendation</a:t>
            </a:r>
          </a:p>
          <a:p>
            <a:pPr marL="285750" indent="-285750">
              <a:buFont typeface="Arial" panose="020B0604020202020204" pitchFamily="34" charset="0"/>
              <a:buChar char="•"/>
            </a:pPr>
            <a:r>
              <a:rPr lang="en-US" sz="1600" dirty="0"/>
              <a:t>Continue monitoring delayed deliveries as an operational KPI. </a:t>
            </a:r>
          </a:p>
          <a:p>
            <a:pPr marL="285750" indent="-285750">
              <a:buFont typeface="Arial" panose="020B0604020202020204" pitchFamily="34" charset="0"/>
              <a:buChar char="•"/>
            </a:pPr>
            <a:r>
              <a:rPr lang="en-US" sz="1600" dirty="0"/>
              <a:t>Focus improvement efforts </a:t>
            </a:r>
            <a:r>
              <a:rPr lang="en-US" sz="1600" dirty="0">
                <a:solidFill>
                  <a:schemeClr val="accent1"/>
                </a:solidFill>
              </a:rPr>
              <a:t>on </a:t>
            </a:r>
            <a:r>
              <a:rPr lang="en-US" sz="1600" b="1" dirty="0">
                <a:solidFill>
                  <a:schemeClr val="accent1"/>
                </a:solidFill>
              </a:rPr>
              <a:t>food quality, order accuracy, and customer service</a:t>
            </a:r>
            <a:r>
              <a:rPr lang="en-US" sz="1600" dirty="0"/>
              <a:t>, as these appear to have a greater impact on customer satisfaction.</a:t>
            </a:r>
          </a:p>
        </p:txBody>
      </p:sp>
    </p:spTree>
    <p:extLst>
      <p:ext uri="{BB962C8B-B14F-4D97-AF65-F5344CB8AC3E}">
        <p14:creationId xmlns:p14="http://schemas.microsoft.com/office/powerpoint/2010/main" val="425897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3EB3-C149-CA31-A14F-620E32D9D8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85E933-77A5-BA2E-B37A-68F3B607139C}"/>
              </a:ext>
            </a:extLst>
          </p:cNvPr>
          <p:cNvSpPr txBox="1"/>
          <p:nvPr/>
        </p:nvSpPr>
        <p:spPr>
          <a:xfrm>
            <a:off x="4276358" y="0"/>
            <a:ext cx="5120860"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Statistical Analysis – Conditional Probability</a:t>
            </a:r>
          </a:p>
        </p:txBody>
      </p:sp>
      <p:sp>
        <p:nvSpPr>
          <p:cNvPr id="3" name="Rectangle 2">
            <a:extLst>
              <a:ext uri="{FF2B5EF4-FFF2-40B4-BE49-F238E27FC236}">
                <a16:creationId xmlns:a16="http://schemas.microsoft.com/office/drawing/2014/main" id="{56D4EA7B-30E1-17E5-31C1-92A8352A4751}"/>
              </a:ext>
            </a:extLst>
          </p:cNvPr>
          <p:cNvSpPr/>
          <p:nvPr/>
        </p:nvSpPr>
        <p:spPr>
          <a:xfrm>
            <a:off x="1448974" y="285928"/>
            <a:ext cx="10592971" cy="5142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latin typeface="+mj-lt"/>
              </a:rPr>
              <a:t>Business question : </a:t>
            </a:r>
            <a:r>
              <a:rPr lang="en-US" sz="1400" b="1" dirty="0">
                <a:solidFill>
                  <a:schemeClr val="tx1"/>
                </a:solidFill>
              </a:rPr>
              <a:t>What is the probability of receiving a customer rating of 4 or above, given that the order was delivered in the Fast delivery category?</a:t>
            </a:r>
            <a:endParaRPr lang="en-US" sz="1600" b="1" dirty="0">
              <a:solidFill>
                <a:schemeClr val="tx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C0DB33-D76C-87D5-E2E9-F17C796A58D3}"/>
                  </a:ext>
                </a:extLst>
              </p:cNvPr>
              <p:cNvSpPr txBox="1"/>
              <p:nvPr/>
            </p:nvSpPr>
            <p:spPr>
              <a:xfrm>
                <a:off x="1448973" y="800219"/>
                <a:ext cx="4979961" cy="1692066"/>
              </a:xfrm>
              <a:prstGeom prst="rect">
                <a:avLst/>
              </a:prstGeom>
              <a:noFill/>
            </p:spPr>
            <p:txBody>
              <a:bodyPr wrap="square">
                <a:spAutoFit/>
              </a:bodyPr>
              <a:lstStyle/>
              <a:p>
                <a:pPr>
                  <a:buNone/>
                </a:pPr>
                <a:r>
                  <a:rPr lang="en-US" sz="1600" b="1" dirty="0">
                    <a:solidFill>
                      <a:srgbClr val="FF0000"/>
                    </a:solidFill>
                    <a:latin typeface="+mj-lt"/>
                  </a:rPr>
                  <a:t>Methodology:</a:t>
                </a:r>
              </a:p>
              <a:p>
                <a:pPr>
                  <a:buFont typeface="Arial" panose="020B0604020202020204" pitchFamily="34" charset="0"/>
                  <a:buChar char="•"/>
                </a:pPr>
                <a:r>
                  <a:rPr lang="en-US" sz="1600" b="1" dirty="0"/>
                  <a:t>Condition</a:t>
                </a:r>
                <a:r>
                  <a:rPr lang="en-US" dirty="0"/>
                  <a:t>: </a:t>
                </a:r>
                <a:r>
                  <a:rPr lang="en-US" sz="1600" dirty="0"/>
                  <a:t>Delivery Time Category = </a:t>
                </a:r>
                <a:r>
                  <a:rPr lang="en-US" sz="1600" b="1" dirty="0"/>
                  <a:t>Fast</a:t>
                </a:r>
              </a:p>
              <a:p>
                <a:pPr>
                  <a:buFont typeface="Arial" panose="020B0604020202020204" pitchFamily="34" charset="0"/>
                  <a:buChar char="•"/>
                </a:pPr>
                <a:r>
                  <a:rPr lang="en-US" sz="1600" b="1" dirty="0"/>
                  <a:t>Even</a:t>
                </a:r>
                <a:r>
                  <a:rPr lang="en-US" sz="1600" dirty="0"/>
                  <a:t>t: </a:t>
                </a:r>
                <a:r>
                  <a:rPr lang="en-US" sz="1600" b="1" dirty="0"/>
                  <a:t>Customer Rating ≥ 4</a:t>
                </a:r>
              </a:p>
              <a:p>
                <a:pPr>
                  <a:buFont typeface="Arial" panose="020B0604020202020204" pitchFamily="34" charset="0"/>
                  <a:buChar char="•"/>
                </a:pPr>
                <a:r>
                  <a:rPr lang="en-US" sz="1600" b="1" dirty="0"/>
                  <a:t>Formula</a:t>
                </a:r>
                <a:r>
                  <a:rPr lang="en-US" dirty="0"/>
                  <a:t>: </a:t>
                </a:r>
              </a:p>
              <a:p>
                <a:pPr>
                  <a:buNone/>
                </a:pPr>
                <a14:m>
                  <m:oMathPara xmlns:m="http://schemas.openxmlformats.org/officeDocument/2006/math">
                    <m:oMathParaPr>
                      <m:jc m:val="centerGroup"/>
                    </m:oMathParaPr>
                    <m:oMath xmlns:m="http://schemas.openxmlformats.org/officeDocument/2006/math">
                      <m:r>
                        <m:rPr>
                          <m:nor/>
                        </m:rPr>
                        <a:rPr lang="en-US" sz="1600"/>
                        <m:t>P</m:t>
                      </m:r>
                      <m:r>
                        <m:rPr>
                          <m:nor/>
                        </m:rPr>
                        <a:rPr lang="en-US" sz="1600"/>
                        <m:t>(</m:t>
                      </m:r>
                      <m:r>
                        <m:rPr>
                          <m:nor/>
                        </m:rPr>
                        <a:rPr lang="en-US" sz="1600"/>
                        <m:t>Rating</m:t>
                      </m:r>
                      <m:r>
                        <m:rPr>
                          <m:nor/>
                        </m:rPr>
                        <a:rPr lang="en-US" sz="1600"/>
                        <m:t>≥</m:t>
                      </m:r>
                      <m:r>
                        <m:rPr>
                          <m:nor/>
                        </m:rPr>
                        <a:rPr lang="en-US" sz="1600"/>
                        <m:t>4</m:t>
                      </m:r>
                      <m:r>
                        <m:rPr>
                          <m:nor/>
                        </m:rPr>
                        <a:rPr lang="en-US" sz="1600"/>
                        <m:t>∣</m:t>
                      </m:r>
                      <m:r>
                        <m:rPr>
                          <m:nor/>
                        </m:rPr>
                        <a:rPr lang="en-US" sz="1600"/>
                        <m:t>Fast</m:t>
                      </m:r>
                      <m:r>
                        <m:rPr>
                          <m:nor/>
                        </m:rPr>
                        <a:rPr lang="en-US" sz="1600"/>
                        <m:t> </m:t>
                      </m:r>
                      <m:r>
                        <m:rPr>
                          <m:nor/>
                        </m:rPr>
                        <a:rPr lang="en-US" sz="1600"/>
                        <m:t>Delivery</m:t>
                      </m:r>
                      <m:r>
                        <m:rPr>
                          <m:nor/>
                        </m:rPr>
                        <a:rPr lang="en-US" sz="1600"/>
                        <m:t>)=</m:t>
                      </m:r>
                    </m:oMath>
                  </m:oMathPara>
                </a14:m>
                <a:endParaRPr lang="en-US" sz="1600" dirty="0"/>
              </a:p>
              <a:p>
                <a:pPr>
                  <a:buNone/>
                </a:pPr>
                <a14:m>
                  <m:oMath xmlns:m="http://schemas.openxmlformats.org/officeDocument/2006/math">
                    <m:r>
                      <m:rPr>
                        <m:nor/>
                      </m:rPr>
                      <a:rPr lang="en-US" sz="1600" b="0" i="0" smtClean="0"/>
                      <m:t>Fast</m:t>
                    </m:r>
                    <m:r>
                      <m:rPr>
                        <m:nor/>
                      </m:rPr>
                      <a:rPr lang="en-US" sz="1600" b="0" i="0" smtClean="0"/>
                      <m:t> </m:t>
                    </m:r>
                    <m:r>
                      <m:rPr>
                        <m:nor/>
                      </m:rPr>
                      <a:rPr lang="en-US" sz="1600"/>
                      <m:t>Deliveries</m:t>
                    </m:r>
                    <m:r>
                      <m:rPr>
                        <m:nor/>
                      </m:rPr>
                      <a:rPr lang="en-US" sz="1600"/>
                      <m:t> </m:t>
                    </m:r>
                    <m:r>
                      <m:rPr>
                        <m:nor/>
                      </m:rPr>
                      <a:rPr lang="en-US" sz="1600"/>
                      <m:t>with</m:t>
                    </m:r>
                    <m:r>
                      <m:rPr>
                        <m:nor/>
                      </m:rPr>
                      <a:rPr lang="en-US" sz="1600"/>
                      <m:t> </m:t>
                    </m:r>
                    <m:r>
                      <m:rPr>
                        <m:nor/>
                      </m:rPr>
                      <a:rPr lang="en-US" sz="1600"/>
                      <m:t>Rating</m:t>
                    </m:r>
                    <m:r>
                      <m:rPr>
                        <m:nor/>
                      </m:rPr>
                      <a:rPr lang="en-US" sz="1600"/>
                      <m:t> </m:t>
                    </m:r>
                    <m:r>
                      <m:rPr>
                        <m:nor/>
                      </m:rPr>
                      <a:rPr lang="en-US" sz="1600"/>
                      <m:t>≥</m:t>
                    </m:r>
                    <m:r>
                      <m:rPr>
                        <m:nor/>
                      </m:rPr>
                      <a:rPr lang="en-US" sz="1600"/>
                      <m:t>4​</m:t>
                    </m:r>
                  </m:oMath>
                </a14:m>
                <a:r>
                  <a:rPr lang="en-US" b="0" dirty="0"/>
                  <a:t> / Total Fast Deliveries</a:t>
                </a:r>
                <a:endParaRPr lang="ar-AE" b="0" dirty="0"/>
              </a:p>
            </p:txBody>
          </p:sp>
        </mc:Choice>
        <mc:Fallback xmlns="">
          <p:sp>
            <p:nvSpPr>
              <p:cNvPr id="5" name="TextBox 4">
                <a:extLst>
                  <a:ext uri="{FF2B5EF4-FFF2-40B4-BE49-F238E27FC236}">
                    <a16:creationId xmlns:a16="http://schemas.microsoft.com/office/drawing/2014/main" id="{10C0DB33-D76C-87D5-E2E9-F17C796A58D3}"/>
                  </a:ext>
                </a:extLst>
              </p:cNvPr>
              <p:cNvSpPr txBox="1">
                <a:spLocks noRot="1" noChangeAspect="1" noMove="1" noResize="1" noEditPoints="1" noAdjustHandles="1" noChangeArrowheads="1" noChangeShapeType="1" noTextEdit="1"/>
              </p:cNvSpPr>
              <p:nvPr/>
            </p:nvSpPr>
            <p:spPr>
              <a:xfrm>
                <a:off x="1448973" y="800219"/>
                <a:ext cx="4979961" cy="1692066"/>
              </a:xfrm>
              <a:prstGeom prst="rect">
                <a:avLst/>
              </a:prstGeom>
              <a:blipFill>
                <a:blip r:embed="rId2"/>
                <a:stretch>
                  <a:fillRect l="-734" t="-1079" b="-4676"/>
                </a:stretch>
              </a:blipFill>
            </p:spPr>
            <p:txBody>
              <a:bodyPr/>
              <a:lstStyle/>
              <a:p>
                <a:r>
                  <a:rPr lang="en-US">
                    <a:noFill/>
                  </a:rPr>
                  <a:t> </a:t>
                </a:r>
              </a:p>
            </p:txBody>
          </p:sp>
        </mc:Fallback>
      </mc:AlternateContent>
      <p:graphicFrame>
        <p:nvGraphicFramePr>
          <p:cNvPr id="8" name="Table 7">
            <a:extLst>
              <a:ext uri="{FF2B5EF4-FFF2-40B4-BE49-F238E27FC236}">
                <a16:creationId xmlns:a16="http://schemas.microsoft.com/office/drawing/2014/main" id="{EA74FBAF-3FDB-82FD-E133-35D561FFDD60}"/>
              </a:ext>
            </a:extLst>
          </p:cNvPr>
          <p:cNvGraphicFramePr>
            <a:graphicFrameLocks noGrp="1"/>
          </p:cNvGraphicFramePr>
          <p:nvPr>
            <p:extLst>
              <p:ext uri="{D42A27DB-BD31-4B8C-83A1-F6EECF244321}">
                <p14:modId xmlns:p14="http://schemas.microsoft.com/office/powerpoint/2010/main" val="2609332866"/>
              </p:ext>
            </p:extLst>
          </p:nvPr>
        </p:nvGraphicFramePr>
        <p:xfrm>
          <a:off x="6907908" y="1136396"/>
          <a:ext cx="5134037" cy="1483360"/>
        </p:xfrm>
        <a:graphic>
          <a:graphicData uri="http://schemas.openxmlformats.org/drawingml/2006/table">
            <a:tbl>
              <a:tblPr firstRow="1" bandRow="1">
                <a:tableStyleId>{B301B821-A1FF-4177-AEE7-76D212191A09}</a:tableStyleId>
              </a:tblPr>
              <a:tblGrid>
                <a:gridCol w="2792863">
                  <a:extLst>
                    <a:ext uri="{9D8B030D-6E8A-4147-A177-3AD203B41FA5}">
                      <a16:colId xmlns:a16="http://schemas.microsoft.com/office/drawing/2014/main" val="2971477416"/>
                    </a:ext>
                  </a:extLst>
                </a:gridCol>
                <a:gridCol w="2341174">
                  <a:extLst>
                    <a:ext uri="{9D8B030D-6E8A-4147-A177-3AD203B41FA5}">
                      <a16:colId xmlns:a16="http://schemas.microsoft.com/office/drawing/2014/main" val="976103319"/>
                    </a:ext>
                  </a:extLst>
                </a:gridCol>
              </a:tblGrid>
              <a:tr h="370840">
                <a:tc>
                  <a:txBody>
                    <a:bodyPr/>
                    <a:lstStyle/>
                    <a:p>
                      <a:pPr algn="ctr"/>
                      <a:r>
                        <a:rPr lang="en-US" dirty="0">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008253"/>
                  </a:ext>
                </a:extLst>
              </a:tr>
              <a:tr h="370840">
                <a:tc>
                  <a:txBody>
                    <a:bodyPr/>
                    <a:lstStyle/>
                    <a:p>
                      <a:pPr algn="ctr"/>
                      <a:r>
                        <a:rPr lang="en-US" sz="1600" dirty="0"/>
                        <a:t>Total Fast Deliveries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15,997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756136"/>
                  </a:ext>
                </a:extLst>
              </a:tr>
              <a:tr h="370840">
                <a:tc>
                  <a:txBody>
                    <a:bodyPr/>
                    <a:lstStyle/>
                    <a:p>
                      <a:pPr algn="ctr"/>
                      <a:r>
                        <a:rPr lang="en-US" sz="1600" dirty="0"/>
                        <a:t>Fast Deliveries with rating ≥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12,567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61666"/>
                  </a:ext>
                </a:extLst>
              </a:tr>
              <a:tr h="370840">
                <a:tc>
                  <a:txBody>
                    <a:bodyPr/>
                    <a:lstStyle/>
                    <a:p>
                      <a:pPr algn="ctr"/>
                      <a:r>
                        <a:rPr lang="en-US" sz="1600" dirty="0"/>
                        <a:t>Conditional Probability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78.56 %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324256"/>
                  </a:ext>
                </a:extLst>
              </a:tr>
            </a:tbl>
          </a:graphicData>
        </a:graphic>
      </p:graphicFrame>
      <p:sp>
        <p:nvSpPr>
          <p:cNvPr id="10" name="TextBox 9">
            <a:extLst>
              <a:ext uri="{FF2B5EF4-FFF2-40B4-BE49-F238E27FC236}">
                <a16:creationId xmlns:a16="http://schemas.microsoft.com/office/drawing/2014/main" id="{834E5A91-B4E4-553D-BDFC-B14C8ECB331E}"/>
              </a:ext>
            </a:extLst>
          </p:cNvPr>
          <p:cNvSpPr txBox="1"/>
          <p:nvPr/>
        </p:nvSpPr>
        <p:spPr>
          <a:xfrm>
            <a:off x="1148744" y="2619756"/>
            <a:ext cx="6869154" cy="2062103"/>
          </a:xfrm>
          <a:prstGeom prst="rect">
            <a:avLst/>
          </a:prstGeom>
          <a:noFill/>
        </p:spPr>
        <p:txBody>
          <a:bodyPr wrap="square">
            <a:spAutoFit/>
          </a:bodyPr>
          <a:lstStyle/>
          <a:p>
            <a:pPr>
              <a:buNone/>
            </a:pPr>
            <a:r>
              <a:rPr lang="en-US" sz="1600" b="1" dirty="0">
                <a:solidFill>
                  <a:srgbClr val="FF0000"/>
                </a:solidFill>
              </a:rPr>
              <a:t>Business Insights :</a:t>
            </a:r>
          </a:p>
          <a:p>
            <a:pPr marL="285750" indent="-285750">
              <a:buFont typeface="Arial" panose="020B0604020202020204" pitchFamily="34" charset="0"/>
              <a:buChar char="•"/>
            </a:pPr>
            <a:r>
              <a:rPr lang="en-US" sz="1600" b="1" dirty="0">
                <a:solidFill>
                  <a:schemeClr val="accent1"/>
                </a:solidFill>
              </a:rPr>
              <a:t>78.56% </a:t>
            </a:r>
            <a:r>
              <a:rPr lang="en-US" sz="1600" dirty="0"/>
              <a:t>of fast deliveries receive a customer rating of </a:t>
            </a:r>
            <a:r>
              <a:rPr lang="en-US" sz="1600" b="1" dirty="0">
                <a:solidFill>
                  <a:schemeClr val="accent1"/>
                </a:solidFill>
              </a:rPr>
              <a:t>4 or above</a:t>
            </a:r>
            <a:r>
              <a:rPr lang="en-US" sz="1600" dirty="0"/>
              <a:t>, indicating a strong relationship between faster deliveries and higher customer satisfaction.</a:t>
            </a:r>
          </a:p>
          <a:p>
            <a:pPr marL="285750" indent="-285750">
              <a:buFont typeface="Arial" panose="020B0604020202020204" pitchFamily="34" charset="0"/>
              <a:buChar char="•"/>
            </a:pPr>
            <a:r>
              <a:rPr lang="en-US" sz="1600" dirty="0"/>
              <a:t>However, </a:t>
            </a:r>
            <a:r>
              <a:rPr lang="en-US" sz="1600" b="1" dirty="0">
                <a:solidFill>
                  <a:schemeClr val="accent1"/>
                </a:solidFill>
              </a:rPr>
              <a:t>21.44%</a:t>
            </a:r>
            <a:r>
              <a:rPr lang="en-US" sz="1600" dirty="0"/>
              <a:t> of fast deliveries still receive ratings below 4, showing that delivery speed alone does not guarantee a positive customer experience.</a:t>
            </a:r>
          </a:p>
          <a:p>
            <a:pPr marL="285750" indent="-285750">
              <a:buFont typeface="Arial" panose="020B0604020202020204" pitchFamily="34" charset="0"/>
              <a:buChar char="•"/>
            </a:pPr>
            <a:r>
              <a:rPr lang="en-US" sz="1600" dirty="0"/>
              <a:t>Factors such as </a:t>
            </a:r>
            <a:r>
              <a:rPr lang="en-US" sz="1600" b="1" dirty="0">
                <a:solidFill>
                  <a:schemeClr val="accent1"/>
                </a:solidFill>
              </a:rPr>
              <a:t>food quality, packaging, and order accuracy</a:t>
            </a:r>
            <a:r>
              <a:rPr lang="en-US" sz="1600" dirty="0">
                <a:solidFill>
                  <a:schemeClr val="accent1"/>
                </a:solidFill>
              </a:rPr>
              <a:t> </a:t>
            </a:r>
            <a:r>
              <a:rPr lang="en-US" sz="1600" dirty="0"/>
              <a:t>also influence customer ratings.</a:t>
            </a:r>
          </a:p>
        </p:txBody>
      </p:sp>
      <p:sp>
        <p:nvSpPr>
          <p:cNvPr id="12" name="TextBox 11">
            <a:extLst>
              <a:ext uri="{FF2B5EF4-FFF2-40B4-BE49-F238E27FC236}">
                <a16:creationId xmlns:a16="http://schemas.microsoft.com/office/drawing/2014/main" id="{DDC3B48A-4455-8380-4584-697AC0C4D5EE}"/>
              </a:ext>
            </a:extLst>
          </p:cNvPr>
          <p:cNvSpPr txBox="1"/>
          <p:nvPr/>
        </p:nvSpPr>
        <p:spPr>
          <a:xfrm>
            <a:off x="1227186" y="4623959"/>
            <a:ext cx="6538180" cy="1569660"/>
          </a:xfrm>
          <a:prstGeom prst="rect">
            <a:avLst/>
          </a:prstGeom>
          <a:noFill/>
        </p:spPr>
        <p:txBody>
          <a:bodyPr wrap="square">
            <a:spAutoFit/>
          </a:bodyPr>
          <a:lstStyle/>
          <a:p>
            <a:pPr>
              <a:buNone/>
            </a:pPr>
            <a:r>
              <a:rPr lang="en-US" sz="1600" b="1" dirty="0">
                <a:solidFill>
                  <a:srgbClr val="FF0000"/>
                </a:solidFill>
              </a:rPr>
              <a:t>Business Recommendation</a:t>
            </a:r>
          </a:p>
          <a:p>
            <a:pPr marL="285750" indent="-285750">
              <a:buFont typeface="Arial" panose="020B0604020202020204" pitchFamily="34" charset="0"/>
              <a:buChar char="•"/>
            </a:pPr>
            <a:r>
              <a:rPr lang="en-US" sz="1600" dirty="0"/>
              <a:t>Continue improving delivery speed while maintaining food quality and order accuracy. </a:t>
            </a:r>
          </a:p>
          <a:p>
            <a:pPr marL="285750" indent="-285750">
              <a:buFont typeface="Arial" panose="020B0604020202020204" pitchFamily="34" charset="0"/>
              <a:buChar char="•"/>
            </a:pPr>
            <a:r>
              <a:rPr lang="en-US" sz="1600" dirty="0"/>
              <a:t>Analyze low-rated fast deliveries to identify recurring service issues.</a:t>
            </a:r>
          </a:p>
          <a:p>
            <a:pPr marL="285750" indent="-285750">
              <a:buFont typeface="Arial" panose="020B0604020202020204" pitchFamily="34" charset="0"/>
              <a:buChar char="•"/>
            </a:pPr>
            <a:r>
              <a:rPr lang="en-US" sz="1600" dirty="0"/>
              <a:t>Use customer feedback to improve the overall delivery experience, not just delivery time.</a:t>
            </a:r>
          </a:p>
        </p:txBody>
      </p:sp>
      <p:pic>
        <p:nvPicPr>
          <p:cNvPr id="6" name="Picture 5">
            <a:extLst>
              <a:ext uri="{FF2B5EF4-FFF2-40B4-BE49-F238E27FC236}">
                <a16:creationId xmlns:a16="http://schemas.microsoft.com/office/drawing/2014/main" id="{CCEFAF20-8472-457E-D129-A782F2416853}"/>
              </a:ext>
            </a:extLst>
          </p:cNvPr>
          <p:cNvPicPr>
            <a:picLocks noChangeAspect="1"/>
          </p:cNvPicPr>
          <p:nvPr/>
        </p:nvPicPr>
        <p:blipFill>
          <a:blip r:embed="rId3"/>
          <a:stretch>
            <a:fillRect/>
          </a:stretch>
        </p:blipFill>
        <p:spPr>
          <a:xfrm>
            <a:off x="8017898" y="3213885"/>
            <a:ext cx="4112168" cy="2935947"/>
          </a:xfrm>
          <a:prstGeom prst="rect">
            <a:avLst/>
          </a:prstGeom>
        </p:spPr>
      </p:pic>
    </p:spTree>
    <p:extLst>
      <p:ext uri="{BB962C8B-B14F-4D97-AF65-F5344CB8AC3E}">
        <p14:creationId xmlns:p14="http://schemas.microsoft.com/office/powerpoint/2010/main" val="4130482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1DD162-29ED-10C2-027D-3D9F5A98B0FC}"/>
              </a:ext>
            </a:extLst>
          </p:cNvPr>
          <p:cNvSpPr txBox="1"/>
          <p:nvPr/>
        </p:nvSpPr>
        <p:spPr>
          <a:xfrm>
            <a:off x="4276358" y="0"/>
            <a:ext cx="5120860"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Statistical Analysis – Sampling Distribution</a:t>
            </a:r>
          </a:p>
        </p:txBody>
      </p:sp>
      <p:sp>
        <p:nvSpPr>
          <p:cNvPr id="2" name="Rectangle 1">
            <a:extLst>
              <a:ext uri="{FF2B5EF4-FFF2-40B4-BE49-F238E27FC236}">
                <a16:creationId xmlns:a16="http://schemas.microsoft.com/office/drawing/2014/main" id="{4EC12BCA-DA31-5931-08AB-0AC4367BA7A9}"/>
              </a:ext>
            </a:extLst>
          </p:cNvPr>
          <p:cNvSpPr/>
          <p:nvPr/>
        </p:nvSpPr>
        <p:spPr>
          <a:xfrm>
            <a:off x="1364676" y="514964"/>
            <a:ext cx="10592971" cy="3657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latin typeface="+mj-lt"/>
              </a:rPr>
              <a:t>Business question : </a:t>
            </a:r>
            <a:r>
              <a:rPr lang="en-US" sz="1600" b="1" dirty="0">
                <a:solidFill>
                  <a:schemeClr val="tx1"/>
                </a:solidFill>
              </a:rPr>
              <a:t>How does sample size affect the accuracy of estimating the average order value</a:t>
            </a:r>
            <a:r>
              <a:rPr lang="en-US" sz="1600" dirty="0">
                <a:solidFill>
                  <a:schemeClr val="tx1"/>
                </a:solidFill>
              </a:rPr>
              <a:t>?</a:t>
            </a:r>
          </a:p>
          <a:p>
            <a:pPr algn="ctr"/>
            <a:endParaRPr lang="en-US" sz="1600" b="1" dirty="0">
              <a:solidFill>
                <a:schemeClr val="tx1"/>
              </a:solidFill>
              <a:latin typeface="+mj-lt"/>
            </a:endParaRPr>
          </a:p>
        </p:txBody>
      </p:sp>
      <p:sp>
        <p:nvSpPr>
          <p:cNvPr id="5" name="TextBox 4">
            <a:extLst>
              <a:ext uri="{FF2B5EF4-FFF2-40B4-BE49-F238E27FC236}">
                <a16:creationId xmlns:a16="http://schemas.microsoft.com/office/drawing/2014/main" id="{D276546B-7C24-E5BF-0C2F-BA409B3F0AAC}"/>
              </a:ext>
            </a:extLst>
          </p:cNvPr>
          <p:cNvSpPr txBox="1"/>
          <p:nvPr/>
        </p:nvSpPr>
        <p:spPr>
          <a:xfrm>
            <a:off x="1441828" y="880698"/>
            <a:ext cx="10691445" cy="861774"/>
          </a:xfrm>
          <a:prstGeom prst="rect">
            <a:avLst/>
          </a:prstGeom>
          <a:noFill/>
        </p:spPr>
        <p:txBody>
          <a:bodyPr wrap="square">
            <a:spAutoFit/>
          </a:bodyPr>
          <a:lstStyle/>
          <a:p>
            <a:r>
              <a:rPr lang="en-US" sz="1600" b="1" dirty="0">
                <a:solidFill>
                  <a:srgbClr val="FF0000"/>
                </a:solidFill>
              </a:rPr>
              <a:t>Objective:  </a:t>
            </a:r>
            <a:r>
              <a:rPr lang="en-US" sz="1600" b="1" dirty="0"/>
              <a:t>Sampling is widely used in business analytics when analyzing an entire population is impractical. This analysis compares sample means across different sample sizes to evaluate how closely they represent the overall average order value.</a:t>
            </a:r>
            <a:endParaRPr lang="en-US" b="1" dirty="0"/>
          </a:p>
        </p:txBody>
      </p:sp>
      <p:graphicFrame>
        <p:nvGraphicFramePr>
          <p:cNvPr id="6" name="Table 5">
            <a:extLst>
              <a:ext uri="{FF2B5EF4-FFF2-40B4-BE49-F238E27FC236}">
                <a16:creationId xmlns:a16="http://schemas.microsoft.com/office/drawing/2014/main" id="{59E8700A-36E2-ADD9-6DDC-FB685FEE4A1E}"/>
              </a:ext>
            </a:extLst>
          </p:cNvPr>
          <p:cNvGraphicFramePr>
            <a:graphicFrameLocks noGrp="1"/>
          </p:cNvGraphicFramePr>
          <p:nvPr>
            <p:extLst>
              <p:ext uri="{D42A27DB-BD31-4B8C-83A1-F6EECF244321}">
                <p14:modId xmlns:p14="http://schemas.microsoft.com/office/powerpoint/2010/main" val="2298274920"/>
              </p:ext>
            </p:extLst>
          </p:nvPr>
        </p:nvGraphicFramePr>
        <p:xfrm>
          <a:off x="1540302" y="1857326"/>
          <a:ext cx="4452535" cy="1854200"/>
        </p:xfrm>
        <a:graphic>
          <a:graphicData uri="http://schemas.openxmlformats.org/drawingml/2006/table">
            <a:tbl>
              <a:tblPr firstRow="1" bandRow="1">
                <a:tableStyleId>{B301B821-A1FF-4177-AEE7-76D212191A09}</a:tableStyleId>
              </a:tblPr>
              <a:tblGrid>
                <a:gridCol w="2422133">
                  <a:extLst>
                    <a:ext uri="{9D8B030D-6E8A-4147-A177-3AD203B41FA5}">
                      <a16:colId xmlns:a16="http://schemas.microsoft.com/office/drawing/2014/main" val="2971477416"/>
                    </a:ext>
                  </a:extLst>
                </a:gridCol>
                <a:gridCol w="2030402">
                  <a:extLst>
                    <a:ext uri="{9D8B030D-6E8A-4147-A177-3AD203B41FA5}">
                      <a16:colId xmlns:a16="http://schemas.microsoft.com/office/drawing/2014/main" val="976103319"/>
                    </a:ext>
                  </a:extLst>
                </a:gridCol>
              </a:tblGrid>
              <a:tr h="370840">
                <a:tc>
                  <a:txBody>
                    <a:bodyPr/>
                    <a:lstStyle/>
                    <a:p>
                      <a:pPr algn="ctr"/>
                      <a:r>
                        <a:rPr lang="en-US" dirty="0">
                          <a:solidFill>
                            <a:schemeClr val="tx1"/>
                          </a:solidFill>
                        </a:rPr>
                        <a:t>Sample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Sample 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008253"/>
                  </a:ext>
                </a:extLst>
              </a:tr>
              <a:tr h="370840">
                <a:tc>
                  <a:txBody>
                    <a:bodyPr/>
                    <a:lstStyle/>
                    <a:p>
                      <a:pPr algn="ctr"/>
                      <a:r>
                        <a:rPr lang="en-US" sz="1600" b="0" dirty="0">
                          <a:solidFill>
                            <a:schemeClr val="tx1"/>
                          </a:solidFill>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solidFill>
                            <a:schemeClr val="tx1"/>
                          </a:solidFill>
                        </a:rPr>
                        <a:t>537.33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756136"/>
                  </a:ext>
                </a:extLst>
              </a:tr>
              <a:tr h="370840">
                <a:tc>
                  <a:txBody>
                    <a:bodyPr/>
                    <a:lstStyle/>
                    <a:p>
                      <a:pPr algn="ctr"/>
                      <a:r>
                        <a:rPr lang="en-US" sz="1600" b="0" dirty="0">
                          <a:solidFill>
                            <a:schemeClr val="tx1"/>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solidFill>
                            <a:schemeClr val="tx1"/>
                          </a:solidFill>
                        </a:rPr>
                        <a:t>541.42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61666"/>
                  </a:ext>
                </a:extLst>
              </a:tr>
              <a:tr h="370840">
                <a:tc>
                  <a:txBody>
                    <a:bodyPr/>
                    <a:lstStyle/>
                    <a:p>
                      <a:pPr algn="ctr"/>
                      <a:r>
                        <a:rPr lang="en-US" sz="1600" b="0" dirty="0">
                          <a:solidFill>
                            <a:schemeClr val="tx1"/>
                          </a:solidFill>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solidFill>
                            <a:schemeClr val="tx1"/>
                          </a:solidFill>
                        </a:rPr>
                        <a:t>546.85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324256"/>
                  </a:ext>
                </a:extLst>
              </a:tr>
              <a:tr h="370840">
                <a:tc>
                  <a:txBody>
                    <a:bodyPr/>
                    <a:lstStyle/>
                    <a:p>
                      <a:pPr algn="ctr"/>
                      <a:r>
                        <a:rPr lang="en-US" sz="1600" b="1" dirty="0"/>
                        <a:t>Population Mean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545.68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8056597"/>
                  </a:ext>
                </a:extLst>
              </a:tr>
            </a:tbl>
          </a:graphicData>
        </a:graphic>
      </p:graphicFrame>
      <p:pic>
        <p:nvPicPr>
          <p:cNvPr id="9" name="Picture 8">
            <a:extLst>
              <a:ext uri="{FF2B5EF4-FFF2-40B4-BE49-F238E27FC236}">
                <a16:creationId xmlns:a16="http://schemas.microsoft.com/office/drawing/2014/main" id="{35628345-07D7-2963-925F-F87F7292BF3F}"/>
              </a:ext>
            </a:extLst>
          </p:cNvPr>
          <p:cNvPicPr>
            <a:picLocks noChangeAspect="1"/>
          </p:cNvPicPr>
          <p:nvPr/>
        </p:nvPicPr>
        <p:blipFill>
          <a:blip r:embed="rId2"/>
          <a:stretch>
            <a:fillRect/>
          </a:stretch>
        </p:blipFill>
        <p:spPr>
          <a:xfrm>
            <a:off x="6499274" y="1592867"/>
            <a:ext cx="5471549" cy="3672265"/>
          </a:xfrm>
          <a:prstGeom prst="rect">
            <a:avLst/>
          </a:prstGeom>
        </p:spPr>
      </p:pic>
      <p:sp>
        <p:nvSpPr>
          <p:cNvPr id="11" name="TextBox 10">
            <a:extLst>
              <a:ext uri="{FF2B5EF4-FFF2-40B4-BE49-F238E27FC236}">
                <a16:creationId xmlns:a16="http://schemas.microsoft.com/office/drawing/2014/main" id="{248AEDE1-362F-C4DB-85EC-5FBD9485E729}"/>
              </a:ext>
            </a:extLst>
          </p:cNvPr>
          <p:cNvSpPr txBox="1"/>
          <p:nvPr/>
        </p:nvSpPr>
        <p:spPr>
          <a:xfrm>
            <a:off x="921379" y="3826380"/>
            <a:ext cx="5577895" cy="1600438"/>
          </a:xfrm>
          <a:prstGeom prst="rect">
            <a:avLst/>
          </a:prstGeom>
          <a:noFill/>
        </p:spPr>
        <p:txBody>
          <a:bodyPr wrap="square">
            <a:spAutoFit/>
          </a:bodyPr>
          <a:lstStyle/>
          <a:p>
            <a:pPr>
              <a:buNone/>
            </a:pPr>
            <a:r>
              <a:rPr lang="en-US" sz="1600" b="1" dirty="0">
                <a:solidFill>
                  <a:srgbClr val="FF0000"/>
                </a:solidFill>
              </a:rPr>
              <a:t>Business Insights</a:t>
            </a:r>
          </a:p>
          <a:p>
            <a:pPr marL="285750" indent="-285750">
              <a:buFont typeface="Arial" panose="020B0604020202020204" pitchFamily="34" charset="0"/>
              <a:buChar char="•"/>
            </a:pPr>
            <a:r>
              <a:rPr lang="en-US" sz="1600" dirty="0"/>
              <a:t>As the sample size increased, the sample mean moved closer to the population mean </a:t>
            </a:r>
            <a:r>
              <a:rPr lang="en-US" sz="1600" dirty="0">
                <a:solidFill>
                  <a:schemeClr val="accent1"/>
                </a:solidFill>
              </a:rPr>
              <a:t>(</a:t>
            </a:r>
            <a:r>
              <a:rPr lang="en-US" sz="1600" b="1" dirty="0">
                <a:solidFill>
                  <a:schemeClr val="accent1"/>
                </a:solidFill>
              </a:rPr>
              <a:t>₹545.68</a:t>
            </a:r>
            <a:r>
              <a:rPr lang="en-US" sz="1600" dirty="0">
                <a:solidFill>
                  <a:schemeClr val="accent1"/>
                </a:solidFill>
              </a:rPr>
              <a:t>). </a:t>
            </a:r>
          </a:p>
          <a:p>
            <a:pPr marL="285750" indent="-285750">
              <a:buFont typeface="Arial" panose="020B0604020202020204" pitchFamily="34" charset="0"/>
              <a:buChar char="•"/>
            </a:pPr>
            <a:r>
              <a:rPr lang="en-US" sz="1600" dirty="0"/>
              <a:t>The sample of </a:t>
            </a:r>
            <a:r>
              <a:rPr lang="en-US" sz="1600" b="1" dirty="0">
                <a:solidFill>
                  <a:schemeClr val="accent1"/>
                </a:solidFill>
              </a:rPr>
              <a:t>100</a:t>
            </a:r>
            <a:r>
              <a:rPr lang="en-US" sz="1600" dirty="0"/>
              <a:t> provided the </a:t>
            </a:r>
            <a:r>
              <a:rPr lang="en-US" sz="1600" b="1" dirty="0">
                <a:solidFill>
                  <a:schemeClr val="accent1"/>
                </a:solidFill>
              </a:rPr>
              <a:t>most accurate estimate</a:t>
            </a:r>
            <a:r>
              <a:rPr lang="en-US" sz="1600" dirty="0"/>
              <a:t>. </a:t>
            </a:r>
          </a:p>
          <a:p>
            <a:pPr marL="285750" indent="-285750">
              <a:buFont typeface="Arial" panose="020B0604020202020204" pitchFamily="34" charset="0"/>
              <a:buChar char="•"/>
            </a:pPr>
            <a:r>
              <a:rPr lang="en-US" sz="1600" b="1" dirty="0">
                <a:solidFill>
                  <a:schemeClr val="accent1"/>
                </a:solidFill>
              </a:rPr>
              <a:t>Larger samples</a:t>
            </a:r>
            <a:r>
              <a:rPr lang="en-US" sz="1600" dirty="0">
                <a:solidFill>
                  <a:schemeClr val="accent1"/>
                </a:solidFill>
              </a:rPr>
              <a:t> </a:t>
            </a:r>
            <a:r>
              <a:rPr lang="en-US" sz="1600" dirty="0"/>
              <a:t>reduce sampling error and </a:t>
            </a:r>
            <a:r>
              <a:rPr lang="en-US" sz="1600" b="1" dirty="0">
                <a:solidFill>
                  <a:schemeClr val="accent1"/>
                </a:solidFill>
              </a:rPr>
              <a:t>produce more reliable business insights</a:t>
            </a:r>
            <a:r>
              <a:rPr lang="en-US" sz="1600" dirty="0"/>
              <a:t>.</a:t>
            </a:r>
          </a:p>
        </p:txBody>
      </p:sp>
      <p:sp>
        <p:nvSpPr>
          <p:cNvPr id="13" name="TextBox 12">
            <a:extLst>
              <a:ext uri="{FF2B5EF4-FFF2-40B4-BE49-F238E27FC236}">
                <a16:creationId xmlns:a16="http://schemas.microsoft.com/office/drawing/2014/main" id="{05099649-C09D-2AB1-FB77-66BCEC3F1EE4}"/>
              </a:ext>
            </a:extLst>
          </p:cNvPr>
          <p:cNvSpPr txBox="1"/>
          <p:nvPr/>
        </p:nvSpPr>
        <p:spPr>
          <a:xfrm>
            <a:off x="2108675" y="5438693"/>
            <a:ext cx="9456224" cy="1077218"/>
          </a:xfrm>
          <a:prstGeom prst="rect">
            <a:avLst/>
          </a:prstGeom>
          <a:noFill/>
        </p:spPr>
        <p:txBody>
          <a:bodyPr wrap="square">
            <a:spAutoFit/>
          </a:bodyPr>
          <a:lstStyle/>
          <a:p>
            <a:pPr>
              <a:buNone/>
            </a:pPr>
            <a:r>
              <a:rPr lang="en-US" sz="1600" b="1" dirty="0">
                <a:solidFill>
                  <a:srgbClr val="FF0000"/>
                </a:solidFill>
              </a:rPr>
              <a:t>Business Recommendation</a:t>
            </a:r>
          </a:p>
          <a:p>
            <a:pPr>
              <a:buFont typeface="Arial" panose="020B0604020202020204" pitchFamily="34" charset="0"/>
              <a:buChar char="•"/>
            </a:pPr>
            <a:r>
              <a:rPr lang="en-US" sz="1600" dirty="0"/>
              <a:t>Use </a:t>
            </a:r>
            <a:r>
              <a:rPr lang="en-US" sz="1600" b="1" dirty="0">
                <a:solidFill>
                  <a:schemeClr val="accent1"/>
                </a:solidFill>
              </a:rPr>
              <a:t>sufficiently large random samples </a:t>
            </a:r>
            <a:r>
              <a:rPr lang="en-US" sz="1600" dirty="0"/>
              <a:t>when analyzing customer spending or sales performance. </a:t>
            </a:r>
          </a:p>
          <a:p>
            <a:pPr>
              <a:buFont typeface="Arial" panose="020B0604020202020204" pitchFamily="34" charset="0"/>
              <a:buChar char="•"/>
            </a:pPr>
            <a:r>
              <a:rPr lang="en-US" sz="1600" b="1" dirty="0">
                <a:solidFill>
                  <a:schemeClr val="accent1"/>
                </a:solidFill>
              </a:rPr>
              <a:t>Avoid making strategic decisions based on very small samples</a:t>
            </a:r>
            <a:r>
              <a:rPr lang="en-US" sz="1600" dirty="0"/>
              <a:t>, as they may not accurately represent overall business performance.</a:t>
            </a:r>
          </a:p>
        </p:txBody>
      </p:sp>
    </p:spTree>
    <p:extLst>
      <p:ext uri="{BB962C8B-B14F-4D97-AF65-F5344CB8AC3E}">
        <p14:creationId xmlns:p14="http://schemas.microsoft.com/office/powerpoint/2010/main" val="3258118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C95D50-CDE4-9DC5-2C21-800D900F4543}"/>
              </a:ext>
            </a:extLst>
          </p:cNvPr>
          <p:cNvSpPr txBox="1"/>
          <p:nvPr/>
        </p:nvSpPr>
        <p:spPr>
          <a:xfrm>
            <a:off x="4276358" y="0"/>
            <a:ext cx="5120860"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Statistical Analysis – Two Sample Z-Test</a:t>
            </a:r>
          </a:p>
        </p:txBody>
      </p:sp>
      <p:sp>
        <p:nvSpPr>
          <p:cNvPr id="3" name="Rectangle 2">
            <a:extLst>
              <a:ext uri="{FF2B5EF4-FFF2-40B4-BE49-F238E27FC236}">
                <a16:creationId xmlns:a16="http://schemas.microsoft.com/office/drawing/2014/main" id="{8D5175B5-C042-9FC1-B87B-BEF1AC56137D}"/>
              </a:ext>
            </a:extLst>
          </p:cNvPr>
          <p:cNvSpPr/>
          <p:nvPr/>
        </p:nvSpPr>
        <p:spPr>
          <a:xfrm>
            <a:off x="1012984" y="520505"/>
            <a:ext cx="11014893" cy="6471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latin typeface="+mj-lt"/>
              </a:rPr>
              <a:t>Business question : </a:t>
            </a:r>
            <a:r>
              <a:rPr lang="en-US" sz="1600" b="1" dirty="0">
                <a:solidFill>
                  <a:schemeClr val="tx1"/>
                </a:solidFill>
              </a:rPr>
              <a:t>Is there a statistically significant difference in the average delivery time between Urban and Metropolitan regions?</a:t>
            </a:r>
          </a:p>
          <a:p>
            <a:pPr algn="ctr"/>
            <a:endParaRPr lang="en-US" sz="1600" b="1" dirty="0">
              <a:solidFill>
                <a:schemeClr val="tx1"/>
              </a:solidFill>
              <a:latin typeface="+mj-lt"/>
            </a:endParaRPr>
          </a:p>
        </p:txBody>
      </p:sp>
      <p:sp>
        <p:nvSpPr>
          <p:cNvPr id="5" name="TextBox 4">
            <a:extLst>
              <a:ext uri="{FF2B5EF4-FFF2-40B4-BE49-F238E27FC236}">
                <a16:creationId xmlns:a16="http://schemas.microsoft.com/office/drawing/2014/main" id="{5A0C7D0D-29C9-BAE9-590D-EBA464DBEEA2}"/>
              </a:ext>
            </a:extLst>
          </p:cNvPr>
          <p:cNvSpPr txBox="1"/>
          <p:nvPr/>
        </p:nvSpPr>
        <p:spPr>
          <a:xfrm>
            <a:off x="1557997" y="1066857"/>
            <a:ext cx="9991578" cy="584775"/>
          </a:xfrm>
          <a:prstGeom prst="rect">
            <a:avLst/>
          </a:prstGeom>
          <a:noFill/>
        </p:spPr>
        <p:txBody>
          <a:bodyPr wrap="square">
            <a:spAutoFit/>
          </a:bodyPr>
          <a:lstStyle/>
          <a:p>
            <a:pPr>
              <a:buNone/>
            </a:pPr>
            <a:r>
              <a:rPr lang="en-US" sz="1600" b="1" dirty="0">
                <a:solidFill>
                  <a:srgbClr val="FF0000"/>
                </a:solidFill>
              </a:rPr>
              <a:t>Objective : </a:t>
            </a:r>
            <a:r>
              <a:rPr lang="en-US" sz="1600" b="1" dirty="0"/>
              <a:t>Compare the average delivery time of Urban and Metropolitan regions to determine whether regional delivery performance differs significantly.</a:t>
            </a:r>
          </a:p>
        </p:txBody>
      </p:sp>
      <p:sp>
        <p:nvSpPr>
          <p:cNvPr id="7" name="TextBox 6">
            <a:extLst>
              <a:ext uri="{FF2B5EF4-FFF2-40B4-BE49-F238E27FC236}">
                <a16:creationId xmlns:a16="http://schemas.microsoft.com/office/drawing/2014/main" id="{8579610E-0E3D-0D2D-13B2-A9B7DFF6A50B}"/>
              </a:ext>
            </a:extLst>
          </p:cNvPr>
          <p:cNvSpPr txBox="1"/>
          <p:nvPr/>
        </p:nvSpPr>
        <p:spPr>
          <a:xfrm>
            <a:off x="1557997" y="1651632"/>
            <a:ext cx="9991578" cy="1323439"/>
          </a:xfrm>
          <a:prstGeom prst="rect">
            <a:avLst/>
          </a:prstGeom>
          <a:noFill/>
        </p:spPr>
        <p:txBody>
          <a:bodyPr wrap="square">
            <a:spAutoFit/>
          </a:bodyPr>
          <a:lstStyle/>
          <a:p>
            <a:pPr>
              <a:buNone/>
            </a:pPr>
            <a:r>
              <a:rPr lang="en-US" sz="1600" b="1" dirty="0">
                <a:solidFill>
                  <a:srgbClr val="FF0000"/>
                </a:solidFill>
              </a:rPr>
              <a:t>Hypothesis</a:t>
            </a:r>
          </a:p>
          <a:p>
            <a:pPr>
              <a:buNone/>
            </a:pPr>
            <a:r>
              <a:rPr lang="en-US" sz="1600" b="1" dirty="0"/>
              <a:t>H₀ (Null Hypothesis):</a:t>
            </a:r>
            <a:br>
              <a:rPr lang="en-US" sz="1600" dirty="0"/>
            </a:br>
            <a:r>
              <a:rPr lang="en-US" sz="1600" dirty="0"/>
              <a:t>There is </a:t>
            </a:r>
            <a:r>
              <a:rPr lang="en-US" sz="1600" b="1" dirty="0">
                <a:solidFill>
                  <a:schemeClr val="accent1"/>
                </a:solidFill>
              </a:rPr>
              <a:t>no significant difference</a:t>
            </a:r>
            <a:r>
              <a:rPr lang="en-US" sz="1600" dirty="0">
                <a:solidFill>
                  <a:schemeClr val="accent1"/>
                </a:solidFill>
              </a:rPr>
              <a:t> </a:t>
            </a:r>
            <a:r>
              <a:rPr lang="en-US" sz="1600" dirty="0"/>
              <a:t>in the average delivery time between Urban and Metropolitan regions.</a:t>
            </a:r>
          </a:p>
          <a:p>
            <a:pPr>
              <a:buNone/>
            </a:pPr>
            <a:r>
              <a:rPr lang="en-US" sz="1600" b="1" dirty="0"/>
              <a:t>H₁ (Alternative Hypothesis):</a:t>
            </a:r>
            <a:br>
              <a:rPr lang="en-US" sz="1600" dirty="0"/>
            </a:br>
            <a:r>
              <a:rPr lang="en-US" sz="1600" dirty="0"/>
              <a:t>There </a:t>
            </a:r>
            <a:r>
              <a:rPr lang="en-US" sz="1600" b="1" dirty="0"/>
              <a:t>is </a:t>
            </a:r>
            <a:r>
              <a:rPr lang="en-US" sz="1600" b="1" dirty="0">
                <a:solidFill>
                  <a:schemeClr val="accent1"/>
                </a:solidFill>
              </a:rPr>
              <a:t>a significant difference</a:t>
            </a:r>
            <a:r>
              <a:rPr lang="en-US" sz="1600" dirty="0">
                <a:solidFill>
                  <a:schemeClr val="accent1"/>
                </a:solidFill>
              </a:rPr>
              <a:t> </a:t>
            </a:r>
            <a:r>
              <a:rPr lang="en-US" sz="1600" dirty="0"/>
              <a:t>in the average delivery time between Urban and Metropolitan regions.</a:t>
            </a:r>
          </a:p>
        </p:txBody>
      </p:sp>
      <p:graphicFrame>
        <p:nvGraphicFramePr>
          <p:cNvPr id="8" name="Table 7">
            <a:extLst>
              <a:ext uri="{FF2B5EF4-FFF2-40B4-BE49-F238E27FC236}">
                <a16:creationId xmlns:a16="http://schemas.microsoft.com/office/drawing/2014/main" id="{134BB1BE-B4B4-7CC5-1A2E-301B9433BA06}"/>
              </a:ext>
            </a:extLst>
          </p:cNvPr>
          <p:cNvGraphicFramePr>
            <a:graphicFrameLocks noGrp="1"/>
          </p:cNvGraphicFramePr>
          <p:nvPr>
            <p:extLst>
              <p:ext uri="{D42A27DB-BD31-4B8C-83A1-F6EECF244321}">
                <p14:modId xmlns:p14="http://schemas.microsoft.com/office/powerpoint/2010/main" val="4060354972"/>
              </p:ext>
            </p:extLst>
          </p:nvPr>
        </p:nvGraphicFramePr>
        <p:xfrm>
          <a:off x="1130472" y="3101535"/>
          <a:ext cx="4482537" cy="1381760"/>
        </p:xfrm>
        <a:graphic>
          <a:graphicData uri="http://schemas.openxmlformats.org/drawingml/2006/table">
            <a:tbl>
              <a:tblPr firstRow="1" bandRow="1">
                <a:tableStyleId>{5C22544A-7EE6-4342-B048-85BDC9FD1C3A}</a:tableStyleId>
              </a:tblPr>
              <a:tblGrid>
                <a:gridCol w="1494179">
                  <a:extLst>
                    <a:ext uri="{9D8B030D-6E8A-4147-A177-3AD203B41FA5}">
                      <a16:colId xmlns:a16="http://schemas.microsoft.com/office/drawing/2014/main" val="2872979596"/>
                    </a:ext>
                  </a:extLst>
                </a:gridCol>
                <a:gridCol w="1494179">
                  <a:extLst>
                    <a:ext uri="{9D8B030D-6E8A-4147-A177-3AD203B41FA5}">
                      <a16:colId xmlns:a16="http://schemas.microsoft.com/office/drawing/2014/main" val="2646313883"/>
                    </a:ext>
                  </a:extLst>
                </a:gridCol>
                <a:gridCol w="1494179">
                  <a:extLst>
                    <a:ext uri="{9D8B030D-6E8A-4147-A177-3AD203B41FA5}">
                      <a16:colId xmlns:a16="http://schemas.microsoft.com/office/drawing/2014/main" val="2601510470"/>
                    </a:ext>
                  </a:extLst>
                </a:gridCol>
              </a:tblGrid>
              <a:tr h="370840">
                <a:tc>
                  <a:txBody>
                    <a:bodyPr/>
                    <a:lstStyle/>
                    <a:p>
                      <a:pPr marL="0" algn="ctr" defTabSz="457200" rtl="0" eaLnBrk="1" latinLnBrk="0" hangingPunct="1"/>
                      <a:r>
                        <a:rPr lang="en-US" sz="1800" b="1" kern="1200" dirty="0">
                          <a:solidFill>
                            <a:schemeClr val="tx1"/>
                          </a:solidFill>
                          <a:latin typeface="+mn-lt"/>
                          <a:ea typeface="+mn-ea"/>
                          <a:cs typeface="+mn-cs"/>
                        </a:rPr>
                        <a:t>Metric</a:t>
                      </a:r>
                    </a:p>
                  </a:txBody>
                  <a:tcPr/>
                </a:tc>
                <a:tc>
                  <a:txBody>
                    <a:bodyPr/>
                    <a:lstStyle/>
                    <a:p>
                      <a:pPr marL="0" algn="ctr" defTabSz="457200" rtl="0" eaLnBrk="1" latinLnBrk="0" hangingPunct="1"/>
                      <a:r>
                        <a:rPr lang="en-US" sz="1800" b="1" kern="1200" dirty="0">
                          <a:solidFill>
                            <a:schemeClr val="tx1"/>
                          </a:solidFill>
                          <a:latin typeface="+mn-lt"/>
                          <a:ea typeface="+mn-ea"/>
                          <a:cs typeface="+mn-cs"/>
                        </a:rPr>
                        <a:t>Urban</a:t>
                      </a:r>
                    </a:p>
                  </a:txBody>
                  <a:tcPr/>
                </a:tc>
                <a:tc>
                  <a:txBody>
                    <a:bodyPr/>
                    <a:lstStyle/>
                    <a:p>
                      <a:pPr marL="0" algn="ctr" defTabSz="457200" rtl="0" eaLnBrk="1" latinLnBrk="0" hangingPunct="1"/>
                      <a:r>
                        <a:rPr lang="en-US" sz="1800" b="1" kern="1200" dirty="0">
                          <a:solidFill>
                            <a:schemeClr val="tx1"/>
                          </a:solidFill>
                          <a:latin typeface="+mn-lt"/>
                          <a:ea typeface="+mn-ea"/>
                          <a:cs typeface="+mn-cs"/>
                        </a:rPr>
                        <a:t>Metropolitan</a:t>
                      </a:r>
                    </a:p>
                  </a:txBody>
                  <a:tcPr/>
                </a:tc>
                <a:extLst>
                  <a:ext uri="{0D108BD9-81ED-4DB2-BD59-A6C34878D82A}">
                    <a16:rowId xmlns:a16="http://schemas.microsoft.com/office/drawing/2014/main" val="2878410091"/>
                  </a:ext>
                </a:extLst>
              </a:tr>
              <a:tr h="370840">
                <a:tc>
                  <a:txBody>
                    <a:bodyPr/>
                    <a:lstStyle/>
                    <a:p>
                      <a:pPr marL="0" algn="ctr" defTabSz="457200" rtl="0" eaLnBrk="1" latinLnBrk="0" hangingPunct="1"/>
                      <a:r>
                        <a:rPr lang="en-US" sz="1800" b="0" kern="1200" dirty="0">
                          <a:solidFill>
                            <a:schemeClr val="tx1"/>
                          </a:solidFill>
                          <a:latin typeface="+mn-lt"/>
                          <a:ea typeface="+mn-ea"/>
                          <a:cs typeface="+mn-cs"/>
                        </a:rPr>
                        <a:t>Average Delivery Time</a:t>
                      </a:r>
                    </a:p>
                  </a:txBody>
                  <a:tcPr/>
                </a:tc>
                <a:tc>
                  <a:txBody>
                    <a:bodyPr/>
                    <a:lstStyle/>
                    <a:p>
                      <a:pPr marL="0" algn="ctr" defTabSz="457200" rtl="0" eaLnBrk="1" latinLnBrk="0" hangingPunct="1"/>
                      <a:r>
                        <a:rPr lang="en-US" sz="1800" b="0" kern="1200" dirty="0">
                          <a:solidFill>
                            <a:schemeClr val="tx1"/>
                          </a:solidFill>
                          <a:latin typeface="+mn-lt"/>
                          <a:ea typeface="+mn-ea"/>
                          <a:cs typeface="+mn-cs"/>
                        </a:rPr>
                        <a:t>35.51 min</a:t>
                      </a:r>
                    </a:p>
                  </a:txBody>
                  <a:tcPr/>
                </a:tc>
                <a:tc>
                  <a:txBody>
                    <a:bodyPr/>
                    <a:lstStyle/>
                    <a:p>
                      <a:pPr marL="0" algn="ctr" defTabSz="457200" rtl="0" eaLnBrk="1" latinLnBrk="0" hangingPunct="1"/>
                      <a:r>
                        <a:rPr lang="en-US" sz="1800" b="0" kern="1200" dirty="0">
                          <a:solidFill>
                            <a:schemeClr val="tx1"/>
                          </a:solidFill>
                          <a:latin typeface="+mn-lt"/>
                          <a:ea typeface="+mn-ea"/>
                          <a:cs typeface="+mn-cs"/>
                        </a:rPr>
                        <a:t>35.50 min</a:t>
                      </a:r>
                    </a:p>
                  </a:txBody>
                  <a:tcPr/>
                </a:tc>
                <a:extLst>
                  <a:ext uri="{0D108BD9-81ED-4DB2-BD59-A6C34878D82A}">
                    <a16:rowId xmlns:a16="http://schemas.microsoft.com/office/drawing/2014/main" val="669283992"/>
                  </a:ext>
                </a:extLst>
              </a:tr>
              <a:tr h="370840">
                <a:tc>
                  <a:txBody>
                    <a:bodyPr/>
                    <a:lstStyle/>
                    <a:p>
                      <a:pPr marL="0" algn="ctr" defTabSz="457200" rtl="0" eaLnBrk="1" latinLnBrk="0" hangingPunct="1"/>
                      <a:r>
                        <a:rPr lang="en-US" sz="1800" b="0" kern="1200" dirty="0">
                          <a:solidFill>
                            <a:schemeClr val="tx1"/>
                          </a:solidFill>
                          <a:latin typeface="+mn-lt"/>
                          <a:ea typeface="+mn-ea"/>
                          <a:cs typeface="+mn-cs"/>
                        </a:rPr>
                        <a:t>Sample Size</a:t>
                      </a:r>
                    </a:p>
                  </a:txBody>
                  <a:tcPr/>
                </a:tc>
                <a:tc>
                  <a:txBody>
                    <a:bodyPr/>
                    <a:lstStyle/>
                    <a:p>
                      <a:pPr marL="0" algn="ctr" defTabSz="457200" rtl="0" eaLnBrk="1" latinLnBrk="0" hangingPunct="1"/>
                      <a:r>
                        <a:rPr lang="en-US" sz="1800" b="0" kern="1200" dirty="0">
                          <a:solidFill>
                            <a:schemeClr val="tx1"/>
                          </a:solidFill>
                          <a:latin typeface="+mn-lt"/>
                          <a:ea typeface="+mn-ea"/>
                          <a:cs typeface="+mn-cs"/>
                        </a:rPr>
                        <a:t>33,421</a:t>
                      </a:r>
                    </a:p>
                  </a:txBody>
                  <a:tcPr/>
                </a:tc>
                <a:tc>
                  <a:txBody>
                    <a:bodyPr/>
                    <a:lstStyle/>
                    <a:p>
                      <a:pPr marL="0" algn="ctr" defTabSz="457200" rtl="0" eaLnBrk="1" latinLnBrk="0" hangingPunct="1"/>
                      <a:r>
                        <a:rPr lang="en-US" sz="1800" b="0" kern="1200" dirty="0">
                          <a:solidFill>
                            <a:schemeClr val="tx1"/>
                          </a:solidFill>
                          <a:latin typeface="+mn-lt"/>
                          <a:ea typeface="+mn-ea"/>
                          <a:cs typeface="+mn-cs"/>
                        </a:rPr>
                        <a:t>33,230</a:t>
                      </a:r>
                    </a:p>
                  </a:txBody>
                  <a:tcPr/>
                </a:tc>
                <a:extLst>
                  <a:ext uri="{0D108BD9-81ED-4DB2-BD59-A6C34878D82A}">
                    <a16:rowId xmlns:a16="http://schemas.microsoft.com/office/drawing/2014/main" val="1511573958"/>
                  </a:ext>
                </a:extLst>
              </a:tr>
            </a:tbl>
          </a:graphicData>
        </a:graphic>
      </p:graphicFrame>
      <p:graphicFrame>
        <p:nvGraphicFramePr>
          <p:cNvPr id="9" name="Table 8">
            <a:extLst>
              <a:ext uri="{FF2B5EF4-FFF2-40B4-BE49-F238E27FC236}">
                <a16:creationId xmlns:a16="http://schemas.microsoft.com/office/drawing/2014/main" id="{D90261AE-6DE5-79C1-51CB-DF8AF4FA676B}"/>
              </a:ext>
            </a:extLst>
          </p:cNvPr>
          <p:cNvGraphicFramePr>
            <a:graphicFrameLocks noGrp="1"/>
          </p:cNvGraphicFramePr>
          <p:nvPr>
            <p:extLst>
              <p:ext uri="{D42A27DB-BD31-4B8C-83A1-F6EECF244321}">
                <p14:modId xmlns:p14="http://schemas.microsoft.com/office/powerpoint/2010/main" val="3936183644"/>
              </p:ext>
            </p:extLst>
          </p:nvPr>
        </p:nvGraphicFramePr>
        <p:xfrm>
          <a:off x="1130472" y="4748139"/>
          <a:ext cx="3962034" cy="1854200"/>
        </p:xfrm>
        <a:graphic>
          <a:graphicData uri="http://schemas.openxmlformats.org/drawingml/2006/table">
            <a:tbl>
              <a:tblPr firstRow="1" bandRow="1">
                <a:tableStyleId>{5C22544A-7EE6-4342-B048-85BDC9FD1C3A}</a:tableStyleId>
              </a:tblPr>
              <a:tblGrid>
                <a:gridCol w="1981017">
                  <a:extLst>
                    <a:ext uri="{9D8B030D-6E8A-4147-A177-3AD203B41FA5}">
                      <a16:colId xmlns:a16="http://schemas.microsoft.com/office/drawing/2014/main" val="3965997172"/>
                    </a:ext>
                  </a:extLst>
                </a:gridCol>
                <a:gridCol w="1981017">
                  <a:extLst>
                    <a:ext uri="{9D8B030D-6E8A-4147-A177-3AD203B41FA5}">
                      <a16:colId xmlns:a16="http://schemas.microsoft.com/office/drawing/2014/main" val="3759043192"/>
                    </a:ext>
                  </a:extLst>
                </a:gridCol>
              </a:tblGrid>
              <a:tr h="370840">
                <a:tc>
                  <a:txBody>
                    <a:bodyPr/>
                    <a:lstStyle/>
                    <a:p>
                      <a:pPr marL="0" algn="ctr" defTabSz="457200" rtl="0" eaLnBrk="1" latinLnBrk="0" hangingPunct="1"/>
                      <a:r>
                        <a:rPr lang="en-US" sz="1800" b="1" kern="1200" dirty="0">
                          <a:solidFill>
                            <a:schemeClr val="tx1"/>
                          </a:solidFill>
                          <a:latin typeface="+mn-lt"/>
                          <a:ea typeface="+mn-ea"/>
                          <a:cs typeface="+mn-cs"/>
                        </a:rPr>
                        <a:t>Test Statistics</a:t>
                      </a:r>
                    </a:p>
                  </a:txBody>
                  <a:tcPr/>
                </a:tc>
                <a:tc>
                  <a:txBody>
                    <a:bodyPr/>
                    <a:lstStyle/>
                    <a:p>
                      <a:pPr marL="0" algn="ctr" defTabSz="457200" rtl="0" eaLnBrk="1" latinLnBrk="0" hangingPunct="1"/>
                      <a:r>
                        <a:rPr lang="en-US" sz="1800" b="1" kern="1200" dirty="0">
                          <a:solidFill>
                            <a:schemeClr val="tx1"/>
                          </a:solidFill>
                          <a:latin typeface="+mn-lt"/>
                          <a:ea typeface="+mn-ea"/>
                          <a:cs typeface="+mn-cs"/>
                        </a:rPr>
                        <a:t>Value</a:t>
                      </a:r>
                    </a:p>
                  </a:txBody>
                  <a:tcPr/>
                </a:tc>
                <a:extLst>
                  <a:ext uri="{0D108BD9-81ED-4DB2-BD59-A6C34878D82A}">
                    <a16:rowId xmlns:a16="http://schemas.microsoft.com/office/drawing/2014/main" val="3422974334"/>
                  </a:ext>
                </a:extLst>
              </a:tr>
              <a:tr h="370840">
                <a:tc>
                  <a:txBody>
                    <a:bodyPr/>
                    <a:lstStyle/>
                    <a:p>
                      <a:pPr marL="0" algn="ctr" defTabSz="457200" rtl="0" eaLnBrk="1" latinLnBrk="0" hangingPunct="1"/>
                      <a:r>
                        <a:rPr lang="en-US" sz="1800" b="0" kern="1200" dirty="0">
                          <a:solidFill>
                            <a:schemeClr val="tx1"/>
                          </a:solidFill>
                          <a:latin typeface="+mn-lt"/>
                          <a:ea typeface="+mn-ea"/>
                          <a:cs typeface="+mn-cs"/>
                        </a:rPr>
                        <a:t>Z Statistic</a:t>
                      </a:r>
                    </a:p>
                  </a:txBody>
                  <a:tcPr/>
                </a:tc>
                <a:tc>
                  <a:txBody>
                    <a:bodyPr/>
                    <a:lstStyle/>
                    <a:p>
                      <a:pPr marL="0" algn="ctr" defTabSz="457200" rtl="0" eaLnBrk="1" latinLnBrk="0" hangingPunct="1"/>
                      <a:r>
                        <a:rPr lang="en-US" sz="1800" b="0" kern="1200" dirty="0">
                          <a:solidFill>
                            <a:schemeClr val="tx1"/>
                          </a:solidFill>
                          <a:latin typeface="+mn-lt"/>
                          <a:ea typeface="+mn-ea"/>
                          <a:cs typeface="+mn-cs"/>
                        </a:rPr>
                        <a:t>0.2156</a:t>
                      </a:r>
                    </a:p>
                  </a:txBody>
                  <a:tcPr/>
                </a:tc>
                <a:extLst>
                  <a:ext uri="{0D108BD9-81ED-4DB2-BD59-A6C34878D82A}">
                    <a16:rowId xmlns:a16="http://schemas.microsoft.com/office/drawing/2014/main" val="3986395133"/>
                  </a:ext>
                </a:extLst>
              </a:tr>
              <a:tr h="370840">
                <a:tc>
                  <a:txBody>
                    <a:bodyPr/>
                    <a:lstStyle/>
                    <a:p>
                      <a:pPr marL="0" algn="ctr" defTabSz="457200" rtl="0" eaLnBrk="1" latinLnBrk="0" hangingPunct="1"/>
                      <a:r>
                        <a:rPr lang="en-US" sz="1800" b="0" kern="1200" dirty="0">
                          <a:solidFill>
                            <a:schemeClr val="tx1"/>
                          </a:solidFill>
                          <a:latin typeface="+mn-lt"/>
                          <a:ea typeface="+mn-ea"/>
                          <a:cs typeface="+mn-cs"/>
                        </a:rPr>
                        <a:t>p-value</a:t>
                      </a:r>
                    </a:p>
                  </a:txBody>
                  <a:tcPr/>
                </a:tc>
                <a:tc>
                  <a:txBody>
                    <a:bodyPr/>
                    <a:lstStyle/>
                    <a:p>
                      <a:pPr marL="0" algn="ctr" defTabSz="457200" rtl="0" eaLnBrk="1" latinLnBrk="0" hangingPunct="1"/>
                      <a:r>
                        <a:rPr lang="en-US" sz="1800" b="0" kern="1200" dirty="0">
                          <a:solidFill>
                            <a:schemeClr val="tx1"/>
                          </a:solidFill>
                          <a:latin typeface="+mn-lt"/>
                          <a:ea typeface="+mn-ea"/>
                          <a:cs typeface="+mn-cs"/>
                        </a:rPr>
                        <a:t>0.8293</a:t>
                      </a:r>
                    </a:p>
                  </a:txBody>
                  <a:tcPr/>
                </a:tc>
                <a:extLst>
                  <a:ext uri="{0D108BD9-81ED-4DB2-BD59-A6C34878D82A}">
                    <a16:rowId xmlns:a16="http://schemas.microsoft.com/office/drawing/2014/main" val="3970212808"/>
                  </a:ext>
                </a:extLst>
              </a:tr>
              <a:tr h="370840">
                <a:tc>
                  <a:txBody>
                    <a:bodyPr/>
                    <a:lstStyle/>
                    <a:p>
                      <a:pPr marL="0" algn="ctr" defTabSz="457200" rtl="0" eaLnBrk="1" latinLnBrk="0" hangingPunct="1"/>
                      <a:r>
                        <a:rPr lang="en-US" sz="1800" b="0" kern="1200" dirty="0">
                          <a:solidFill>
                            <a:schemeClr val="tx1"/>
                          </a:solidFill>
                          <a:latin typeface="+mn-lt"/>
                          <a:ea typeface="+mn-ea"/>
                          <a:cs typeface="+mn-cs"/>
                        </a:rPr>
                        <a:t>Significance level</a:t>
                      </a:r>
                    </a:p>
                  </a:txBody>
                  <a:tcPr/>
                </a:tc>
                <a:tc>
                  <a:txBody>
                    <a:bodyPr/>
                    <a:lstStyle/>
                    <a:p>
                      <a:pPr marL="0" algn="ctr" defTabSz="457200" rtl="0" eaLnBrk="1" latinLnBrk="0" hangingPunct="1"/>
                      <a:r>
                        <a:rPr lang="en-US" sz="1800" b="0" kern="1200" dirty="0">
                          <a:solidFill>
                            <a:schemeClr val="tx1"/>
                          </a:solidFill>
                          <a:latin typeface="+mn-lt"/>
                          <a:ea typeface="+mn-ea"/>
                          <a:cs typeface="+mn-cs"/>
                        </a:rPr>
                        <a:t>0.05</a:t>
                      </a:r>
                    </a:p>
                  </a:txBody>
                  <a:tcPr/>
                </a:tc>
                <a:extLst>
                  <a:ext uri="{0D108BD9-81ED-4DB2-BD59-A6C34878D82A}">
                    <a16:rowId xmlns:a16="http://schemas.microsoft.com/office/drawing/2014/main" val="3699343426"/>
                  </a:ext>
                </a:extLst>
              </a:tr>
              <a:tr h="370840">
                <a:tc>
                  <a:txBody>
                    <a:bodyPr/>
                    <a:lstStyle/>
                    <a:p>
                      <a:pPr marL="0" algn="ctr" defTabSz="457200" rtl="0" eaLnBrk="1" latinLnBrk="0" hangingPunct="1"/>
                      <a:r>
                        <a:rPr lang="en-US" sz="1800" b="1" kern="1200" dirty="0">
                          <a:solidFill>
                            <a:srgbClr val="FF0000"/>
                          </a:solidFill>
                          <a:latin typeface="+mn-lt"/>
                          <a:ea typeface="+mn-ea"/>
                          <a:cs typeface="+mn-cs"/>
                        </a:rPr>
                        <a:t>Decision</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200" dirty="0">
                          <a:solidFill>
                            <a:srgbClr val="FF0000"/>
                          </a:solidFill>
                          <a:latin typeface="+mn-lt"/>
                          <a:ea typeface="+mn-ea"/>
                          <a:cs typeface="+mn-cs"/>
                        </a:rPr>
                        <a:t>Fail to reject  H₀</a:t>
                      </a:r>
                    </a:p>
                  </a:txBody>
                  <a:tcPr/>
                </a:tc>
                <a:extLst>
                  <a:ext uri="{0D108BD9-81ED-4DB2-BD59-A6C34878D82A}">
                    <a16:rowId xmlns:a16="http://schemas.microsoft.com/office/drawing/2014/main" val="1260311131"/>
                  </a:ext>
                </a:extLst>
              </a:tr>
            </a:tbl>
          </a:graphicData>
        </a:graphic>
      </p:graphicFrame>
      <p:sp>
        <p:nvSpPr>
          <p:cNvPr id="12" name="TextBox 11">
            <a:extLst>
              <a:ext uri="{FF2B5EF4-FFF2-40B4-BE49-F238E27FC236}">
                <a16:creationId xmlns:a16="http://schemas.microsoft.com/office/drawing/2014/main" id="{2754AC53-E7E9-8465-7A19-813F16FD305C}"/>
              </a:ext>
            </a:extLst>
          </p:cNvPr>
          <p:cNvSpPr txBox="1"/>
          <p:nvPr/>
        </p:nvSpPr>
        <p:spPr>
          <a:xfrm>
            <a:off x="5767754" y="3224645"/>
            <a:ext cx="6260123" cy="3293209"/>
          </a:xfrm>
          <a:prstGeom prst="rect">
            <a:avLst/>
          </a:prstGeom>
          <a:solidFill>
            <a:schemeClr val="accent3">
              <a:lumMod val="60000"/>
              <a:lumOff val="40000"/>
            </a:schemeClr>
          </a:solidFill>
          <a:ln>
            <a:solidFill>
              <a:schemeClr val="tx1"/>
            </a:solidFill>
          </a:ln>
        </p:spPr>
        <p:txBody>
          <a:bodyPr wrap="square">
            <a:spAutoFit/>
          </a:bodyPr>
          <a:lstStyle/>
          <a:p>
            <a:pPr>
              <a:buNone/>
            </a:pPr>
            <a:r>
              <a:rPr lang="en-US" sz="1600" b="1" dirty="0"/>
              <a:t>Business Insights</a:t>
            </a:r>
          </a:p>
          <a:p>
            <a:pPr marL="285750" indent="-285750">
              <a:buFont typeface="Arial" panose="020B0604020202020204" pitchFamily="34" charset="0"/>
              <a:buChar char="•"/>
            </a:pPr>
            <a:r>
              <a:rPr lang="en-US" sz="1600" dirty="0"/>
              <a:t>The average delivery time differs by only </a:t>
            </a:r>
            <a:r>
              <a:rPr lang="en-US" sz="1600" b="1" dirty="0">
                <a:solidFill>
                  <a:schemeClr val="accent1"/>
                </a:solidFill>
              </a:rPr>
              <a:t>0.01 minute</a:t>
            </a:r>
            <a:r>
              <a:rPr lang="en-US" sz="1600" dirty="0">
                <a:solidFill>
                  <a:schemeClr val="accent1"/>
                </a:solidFill>
              </a:rPr>
              <a:t> </a:t>
            </a:r>
            <a:r>
              <a:rPr lang="en-US" sz="1600" dirty="0"/>
              <a:t>between the two regions. </a:t>
            </a:r>
          </a:p>
          <a:p>
            <a:pPr marL="285750" indent="-285750">
              <a:buFont typeface="Arial" panose="020B0604020202020204" pitchFamily="34" charset="0"/>
              <a:buChar char="•"/>
            </a:pPr>
            <a:r>
              <a:rPr lang="en-US" sz="1600" dirty="0"/>
              <a:t>Since </a:t>
            </a:r>
            <a:r>
              <a:rPr lang="en-US" sz="1600" b="1" dirty="0">
                <a:solidFill>
                  <a:schemeClr val="accent1"/>
                </a:solidFill>
              </a:rPr>
              <a:t>p = 0.8293 &gt; 0.05</a:t>
            </a:r>
            <a:r>
              <a:rPr lang="en-US" sz="1600" dirty="0"/>
              <a:t>, the difference is </a:t>
            </a:r>
            <a:r>
              <a:rPr lang="en-US" sz="1600" b="1" dirty="0">
                <a:solidFill>
                  <a:schemeClr val="accent1"/>
                </a:solidFill>
              </a:rPr>
              <a:t>not statistically</a:t>
            </a:r>
            <a:r>
              <a:rPr lang="en-US" sz="1600" b="1" dirty="0">
                <a:solidFill>
                  <a:srgbClr val="FF0000"/>
                </a:solidFill>
              </a:rPr>
              <a:t> </a:t>
            </a:r>
            <a:r>
              <a:rPr lang="en-US" sz="1600" b="1" dirty="0">
                <a:solidFill>
                  <a:schemeClr val="accent1"/>
                </a:solidFill>
              </a:rPr>
              <a:t>significant</a:t>
            </a:r>
            <a:r>
              <a:rPr lang="en-US" sz="1600" dirty="0"/>
              <a:t>. </a:t>
            </a:r>
          </a:p>
          <a:p>
            <a:pPr marL="285750" indent="-285750">
              <a:buFont typeface="Arial" panose="020B0604020202020204" pitchFamily="34" charset="0"/>
              <a:buChar char="•"/>
            </a:pPr>
            <a:r>
              <a:rPr lang="en-US" sz="1600" dirty="0"/>
              <a:t>Delivery performance is consistent across Urban and Metropolitan regions. </a:t>
            </a:r>
          </a:p>
          <a:p>
            <a:pPr>
              <a:buNone/>
            </a:pPr>
            <a:endParaRPr lang="en-US" sz="1600" dirty="0"/>
          </a:p>
          <a:p>
            <a:pPr>
              <a:buNone/>
            </a:pPr>
            <a:r>
              <a:rPr lang="en-US" sz="1600" b="1" dirty="0"/>
              <a:t>Business Recommendation</a:t>
            </a:r>
          </a:p>
          <a:p>
            <a:pPr marL="285750" indent="-285750">
              <a:buFont typeface="Arial" panose="020B0604020202020204" pitchFamily="34" charset="0"/>
              <a:buChar char="•"/>
            </a:pPr>
            <a:r>
              <a:rPr lang="en-US" sz="1600" dirty="0"/>
              <a:t>Continue using a common logistics strategy for both regions. </a:t>
            </a:r>
          </a:p>
          <a:p>
            <a:pPr marL="285750" indent="-285750">
              <a:buFont typeface="Arial" panose="020B0604020202020204" pitchFamily="34" charset="0"/>
              <a:buChar char="•"/>
            </a:pPr>
            <a:r>
              <a:rPr lang="en-US" sz="1600" b="1" dirty="0">
                <a:solidFill>
                  <a:schemeClr val="accent1"/>
                </a:solidFill>
              </a:rPr>
              <a:t>Focus operational improvements </a:t>
            </a:r>
            <a:r>
              <a:rPr lang="en-US" sz="1600" dirty="0"/>
              <a:t>on delivery efficiency, delayed deliveries, and customer </a:t>
            </a:r>
            <a:r>
              <a:rPr lang="en-US" sz="1600" dirty="0">
                <a:solidFill>
                  <a:schemeClr val="accent1"/>
                </a:solidFill>
              </a:rPr>
              <a:t>satisfaction </a:t>
            </a:r>
            <a:r>
              <a:rPr lang="en-US" sz="1600" b="1" dirty="0">
                <a:solidFill>
                  <a:schemeClr val="accent1"/>
                </a:solidFill>
              </a:rPr>
              <a:t>rather than regional delivery time differences</a:t>
            </a:r>
            <a:r>
              <a:rPr lang="en-US" sz="1600" dirty="0"/>
              <a:t>.</a:t>
            </a:r>
          </a:p>
        </p:txBody>
      </p:sp>
    </p:spTree>
    <p:extLst>
      <p:ext uri="{BB962C8B-B14F-4D97-AF65-F5344CB8AC3E}">
        <p14:creationId xmlns:p14="http://schemas.microsoft.com/office/powerpoint/2010/main" val="680944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A9492-163B-9DD7-D77B-F8FB9F8A79CD}"/>
              </a:ext>
            </a:extLst>
          </p:cNvPr>
          <p:cNvSpPr txBox="1"/>
          <p:nvPr/>
        </p:nvSpPr>
        <p:spPr>
          <a:xfrm>
            <a:off x="4276358" y="0"/>
            <a:ext cx="5120860"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Statistical Analysis – Chi-Square test</a:t>
            </a:r>
          </a:p>
        </p:txBody>
      </p:sp>
      <p:sp>
        <p:nvSpPr>
          <p:cNvPr id="3" name="Rectangle 2">
            <a:extLst>
              <a:ext uri="{FF2B5EF4-FFF2-40B4-BE49-F238E27FC236}">
                <a16:creationId xmlns:a16="http://schemas.microsoft.com/office/drawing/2014/main" id="{7B6A4EB2-6D31-3095-2243-B060F9E35A8C}"/>
              </a:ext>
            </a:extLst>
          </p:cNvPr>
          <p:cNvSpPr/>
          <p:nvPr/>
        </p:nvSpPr>
        <p:spPr>
          <a:xfrm>
            <a:off x="1012983" y="340523"/>
            <a:ext cx="11014893" cy="400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rgbClr val="FF0000"/>
                </a:solidFill>
              </a:rPr>
              <a:t>Business question : </a:t>
            </a:r>
            <a:r>
              <a:rPr lang="en-US" sz="1400" b="1" dirty="0">
                <a:solidFill>
                  <a:schemeClr val="tx1"/>
                </a:solidFill>
              </a:rPr>
              <a:t>Is there a significant association between Customer Type and Delivery Time Category?</a:t>
            </a:r>
          </a:p>
        </p:txBody>
      </p:sp>
      <p:sp>
        <p:nvSpPr>
          <p:cNvPr id="5" name="TextBox 4">
            <a:extLst>
              <a:ext uri="{FF2B5EF4-FFF2-40B4-BE49-F238E27FC236}">
                <a16:creationId xmlns:a16="http://schemas.microsoft.com/office/drawing/2014/main" id="{C65E22E9-7813-F3E0-DB92-CA079D3896F4}"/>
              </a:ext>
            </a:extLst>
          </p:cNvPr>
          <p:cNvSpPr txBox="1"/>
          <p:nvPr/>
        </p:nvSpPr>
        <p:spPr>
          <a:xfrm>
            <a:off x="1491175" y="598576"/>
            <a:ext cx="10536701" cy="523220"/>
          </a:xfrm>
          <a:prstGeom prst="rect">
            <a:avLst/>
          </a:prstGeom>
          <a:noFill/>
        </p:spPr>
        <p:txBody>
          <a:bodyPr wrap="square">
            <a:spAutoFit/>
          </a:bodyPr>
          <a:lstStyle/>
          <a:p>
            <a:r>
              <a:rPr lang="en-US" sz="1400" b="1" dirty="0">
                <a:solidFill>
                  <a:srgbClr val="FF0000"/>
                </a:solidFill>
              </a:rPr>
              <a:t>Objective:  </a:t>
            </a:r>
            <a:r>
              <a:rPr lang="en-US" sz="1400" b="1" dirty="0"/>
              <a:t>The Chi-Square Test of Independence is used to determine whether customer type and delivery time category are statistically associated. This analysis helps identify whether different customer segments experience different levels of delivery performance.</a:t>
            </a:r>
          </a:p>
        </p:txBody>
      </p:sp>
      <p:sp>
        <p:nvSpPr>
          <p:cNvPr id="6" name="TextBox 5">
            <a:extLst>
              <a:ext uri="{FF2B5EF4-FFF2-40B4-BE49-F238E27FC236}">
                <a16:creationId xmlns:a16="http://schemas.microsoft.com/office/drawing/2014/main" id="{E2048754-606B-0AE2-31AD-3900817894FF}"/>
              </a:ext>
            </a:extLst>
          </p:cNvPr>
          <p:cNvSpPr txBox="1"/>
          <p:nvPr/>
        </p:nvSpPr>
        <p:spPr>
          <a:xfrm>
            <a:off x="1491175" y="1121796"/>
            <a:ext cx="8707902" cy="738664"/>
          </a:xfrm>
          <a:prstGeom prst="rect">
            <a:avLst/>
          </a:prstGeom>
          <a:noFill/>
        </p:spPr>
        <p:txBody>
          <a:bodyPr wrap="square">
            <a:spAutoFit/>
          </a:bodyPr>
          <a:lstStyle/>
          <a:p>
            <a:pPr>
              <a:buNone/>
            </a:pPr>
            <a:r>
              <a:rPr lang="en-US" sz="1400" b="1" dirty="0">
                <a:solidFill>
                  <a:srgbClr val="FF0000"/>
                </a:solidFill>
              </a:rPr>
              <a:t>Hypothesis</a:t>
            </a:r>
          </a:p>
          <a:p>
            <a:pPr>
              <a:buNone/>
            </a:pPr>
            <a:r>
              <a:rPr lang="en-US" sz="1400" b="1" dirty="0"/>
              <a:t>H₀ (Null Hypothesis): </a:t>
            </a:r>
            <a:r>
              <a:rPr lang="en-US" sz="1400" dirty="0"/>
              <a:t>There is </a:t>
            </a:r>
            <a:r>
              <a:rPr lang="en-US" sz="1400" b="1" dirty="0">
                <a:solidFill>
                  <a:schemeClr val="accent1"/>
                </a:solidFill>
              </a:rPr>
              <a:t>no significant association </a:t>
            </a:r>
            <a:r>
              <a:rPr lang="en-US" sz="1400" dirty="0"/>
              <a:t>between Customer Type and Delivery Time Category.</a:t>
            </a:r>
          </a:p>
          <a:p>
            <a:pPr>
              <a:buNone/>
            </a:pPr>
            <a:r>
              <a:rPr lang="en-US" sz="1400" b="1" dirty="0"/>
              <a:t>H₁ (Alternative Hypothesis): </a:t>
            </a:r>
            <a:r>
              <a:rPr lang="en-US" sz="1400" dirty="0"/>
              <a:t>There is </a:t>
            </a:r>
            <a:r>
              <a:rPr lang="en-US" sz="1400" b="1" dirty="0">
                <a:solidFill>
                  <a:schemeClr val="accent1"/>
                </a:solidFill>
              </a:rPr>
              <a:t>a</a:t>
            </a:r>
            <a:r>
              <a:rPr lang="en-US" sz="1400" dirty="0">
                <a:solidFill>
                  <a:schemeClr val="accent1"/>
                </a:solidFill>
              </a:rPr>
              <a:t> </a:t>
            </a:r>
            <a:r>
              <a:rPr lang="en-US" sz="1400" b="1" dirty="0">
                <a:solidFill>
                  <a:schemeClr val="accent1"/>
                </a:solidFill>
              </a:rPr>
              <a:t>significant association </a:t>
            </a:r>
            <a:r>
              <a:rPr lang="en-US" sz="1400" dirty="0"/>
              <a:t>between Customer Type and Delivery Time Category.</a:t>
            </a:r>
          </a:p>
        </p:txBody>
      </p:sp>
      <p:graphicFrame>
        <p:nvGraphicFramePr>
          <p:cNvPr id="9" name="Table 8">
            <a:extLst>
              <a:ext uri="{FF2B5EF4-FFF2-40B4-BE49-F238E27FC236}">
                <a16:creationId xmlns:a16="http://schemas.microsoft.com/office/drawing/2014/main" id="{0C68DEAB-5356-32B5-22C4-1F1839066C6B}"/>
              </a:ext>
            </a:extLst>
          </p:cNvPr>
          <p:cNvGraphicFramePr>
            <a:graphicFrameLocks noGrp="1"/>
          </p:cNvGraphicFramePr>
          <p:nvPr>
            <p:extLst>
              <p:ext uri="{D42A27DB-BD31-4B8C-83A1-F6EECF244321}">
                <p14:modId xmlns:p14="http://schemas.microsoft.com/office/powerpoint/2010/main" val="3081002300"/>
              </p:ext>
            </p:extLst>
          </p:nvPr>
        </p:nvGraphicFramePr>
        <p:xfrm>
          <a:off x="618975" y="1907024"/>
          <a:ext cx="4234380" cy="2194560"/>
        </p:xfrm>
        <a:graphic>
          <a:graphicData uri="http://schemas.openxmlformats.org/drawingml/2006/table">
            <a:tbl>
              <a:tblPr firstRow="1" bandRow="1">
                <a:tableStyleId>{5C22544A-7EE6-4342-B048-85BDC9FD1C3A}</a:tableStyleId>
              </a:tblPr>
              <a:tblGrid>
                <a:gridCol w="2117190">
                  <a:extLst>
                    <a:ext uri="{9D8B030D-6E8A-4147-A177-3AD203B41FA5}">
                      <a16:colId xmlns:a16="http://schemas.microsoft.com/office/drawing/2014/main" val="3383005605"/>
                    </a:ext>
                  </a:extLst>
                </a:gridCol>
                <a:gridCol w="2117190">
                  <a:extLst>
                    <a:ext uri="{9D8B030D-6E8A-4147-A177-3AD203B41FA5}">
                      <a16:colId xmlns:a16="http://schemas.microsoft.com/office/drawing/2014/main" val="1684521811"/>
                    </a:ext>
                  </a:extLst>
                </a:gridCol>
              </a:tblGrid>
              <a:tr h="320534">
                <a:tc>
                  <a:txBody>
                    <a:bodyPr/>
                    <a:lstStyle/>
                    <a:p>
                      <a:pPr marL="0" algn="ctr" defTabSz="457200" rtl="0" eaLnBrk="1" latinLnBrk="0" hangingPunct="1"/>
                      <a:r>
                        <a:rPr lang="en-US" sz="1800" b="1" kern="1200" dirty="0">
                          <a:solidFill>
                            <a:schemeClr val="tx1"/>
                          </a:solidFill>
                          <a:latin typeface="+mn-lt"/>
                          <a:ea typeface="+mn-ea"/>
                          <a:cs typeface="+mn-cs"/>
                        </a:rPr>
                        <a:t>Metric</a:t>
                      </a:r>
                    </a:p>
                  </a:txBody>
                  <a:tcPr/>
                </a:tc>
                <a:tc>
                  <a:txBody>
                    <a:bodyPr/>
                    <a:lstStyle/>
                    <a:p>
                      <a:pPr marL="0" algn="ctr" defTabSz="457200" rtl="0" eaLnBrk="1" latinLnBrk="0" hangingPunct="1"/>
                      <a:r>
                        <a:rPr lang="en-US" sz="1800" b="1" kern="1200" dirty="0">
                          <a:solidFill>
                            <a:schemeClr val="tx1"/>
                          </a:solidFill>
                          <a:latin typeface="+mn-lt"/>
                          <a:ea typeface="+mn-ea"/>
                          <a:cs typeface="+mn-cs"/>
                        </a:rPr>
                        <a:t>Value</a:t>
                      </a:r>
                    </a:p>
                  </a:txBody>
                  <a:tcPr/>
                </a:tc>
                <a:extLst>
                  <a:ext uri="{0D108BD9-81ED-4DB2-BD59-A6C34878D82A}">
                    <a16:rowId xmlns:a16="http://schemas.microsoft.com/office/drawing/2014/main" val="1573249465"/>
                  </a:ext>
                </a:extLst>
              </a:tr>
              <a:tr h="320534">
                <a:tc>
                  <a:txBody>
                    <a:bodyPr/>
                    <a:lstStyle/>
                    <a:p>
                      <a:pPr marL="0" algn="ctr" defTabSz="457200" rtl="0" eaLnBrk="1" latinLnBrk="0" hangingPunct="1"/>
                      <a:r>
                        <a:rPr lang="en-US" sz="1800" b="0" kern="1200" dirty="0">
                          <a:solidFill>
                            <a:schemeClr val="tx1"/>
                          </a:solidFill>
                          <a:latin typeface="+mn-lt"/>
                          <a:ea typeface="+mn-ea"/>
                          <a:cs typeface="+mn-cs"/>
                        </a:rPr>
                        <a:t>Chi-Square Statistic</a:t>
                      </a:r>
                    </a:p>
                  </a:txBody>
                  <a:tcPr/>
                </a:tc>
                <a:tc>
                  <a:txBody>
                    <a:bodyPr/>
                    <a:lstStyle/>
                    <a:p>
                      <a:pPr marL="0" algn="ctr" defTabSz="457200" rtl="0" eaLnBrk="1" latinLnBrk="0" hangingPunct="1"/>
                      <a:r>
                        <a:rPr lang="en-US" sz="1800" b="0" kern="1200" dirty="0">
                          <a:solidFill>
                            <a:schemeClr val="tx1"/>
                          </a:solidFill>
                          <a:latin typeface="+mn-lt"/>
                          <a:ea typeface="+mn-ea"/>
                          <a:cs typeface="+mn-cs"/>
                        </a:rPr>
                        <a:t>4.2525</a:t>
                      </a:r>
                    </a:p>
                  </a:txBody>
                  <a:tcPr/>
                </a:tc>
                <a:extLst>
                  <a:ext uri="{0D108BD9-81ED-4DB2-BD59-A6C34878D82A}">
                    <a16:rowId xmlns:a16="http://schemas.microsoft.com/office/drawing/2014/main" val="3501876523"/>
                  </a:ext>
                </a:extLst>
              </a:tr>
              <a:tr h="320534">
                <a:tc>
                  <a:txBody>
                    <a:bodyPr/>
                    <a:lstStyle/>
                    <a:p>
                      <a:pPr marL="0" algn="ctr" defTabSz="457200" rtl="0" eaLnBrk="1" latinLnBrk="0" hangingPunct="1"/>
                      <a:r>
                        <a:rPr lang="en-US" sz="1800" b="0" kern="1200" dirty="0">
                          <a:solidFill>
                            <a:schemeClr val="tx1"/>
                          </a:solidFill>
                          <a:latin typeface="+mn-lt"/>
                          <a:ea typeface="+mn-ea"/>
                          <a:cs typeface="+mn-cs"/>
                        </a:rPr>
                        <a:t>Degrees of Freedom</a:t>
                      </a:r>
                    </a:p>
                  </a:txBody>
                  <a:tcPr/>
                </a:tc>
                <a:tc>
                  <a:txBody>
                    <a:bodyPr/>
                    <a:lstStyle/>
                    <a:p>
                      <a:pPr marL="0" algn="ctr" defTabSz="457200" rtl="0" eaLnBrk="1" latinLnBrk="0" hangingPunct="1"/>
                      <a:r>
                        <a:rPr lang="en-US" sz="1800" b="0" kern="1200" dirty="0">
                          <a:solidFill>
                            <a:schemeClr val="tx1"/>
                          </a:solidFill>
                          <a:latin typeface="+mn-lt"/>
                          <a:ea typeface="+mn-ea"/>
                          <a:cs typeface="+mn-cs"/>
                        </a:rPr>
                        <a:t>4</a:t>
                      </a:r>
                    </a:p>
                  </a:txBody>
                  <a:tcPr/>
                </a:tc>
                <a:extLst>
                  <a:ext uri="{0D108BD9-81ED-4DB2-BD59-A6C34878D82A}">
                    <a16:rowId xmlns:a16="http://schemas.microsoft.com/office/drawing/2014/main" val="1100706979"/>
                  </a:ext>
                </a:extLst>
              </a:tr>
              <a:tr h="320534">
                <a:tc>
                  <a:txBody>
                    <a:bodyPr/>
                    <a:lstStyle/>
                    <a:p>
                      <a:pPr marL="0" algn="ctr" defTabSz="457200" rtl="0" eaLnBrk="1" latinLnBrk="0" hangingPunct="1"/>
                      <a:r>
                        <a:rPr lang="en-US" sz="1800" b="0" kern="1200" dirty="0">
                          <a:solidFill>
                            <a:schemeClr val="tx1"/>
                          </a:solidFill>
                          <a:latin typeface="+mn-lt"/>
                          <a:ea typeface="+mn-ea"/>
                          <a:cs typeface="+mn-cs"/>
                        </a:rPr>
                        <a:t>p-value</a:t>
                      </a:r>
                    </a:p>
                  </a:txBody>
                  <a:tcPr/>
                </a:tc>
                <a:tc>
                  <a:txBody>
                    <a:bodyPr/>
                    <a:lstStyle/>
                    <a:p>
                      <a:pPr marL="0" algn="ctr" defTabSz="457200" rtl="0" eaLnBrk="1" latinLnBrk="0" hangingPunct="1"/>
                      <a:r>
                        <a:rPr lang="en-US" sz="1800" b="0" kern="1200" dirty="0">
                          <a:solidFill>
                            <a:schemeClr val="tx1"/>
                          </a:solidFill>
                          <a:latin typeface="+mn-lt"/>
                          <a:ea typeface="+mn-ea"/>
                          <a:cs typeface="+mn-cs"/>
                        </a:rPr>
                        <a:t>0.3729</a:t>
                      </a:r>
                    </a:p>
                  </a:txBody>
                  <a:tcPr/>
                </a:tc>
                <a:extLst>
                  <a:ext uri="{0D108BD9-81ED-4DB2-BD59-A6C34878D82A}">
                    <a16:rowId xmlns:a16="http://schemas.microsoft.com/office/drawing/2014/main" val="1982931899"/>
                  </a:ext>
                </a:extLst>
              </a:tr>
              <a:tr h="320534">
                <a:tc>
                  <a:txBody>
                    <a:bodyPr/>
                    <a:lstStyle/>
                    <a:p>
                      <a:pPr marL="0" algn="ctr" defTabSz="457200" rtl="0" eaLnBrk="1" latinLnBrk="0" hangingPunct="1"/>
                      <a:r>
                        <a:rPr lang="en-US" sz="1800" b="0" kern="1200" dirty="0">
                          <a:solidFill>
                            <a:schemeClr val="tx1"/>
                          </a:solidFill>
                          <a:latin typeface="+mn-lt"/>
                          <a:ea typeface="+mn-ea"/>
                          <a:cs typeface="+mn-cs"/>
                        </a:rPr>
                        <a:t>Significance level</a:t>
                      </a:r>
                    </a:p>
                  </a:txBody>
                  <a:tcPr/>
                </a:tc>
                <a:tc>
                  <a:txBody>
                    <a:bodyPr/>
                    <a:lstStyle/>
                    <a:p>
                      <a:pPr marL="0" algn="ctr" defTabSz="457200" rtl="0" eaLnBrk="1" latinLnBrk="0" hangingPunct="1"/>
                      <a:r>
                        <a:rPr lang="en-US" sz="1800" b="0" kern="1200" dirty="0">
                          <a:solidFill>
                            <a:schemeClr val="tx1"/>
                          </a:solidFill>
                          <a:latin typeface="+mn-lt"/>
                          <a:ea typeface="+mn-ea"/>
                          <a:cs typeface="+mn-cs"/>
                        </a:rPr>
                        <a:t>0.05</a:t>
                      </a:r>
                    </a:p>
                  </a:txBody>
                  <a:tcPr/>
                </a:tc>
                <a:extLst>
                  <a:ext uri="{0D108BD9-81ED-4DB2-BD59-A6C34878D82A}">
                    <a16:rowId xmlns:a16="http://schemas.microsoft.com/office/drawing/2014/main" val="2904605677"/>
                  </a:ext>
                </a:extLst>
              </a:tr>
              <a:tr h="320534">
                <a:tc>
                  <a:txBody>
                    <a:bodyPr/>
                    <a:lstStyle/>
                    <a:p>
                      <a:pPr marL="0" algn="ctr" defTabSz="457200" rtl="0" eaLnBrk="1" latinLnBrk="0" hangingPunct="1"/>
                      <a:r>
                        <a:rPr lang="en-US" sz="1800" b="1" kern="1200" dirty="0">
                          <a:solidFill>
                            <a:schemeClr val="tx1"/>
                          </a:solidFill>
                          <a:latin typeface="+mn-lt"/>
                          <a:ea typeface="+mn-ea"/>
                          <a:cs typeface="+mn-cs"/>
                        </a:rPr>
                        <a:t>Decision</a:t>
                      </a:r>
                    </a:p>
                  </a:txBody>
                  <a:tcPr/>
                </a:tc>
                <a:tc>
                  <a:txBody>
                    <a:bodyPr/>
                    <a:lstStyle/>
                    <a:p>
                      <a:pPr marL="0" algn="ctr" defTabSz="457200" rtl="0" eaLnBrk="1" latinLnBrk="0" hangingPunct="1"/>
                      <a:r>
                        <a:rPr lang="en-US" sz="1800" b="1" kern="1200" dirty="0">
                          <a:solidFill>
                            <a:schemeClr val="tx1"/>
                          </a:solidFill>
                          <a:latin typeface="+mn-lt"/>
                          <a:ea typeface="+mn-ea"/>
                          <a:cs typeface="+mn-cs"/>
                        </a:rPr>
                        <a:t>Fail to reject H₀</a:t>
                      </a:r>
                    </a:p>
                  </a:txBody>
                  <a:tcPr/>
                </a:tc>
                <a:extLst>
                  <a:ext uri="{0D108BD9-81ED-4DB2-BD59-A6C34878D82A}">
                    <a16:rowId xmlns:a16="http://schemas.microsoft.com/office/drawing/2014/main" val="4238529847"/>
                  </a:ext>
                </a:extLst>
              </a:tr>
            </a:tbl>
          </a:graphicData>
        </a:graphic>
      </p:graphicFrame>
      <p:pic>
        <p:nvPicPr>
          <p:cNvPr id="11" name="Picture 10">
            <a:extLst>
              <a:ext uri="{FF2B5EF4-FFF2-40B4-BE49-F238E27FC236}">
                <a16:creationId xmlns:a16="http://schemas.microsoft.com/office/drawing/2014/main" id="{05B54EEA-F8B3-30A0-3527-91F3A718B56C}"/>
              </a:ext>
            </a:extLst>
          </p:cNvPr>
          <p:cNvPicPr>
            <a:picLocks noChangeAspect="1"/>
          </p:cNvPicPr>
          <p:nvPr/>
        </p:nvPicPr>
        <p:blipFill>
          <a:blip r:embed="rId2"/>
          <a:stretch>
            <a:fillRect/>
          </a:stretch>
        </p:blipFill>
        <p:spPr>
          <a:xfrm>
            <a:off x="6290551" y="1860460"/>
            <a:ext cx="5901449" cy="3774277"/>
          </a:xfrm>
          <a:prstGeom prst="rect">
            <a:avLst/>
          </a:prstGeom>
        </p:spPr>
      </p:pic>
      <p:sp>
        <p:nvSpPr>
          <p:cNvPr id="13" name="TextBox 12">
            <a:extLst>
              <a:ext uri="{FF2B5EF4-FFF2-40B4-BE49-F238E27FC236}">
                <a16:creationId xmlns:a16="http://schemas.microsoft.com/office/drawing/2014/main" id="{38103FB3-FD90-5622-3BB8-7DFFD3F81FBF}"/>
              </a:ext>
            </a:extLst>
          </p:cNvPr>
          <p:cNvSpPr txBox="1"/>
          <p:nvPr/>
        </p:nvSpPr>
        <p:spPr>
          <a:xfrm>
            <a:off x="618975" y="4197322"/>
            <a:ext cx="5477026" cy="1600438"/>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600" b="1"/>
            </a:lvl1pPr>
          </a:lstStyle>
          <a:p>
            <a:r>
              <a:rPr lang="en-US" sz="1400" dirty="0"/>
              <a:t>Business Insights</a:t>
            </a:r>
          </a:p>
          <a:p>
            <a:pPr marL="285750" indent="-285750">
              <a:buFont typeface="Arial" panose="020B0604020202020204" pitchFamily="34" charset="0"/>
              <a:buChar char="•"/>
            </a:pPr>
            <a:r>
              <a:rPr lang="en-US" sz="1400" dirty="0"/>
              <a:t>Delivery performance is </a:t>
            </a:r>
            <a:r>
              <a:rPr lang="en-US" sz="1400" dirty="0">
                <a:solidFill>
                  <a:schemeClr val="accent1"/>
                </a:solidFill>
              </a:rPr>
              <a:t>consistent across New, Returning, and Loyal customers</a:t>
            </a:r>
            <a:r>
              <a:rPr lang="en-US" sz="1400" dirty="0"/>
              <a:t>. </a:t>
            </a:r>
          </a:p>
          <a:p>
            <a:pPr marL="285750" indent="-285750">
              <a:buFont typeface="Arial" panose="020B0604020202020204" pitchFamily="34" charset="0"/>
              <a:buChar char="•"/>
            </a:pPr>
            <a:r>
              <a:rPr lang="en-US" sz="1400" dirty="0"/>
              <a:t>No customer segment experiences significantly faster or slower deliveries. </a:t>
            </a:r>
          </a:p>
          <a:p>
            <a:pPr marL="285750" indent="-285750">
              <a:buFont typeface="Arial" panose="020B0604020202020204" pitchFamily="34" charset="0"/>
              <a:buChar char="•"/>
            </a:pPr>
            <a:r>
              <a:rPr lang="en-US" sz="1400" dirty="0">
                <a:solidFill>
                  <a:schemeClr val="accent1"/>
                </a:solidFill>
              </a:rPr>
              <a:t>Customer type does not influence delivery speed</a:t>
            </a:r>
            <a:r>
              <a:rPr lang="en-US" sz="1400" dirty="0"/>
              <a:t>, indicating fair logistics operations.</a:t>
            </a:r>
          </a:p>
        </p:txBody>
      </p:sp>
      <p:sp>
        <p:nvSpPr>
          <p:cNvPr id="15" name="TextBox 14">
            <a:extLst>
              <a:ext uri="{FF2B5EF4-FFF2-40B4-BE49-F238E27FC236}">
                <a16:creationId xmlns:a16="http://schemas.microsoft.com/office/drawing/2014/main" id="{A709C4C2-7137-B45D-96DF-DFFF84896C98}"/>
              </a:ext>
            </a:extLst>
          </p:cNvPr>
          <p:cNvSpPr txBox="1"/>
          <p:nvPr/>
        </p:nvSpPr>
        <p:spPr>
          <a:xfrm>
            <a:off x="2638331" y="5847021"/>
            <a:ext cx="8242387" cy="954107"/>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Recommendations</a:t>
            </a:r>
          </a:p>
          <a:p>
            <a:r>
              <a:rPr lang="en-US" dirty="0"/>
              <a:t>Continue maintaining </a:t>
            </a:r>
            <a:r>
              <a:rPr lang="en-US" dirty="0">
                <a:solidFill>
                  <a:schemeClr val="accent1"/>
                </a:solidFill>
              </a:rPr>
              <a:t>uniform delivery standards </a:t>
            </a:r>
            <a:r>
              <a:rPr lang="en-US" dirty="0"/>
              <a:t>for all customer segments. </a:t>
            </a:r>
          </a:p>
          <a:p>
            <a:r>
              <a:rPr lang="en-US" dirty="0"/>
              <a:t>Improve </a:t>
            </a:r>
            <a:r>
              <a:rPr lang="en-US" dirty="0">
                <a:solidFill>
                  <a:schemeClr val="accent1"/>
                </a:solidFill>
              </a:rPr>
              <a:t>route optimization, restaurant preparation time, and delivery partner performance </a:t>
            </a:r>
            <a:r>
              <a:rPr lang="en-US" dirty="0"/>
              <a:t>to enhance overall delivery efficiency rather than focusing on specific customer groups.</a:t>
            </a:r>
          </a:p>
        </p:txBody>
      </p:sp>
    </p:spTree>
    <p:extLst>
      <p:ext uri="{BB962C8B-B14F-4D97-AF65-F5344CB8AC3E}">
        <p14:creationId xmlns:p14="http://schemas.microsoft.com/office/powerpoint/2010/main" val="1378879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1069D7-EF42-204A-788E-794B3A563F40}"/>
              </a:ext>
            </a:extLst>
          </p:cNvPr>
          <p:cNvSpPr txBox="1"/>
          <p:nvPr/>
        </p:nvSpPr>
        <p:spPr>
          <a:xfrm>
            <a:off x="4276358" y="0"/>
            <a:ext cx="5120860"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Machine Learning – Simple Linear Regression</a:t>
            </a:r>
          </a:p>
        </p:txBody>
      </p:sp>
      <p:sp>
        <p:nvSpPr>
          <p:cNvPr id="3" name="Rectangle 2">
            <a:extLst>
              <a:ext uri="{FF2B5EF4-FFF2-40B4-BE49-F238E27FC236}">
                <a16:creationId xmlns:a16="http://schemas.microsoft.com/office/drawing/2014/main" id="{7B2A1C4A-C438-C37B-44F4-AF3A99E9112D}"/>
              </a:ext>
            </a:extLst>
          </p:cNvPr>
          <p:cNvSpPr/>
          <p:nvPr/>
        </p:nvSpPr>
        <p:spPr>
          <a:xfrm>
            <a:off x="365869" y="400110"/>
            <a:ext cx="11014893" cy="400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rPr>
              <a:t>Business question : </a:t>
            </a:r>
            <a:r>
              <a:rPr lang="en-US" sz="1600" b="1" dirty="0">
                <a:solidFill>
                  <a:schemeClr val="tx1"/>
                </a:solidFill>
              </a:rPr>
              <a:t>Can delivery efficiency score be predicted using Average Delivery Speed?</a:t>
            </a:r>
          </a:p>
        </p:txBody>
      </p:sp>
      <p:sp>
        <p:nvSpPr>
          <p:cNvPr id="4" name="Rectangle 3">
            <a:extLst>
              <a:ext uri="{FF2B5EF4-FFF2-40B4-BE49-F238E27FC236}">
                <a16:creationId xmlns:a16="http://schemas.microsoft.com/office/drawing/2014/main" id="{05E56A7F-653C-A462-DD6F-651C2B7A7D8D}"/>
              </a:ext>
            </a:extLst>
          </p:cNvPr>
          <p:cNvSpPr/>
          <p:nvPr/>
        </p:nvSpPr>
        <p:spPr>
          <a:xfrm>
            <a:off x="1695158" y="769442"/>
            <a:ext cx="8201463" cy="400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rPr>
              <a:t>Objective : </a:t>
            </a:r>
            <a:r>
              <a:rPr lang="en-US" sz="1600" b="1" dirty="0">
                <a:solidFill>
                  <a:schemeClr val="tx1"/>
                </a:solidFill>
              </a:rPr>
              <a:t>Evaluate whether delivery speed alone is a good predictor of delivery efficiency.</a:t>
            </a:r>
          </a:p>
        </p:txBody>
      </p:sp>
      <p:sp>
        <p:nvSpPr>
          <p:cNvPr id="8" name="TextBox 7">
            <a:extLst>
              <a:ext uri="{FF2B5EF4-FFF2-40B4-BE49-F238E27FC236}">
                <a16:creationId xmlns:a16="http://schemas.microsoft.com/office/drawing/2014/main" id="{B4E20674-F272-9B23-74C3-90047D83A4F0}"/>
              </a:ext>
            </a:extLst>
          </p:cNvPr>
          <p:cNvSpPr txBox="1"/>
          <p:nvPr/>
        </p:nvSpPr>
        <p:spPr>
          <a:xfrm>
            <a:off x="1695158" y="1169552"/>
            <a:ext cx="3970607" cy="861774"/>
          </a:xfrm>
          <a:prstGeom prst="rect">
            <a:avLst/>
          </a:prstGeom>
          <a:noFill/>
        </p:spPr>
        <p:txBody>
          <a:bodyPr wrap="square">
            <a:spAutoFit/>
          </a:bodyPr>
          <a:lstStyle/>
          <a:p>
            <a:pPr>
              <a:buNone/>
            </a:pPr>
            <a:r>
              <a:rPr lang="en-US" sz="1600" b="1" dirty="0">
                <a:solidFill>
                  <a:srgbClr val="FF0000"/>
                </a:solidFill>
              </a:rPr>
              <a:t>Model</a:t>
            </a:r>
          </a:p>
          <a:p>
            <a:pPr>
              <a:buNone/>
            </a:pPr>
            <a:r>
              <a:rPr lang="en-US" sz="1600" b="1" dirty="0"/>
              <a:t>Target Variable - </a:t>
            </a:r>
            <a:r>
              <a:rPr lang="en-US" sz="1600" dirty="0"/>
              <a:t>Delivery Efficiency Score </a:t>
            </a:r>
          </a:p>
          <a:p>
            <a:pPr>
              <a:buNone/>
            </a:pPr>
            <a:r>
              <a:rPr lang="en-US" sz="1600" b="1" dirty="0"/>
              <a:t>Predictor - </a:t>
            </a:r>
            <a:r>
              <a:rPr lang="en-US" sz="1600" dirty="0"/>
              <a:t>Average Delivery Speed (KMPH)</a:t>
            </a:r>
          </a:p>
        </p:txBody>
      </p:sp>
      <p:sp>
        <p:nvSpPr>
          <p:cNvPr id="11" name="TextBox 10">
            <a:extLst>
              <a:ext uri="{FF2B5EF4-FFF2-40B4-BE49-F238E27FC236}">
                <a16:creationId xmlns:a16="http://schemas.microsoft.com/office/drawing/2014/main" id="{E488087D-4CC6-8350-9017-A43BDE01F84B}"/>
              </a:ext>
            </a:extLst>
          </p:cNvPr>
          <p:cNvSpPr txBox="1"/>
          <p:nvPr/>
        </p:nvSpPr>
        <p:spPr>
          <a:xfrm>
            <a:off x="1695158" y="2031326"/>
            <a:ext cx="2127740" cy="338554"/>
          </a:xfrm>
          <a:prstGeom prst="rect">
            <a:avLst/>
          </a:prstGeom>
          <a:noFill/>
        </p:spPr>
        <p:txBody>
          <a:bodyPr wrap="square">
            <a:spAutoFit/>
          </a:bodyPr>
          <a:lstStyle/>
          <a:p>
            <a:r>
              <a:rPr lang="en-US" sz="1600" b="1" dirty="0">
                <a:solidFill>
                  <a:srgbClr val="FF0000"/>
                </a:solidFill>
              </a:rPr>
              <a:t>Model Performance</a:t>
            </a:r>
          </a:p>
        </p:txBody>
      </p:sp>
      <p:graphicFrame>
        <p:nvGraphicFramePr>
          <p:cNvPr id="12" name="Table 11">
            <a:extLst>
              <a:ext uri="{FF2B5EF4-FFF2-40B4-BE49-F238E27FC236}">
                <a16:creationId xmlns:a16="http://schemas.microsoft.com/office/drawing/2014/main" id="{AABE12E2-C920-36CC-2A10-8D76A4A452D7}"/>
              </a:ext>
            </a:extLst>
          </p:cNvPr>
          <p:cNvGraphicFramePr>
            <a:graphicFrameLocks noGrp="1"/>
          </p:cNvGraphicFramePr>
          <p:nvPr>
            <p:extLst>
              <p:ext uri="{D42A27DB-BD31-4B8C-83A1-F6EECF244321}">
                <p14:modId xmlns:p14="http://schemas.microsoft.com/office/powerpoint/2010/main" val="699918981"/>
              </p:ext>
            </p:extLst>
          </p:nvPr>
        </p:nvGraphicFramePr>
        <p:xfrm>
          <a:off x="1695158" y="2400658"/>
          <a:ext cx="5379278" cy="1417320"/>
        </p:xfrm>
        <a:graphic>
          <a:graphicData uri="http://schemas.openxmlformats.org/drawingml/2006/table">
            <a:tbl>
              <a:tblPr firstRow="1" bandRow="1">
                <a:tableStyleId>{5C22544A-7EE6-4342-B048-85BDC9FD1C3A}</a:tableStyleId>
              </a:tblPr>
              <a:tblGrid>
                <a:gridCol w="2689639">
                  <a:extLst>
                    <a:ext uri="{9D8B030D-6E8A-4147-A177-3AD203B41FA5}">
                      <a16:colId xmlns:a16="http://schemas.microsoft.com/office/drawing/2014/main" val="692437705"/>
                    </a:ext>
                  </a:extLst>
                </a:gridCol>
                <a:gridCol w="2689639">
                  <a:extLst>
                    <a:ext uri="{9D8B030D-6E8A-4147-A177-3AD203B41FA5}">
                      <a16:colId xmlns:a16="http://schemas.microsoft.com/office/drawing/2014/main" val="4162218752"/>
                    </a:ext>
                  </a:extLst>
                </a:gridCol>
              </a:tblGrid>
              <a:tr h="370840">
                <a:tc>
                  <a:txBody>
                    <a:bodyPr/>
                    <a:lstStyle/>
                    <a:p>
                      <a:pPr marL="0" algn="ctr" defTabSz="457200" rtl="0" eaLnBrk="1" latinLnBrk="0" hangingPunct="1"/>
                      <a:r>
                        <a:rPr lang="en-US" sz="1400" b="1" kern="1200" dirty="0">
                          <a:solidFill>
                            <a:schemeClr val="tx1"/>
                          </a:solidFill>
                          <a:latin typeface="+mn-lt"/>
                          <a:ea typeface="+mn-ea"/>
                          <a:cs typeface="+mn-cs"/>
                        </a:rPr>
                        <a:t>Metric</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Value</a:t>
                      </a:r>
                    </a:p>
                  </a:txBody>
                  <a:tcPr anchor="ctr"/>
                </a:tc>
                <a:extLst>
                  <a:ext uri="{0D108BD9-81ED-4DB2-BD59-A6C34878D82A}">
                    <a16:rowId xmlns:a16="http://schemas.microsoft.com/office/drawing/2014/main" val="1815806094"/>
                  </a:ext>
                </a:extLst>
              </a:tr>
              <a:tr h="370840">
                <a:tc>
                  <a:txBody>
                    <a:bodyPr/>
                    <a:lstStyle/>
                    <a:p>
                      <a:pPr marL="0" algn="ctr" defTabSz="457200" rtl="0" eaLnBrk="1" latinLnBrk="0" hangingPunct="1"/>
                      <a:r>
                        <a:rPr lang="en-US" sz="1400" b="0" kern="1200" dirty="0">
                          <a:solidFill>
                            <a:schemeClr val="tx1"/>
                          </a:solidFill>
                          <a:latin typeface="+mn-lt"/>
                          <a:ea typeface="+mn-ea"/>
                          <a:cs typeface="+mn-cs"/>
                        </a:rPr>
                        <a:t>Mean Absolute Error (MAE)</a:t>
                      </a:r>
                    </a:p>
                  </a:txBody>
                  <a:tcPr anchor="ctr"/>
                </a:tc>
                <a:tc>
                  <a:txBody>
                    <a:bodyPr/>
                    <a:lstStyle/>
                    <a:p>
                      <a:pPr marL="0" algn="ctr" defTabSz="457200" rtl="0" eaLnBrk="1" latinLnBrk="0" hangingPunct="1"/>
                      <a:r>
                        <a:rPr lang="en-US" sz="1400" b="0" kern="1200" dirty="0">
                          <a:solidFill>
                            <a:schemeClr val="tx1"/>
                          </a:solidFill>
                          <a:latin typeface="+mn-lt"/>
                          <a:ea typeface="+mn-ea"/>
                          <a:cs typeface="+mn-cs"/>
                        </a:rPr>
                        <a:t>0.13</a:t>
                      </a:r>
                    </a:p>
                  </a:txBody>
                  <a:tcPr anchor="ctr"/>
                </a:tc>
                <a:extLst>
                  <a:ext uri="{0D108BD9-81ED-4DB2-BD59-A6C34878D82A}">
                    <a16:rowId xmlns:a16="http://schemas.microsoft.com/office/drawing/2014/main" val="411249770"/>
                  </a:ext>
                </a:extLst>
              </a:tr>
              <a:tr h="370840">
                <a:tc>
                  <a:txBody>
                    <a:bodyPr/>
                    <a:lstStyle/>
                    <a:p>
                      <a:pPr marL="0" algn="ctr" defTabSz="457200" rtl="0" eaLnBrk="1" latinLnBrk="0" hangingPunct="1"/>
                      <a:r>
                        <a:rPr lang="en-US" sz="1400" b="0" kern="1200" dirty="0">
                          <a:solidFill>
                            <a:schemeClr val="tx1"/>
                          </a:solidFill>
                          <a:latin typeface="+mn-lt"/>
                          <a:ea typeface="+mn-ea"/>
                          <a:cs typeface="+mn-cs"/>
                        </a:rPr>
                        <a:t>Root Mean Squared Error (RMSE)</a:t>
                      </a:r>
                    </a:p>
                  </a:txBody>
                  <a:tcPr anchor="ctr"/>
                </a:tc>
                <a:tc>
                  <a:txBody>
                    <a:bodyPr/>
                    <a:lstStyle/>
                    <a:p>
                      <a:pPr marL="0" algn="ctr" defTabSz="457200" rtl="0" eaLnBrk="1" latinLnBrk="0" hangingPunct="1"/>
                      <a:r>
                        <a:rPr lang="en-US" sz="1400" b="0" kern="1200" dirty="0">
                          <a:solidFill>
                            <a:schemeClr val="tx1"/>
                          </a:solidFill>
                          <a:latin typeface="+mn-lt"/>
                          <a:ea typeface="+mn-ea"/>
                          <a:cs typeface="+mn-cs"/>
                        </a:rPr>
                        <a:t>0.16 </a:t>
                      </a:r>
                    </a:p>
                  </a:txBody>
                  <a:tcPr anchor="ctr"/>
                </a:tc>
                <a:extLst>
                  <a:ext uri="{0D108BD9-81ED-4DB2-BD59-A6C34878D82A}">
                    <a16:rowId xmlns:a16="http://schemas.microsoft.com/office/drawing/2014/main" val="2031135592"/>
                  </a:ext>
                </a:extLst>
              </a:tr>
              <a:tr h="0">
                <a:tc>
                  <a:txBody>
                    <a:bodyPr/>
                    <a:lstStyle/>
                    <a:p>
                      <a:pPr marL="0" algn="ctr" defTabSz="457200" rtl="0" eaLnBrk="1" latinLnBrk="0" hangingPunct="1"/>
                      <a:r>
                        <a:rPr lang="en-US" sz="1400" b="1" kern="1200" dirty="0">
                          <a:solidFill>
                            <a:schemeClr val="tx1"/>
                          </a:solidFill>
                          <a:latin typeface="+mn-lt"/>
                          <a:ea typeface="+mn-ea"/>
                          <a:cs typeface="+mn-cs"/>
                        </a:rPr>
                        <a:t>R² Score</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0.4358</a:t>
                      </a:r>
                    </a:p>
                  </a:txBody>
                  <a:tcPr anchor="ctr"/>
                </a:tc>
                <a:extLst>
                  <a:ext uri="{0D108BD9-81ED-4DB2-BD59-A6C34878D82A}">
                    <a16:rowId xmlns:a16="http://schemas.microsoft.com/office/drawing/2014/main" val="2303242372"/>
                  </a:ext>
                </a:extLst>
              </a:tr>
            </a:tbl>
          </a:graphicData>
        </a:graphic>
      </p:graphicFrame>
      <p:pic>
        <p:nvPicPr>
          <p:cNvPr id="14" name="Picture 13">
            <a:extLst>
              <a:ext uri="{FF2B5EF4-FFF2-40B4-BE49-F238E27FC236}">
                <a16:creationId xmlns:a16="http://schemas.microsoft.com/office/drawing/2014/main" id="{BA2BD304-1704-63B1-709E-B8DCE59711DB}"/>
              </a:ext>
            </a:extLst>
          </p:cNvPr>
          <p:cNvPicPr>
            <a:picLocks noChangeAspect="1"/>
          </p:cNvPicPr>
          <p:nvPr/>
        </p:nvPicPr>
        <p:blipFill>
          <a:blip r:embed="rId2"/>
          <a:stretch>
            <a:fillRect/>
          </a:stretch>
        </p:blipFill>
        <p:spPr>
          <a:xfrm>
            <a:off x="7088504" y="1280263"/>
            <a:ext cx="4976086" cy="3362076"/>
          </a:xfrm>
          <a:prstGeom prst="rect">
            <a:avLst/>
          </a:prstGeom>
        </p:spPr>
      </p:pic>
      <p:sp>
        <p:nvSpPr>
          <p:cNvPr id="16" name="TextBox 15">
            <a:extLst>
              <a:ext uri="{FF2B5EF4-FFF2-40B4-BE49-F238E27FC236}">
                <a16:creationId xmlns:a16="http://schemas.microsoft.com/office/drawing/2014/main" id="{32DE4289-5859-5181-8EAB-2513969F602B}"/>
              </a:ext>
            </a:extLst>
          </p:cNvPr>
          <p:cNvSpPr txBox="1"/>
          <p:nvPr/>
        </p:nvSpPr>
        <p:spPr>
          <a:xfrm>
            <a:off x="990159" y="3918734"/>
            <a:ext cx="6098344" cy="1169551"/>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Insights</a:t>
            </a:r>
          </a:p>
          <a:p>
            <a:pPr marL="285750" indent="-285750">
              <a:buFont typeface="Arial" panose="020B0604020202020204" pitchFamily="34" charset="0"/>
              <a:buChar char="•"/>
            </a:pPr>
            <a:r>
              <a:rPr lang="en-US" dirty="0"/>
              <a:t>Delivery speed has a </a:t>
            </a:r>
            <a:r>
              <a:rPr lang="en-US" dirty="0">
                <a:solidFill>
                  <a:schemeClr val="accent1"/>
                </a:solidFill>
              </a:rPr>
              <a:t>positive relationship </a:t>
            </a:r>
            <a:r>
              <a:rPr lang="en-US" dirty="0"/>
              <a:t>with delivery efficiency. </a:t>
            </a:r>
          </a:p>
          <a:p>
            <a:pPr marL="285750" indent="-285750">
              <a:buFont typeface="Arial" panose="020B0604020202020204" pitchFamily="34" charset="0"/>
              <a:buChar char="•"/>
            </a:pPr>
            <a:r>
              <a:rPr lang="en-US" dirty="0"/>
              <a:t>Every</a:t>
            </a:r>
            <a:r>
              <a:rPr lang="en-US" dirty="0">
                <a:solidFill>
                  <a:schemeClr val="accent1"/>
                </a:solidFill>
              </a:rPr>
              <a:t> 1 km/h increase </a:t>
            </a:r>
            <a:r>
              <a:rPr lang="en-US" dirty="0"/>
              <a:t>in delivery speed increases efficiency by approximately 0.021. </a:t>
            </a:r>
          </a:p>
          <a:p>
            <a:pPr marL="285750" indent="-285750">
              <a:buFont typeface="Arial" panose="020B0604020202020204" pitchFamily="34" charset="0"/>
              <a:buChar char="•"/>
            </a:pPr>
            <a:r>
              <a:rPr lang="en-US" dirty="0"/>
              <a:t>Delivery speed alone explains about </a:t>
            </a:r>
            <a:r>
              <a:rPr lang="en-US" dirty="0">
                <a:solidFill>
                  <a:schemeClr val="accent1"/>
                </a:solidFill>
              </a:rPr>
              <a:t>44%</a:t>
            </a:r>
            <a:r>
              <a:rPr lang="en-US" dirty="0"/>
              <a:t> of delivery efficiency.</a:t>
            </a:r>
          </a:p>
        </p:txBody>
      </p:sp>
      <p:sp>
        <p:nvSpPr>
          <p:cNvPr id="18" name="TextBox 17">
            <a:extLst>
              <a:ext uri="{FF2B5EF4-FFF2-40B4-BE49-F238E27FC236}">
                <a16:creationId xmlns:a16="http://schemas.microsoft.com/office/drawing/2014/main" id="{770BB8C0-8042-300E-7FE0-92600AE3DB50}"/>
              </a:ext>
            </a:extLst>
          </p:cNvPr>
          <p:cNvSpPr txBox="1"/>
          <p:nvPr/>
        </p:nvSpPr>
        <p:spPr>
          <a:xfrm>
            <a:off x="2759028" y="5366832"/>
            <a:ext cx="6098344" cy="1200329"/>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Recommendation</a:t>
            </a:r>
          </a:p>
          <a:p>
            <a:pPr marL="285750" indent="-285750">
              <a:buFont typeface="Arial" panose="020B0604020202020204" pitchFamily="34" charset="0"/>
              <a:buChar char="•"/>
            </a:pPr>
            <a:r>
              <a:rPr lang="en-US" dirty="0"/>
              <a:t>Improve delivery speed through better route planning. </a:t>
            </a:r>
          </a:p>
          <a:p>
            <a:pPr marL="285750" indent="-285750">
              <a:buFont typeface="Arial" panose="020B0604020202020204" pitchFamily="34" charset="0"/>
              <a:buChar char="•"/>
            </a:pPr>
            <a:r>
              <a:rPr lang="en-US" dirty="0"/>
              <a:t>Include additional operational factors to improve prediction accuracy.</a:t>
            </a:r>
          </a:p>
        </p:txBody>
      </p:sp>
    </p:spTree>
    <p:extLst>
      <p:ext uri="{BB962C8B-B14F-4D97-AF65-F5344CB8AC3E}">
        <p14:creationId xmlns:p14="http://schemas.microsoft.com/office/powerpoint/2010/main" val="2535992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DC040-EE80-8DA3-154C-997AD09923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0C5770-8409-2853-036E-EF909E6D689F}"/>
              </a:ext>
            </a:extLst>
          </p:cNvPr>
          <p:cNvSpPr txBox="1"/>
          <p:nvPr/>
        </p:nvSpPr>
        <p:spPr>
          <a:xfrm>
            <a:off x="4276357" y="0"/>
            <a:ext cx="5444417"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Machine Learning – Multiple Linear Regression</a:t>
            </a:r>
          </a:p>
        </p:txBody>
      </p:sp>
      <p:sp>
        <p:nvSpPr>
          <p:cNvPr id="3" name="Rectangle 2">
            <a:extLst>
              <a:ext uri="{FF2B5EF4-FFF2-40B4-BE49-F238E27FC236}">
                <a16:creationId xmlns:a16="http://schemas.microsoft.com/office/drawing/2014/main" id="{37349083-F35B-CA7B-E0C5-18359D09796F}"/>
              </a:ext>
            </a:extLst>
          </p:cNvPr>
          <p:cNvSpPr/>
          <p:nvPr/>
        </p:nvSpPr>
        <p:spPr>
          <a:xfrm>
            <a:off x="1177107" y="369332"/>
            <a:ext cx="11014893" cy="400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rPr>
              <a:t>Business question : </a:t>
            </a:r>
            <a:r>
              <a:rPr lang="en-US" sz="1600" b="1" dirty="0">
                <a:solidFill>
                  <a:schemeClr val="tx1"/>
                </a:solidFill>
              </a:rPr>
              <a:t>Can delivery efficiency score be predicted more accurately using multiple operational factors?</a:t>
            </a:r>
          </a:p>
        </p:txBody>
      </p:sp>
      <p:sp>
        <p:nvSpPr>
          <p:cNvPr id="4" name="Rectangle 3">
            <a:extLst>
              <a:ext uri="{FF2B5EF4-FFF2-40B4-BE49-F238E27FC236}">
                <a16:creationId xmlns:a16="http://schemas.microsoft.com/office/drawing/2014/main" id="{BD450093-0D8B-2AF3-AF30-0C43EF857951}"/>
              </a:ext>
            </a:extLst>
          </p:cNvPr>
          <p:cNvSpPr/>
          <p:nvPr/>
        </p:nvSpPr>
        <p:spPr>
          <a:xfrm>
            <a:off x="1695158" y="769442"/>
            <a:ext cx="8201463" cy="400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rPr>
              <a:t>Objective : </a:t>
            </a:r>
            <a:r>
              <a:rPr lang="en-US" sz="1600" b="1" dirty="0">
                <a:solidFill>
                  <a:schemeClr val="tx1"/>
                </a:solidFill>
              </a:rPr>
              <a:t>Predict delivery efficiency using multiple business variables simultaneously</a:t>
            </a:r>
            <a:r>
              <a:rPr lang="en-US" sz="1600" dirty="0"/>
              <a:t>.</a:t>
            </a:r>
          </a:p>
          <a:p>
            <a:pPr algn="ctr"/>
            <a:endParaRPr lang="en-US" sz="1600" b="1" dirty="0">
              <a:solidFill>
                <a:schemeClr val="tx1"/>
              </a:solidFill>
            </a:endParaRPr>
          </a:p>
        </p:txBody>
      </p:sp>
      <p:sp>
        <p:nvSpPr>
          <p:cNvPr id="11" name="TextBox 10">
            <a:extLst>
              <a:ext uri="{FF2B5EF4-FFF2-40B4-BE49-F238E27FC236}">
                <a16:creationId xmlns:a16="http://schemas.microsoft.com/office/drawing/2014/main" id="{2B701A4B-296B-9379-2D69-56FFEF6433AD}"/>
              </a:ext>
            </a:extLst>
          </p:cNvPr>
          <p:cNvSpPr txBox="1"/>
          <p:nvPr/>
        </p:nvSpPr>
        <p:spPr>
          <a:xfrm>
            <a:off x="1278621" y="3499225"/>
            <a:ext cx="2127740" cy="338554"/>
          </a:xfrm>
          <a:prstGeom prst="rect">
            <a:avLst/>
          </a:prstGeom>
          <a:noFill/>
        </p:spPr>
        <p:txBody>
          <a:bodyPr wrap="square">
            <a:spAutoFit/>
          </a:bodyPr>
          <a:lstStyle/>
          <a:p>
            <a:r>
              <a:rPr lang="en-US" sz="1600" b="1" dirty="0">
                <a:solidFill>
                  <a:srgbClr val="FF0000"/>
                </a:solidFill>
              </a:rPr>
              <a:t>Model Performance</a:t>
            </a:r>
          </a:p>
        </p:txBody>
      </p:sp>
      <p:graphicFrame>
        <p:nvGraphicFramePr>
          <p:cNvPr id="12" name="Table 11">
            <a:extLst>
              <a:ext uri="{FF2B5EF4-FFF2-40B4-BE49-F238E27FC236}">
                <a16:creationId xmlns:a16="http://schemas.microsoft.com/office/drawing/2014/main" id="{DCD505E7-8A62-B96C-8425-6D1DD7E87457}"/>
              </a:ext>
            </a:extLst>
          </p:cNvPr>
          <p:cNvGraphicFramePr>
            <a:graphicFrameLocks noGrp="1"/>
          </p:cNvGraphicFramePr>
          <p:nvPr>
            <p:extLst>
              <p:ext uri="{D42A27DB-BD31-4B8C-83A1-F6EECF244321}">
                <p14:modId xmlns:p14="http://schemas.microsoft.com/office/powerpoint/2010/main" val="2286081185"/>
              </p:ext>
            </p:extLst>
          </p:nvPr>
        </p:nvGraphicFramePr>
        <p:xfrm>
          <a:off x="1068414" y="3837779"/>
          <a:ext cx="5379278" cy="1417320"/>
        </p:xfrm>
        <a:graphic>
          <a:graphicData uri="http://schemas.openxmlformats.org/drawingml/2006/table">
            <a:tbl>
              <a:tblPr firstRow="1" bandRow="1">
                <a:tableStyleId>{5C22544A-7EE6-4342-B048-85BDC9FD1C3A}</a:tableStyleId>
              </a:tblPr>
              <a:tblGrid>
                <a:gridCol w="2689639">
                  <a:extLst>
                    <a:ext uri="{9D8B030D-6E8A-4147-A177-3AD203B41FA5}">
                      <a16:colId xmlns:a16="http://schemas.microsoft.com/office/drawing/2014/main" val="692437705"/>
                    </a:ext>
                  </a:extLst>
                </a:gridCol>
                <a:gridCol w="2689639">
                  <a:extLst>
                    <a:ext uri="{9D8B030D-6E8A-4147-A177-3AD203B41FA5}">
                      <a16:colId xmlns:a16="http://schemas.microsoft.com/office/drawing/2014/main" val="4162218752"/>
                    </a:ext>
                  </a:extLst>
                </a:gridCol>
              </a:tblGrid>
              <a:tr h="370840">
                <a:tc>
                  <a:txBody>
                    <a:bodyPr/>
                    <a:lstStyle/>
                    <a:p>
                      <a:pPr marL="0" algn="ctr" defTabSz="457200" rtl="0" eaLnBrk="1" latinLnBrk="0" hangingPunct="1"/>
                      <a:r>
                        <a:rPr lang="en-US" sz="1400" b="1" kern="1200" dirty="0">
                          <a:solidFill>
                            <a:schemeClr val="tx1"/>
                          </a:solidFill>
                          <a:latin typeface="+mn-lt"/>
                          <a:ea typeface="+mn-ea"/>
                          <a:cs typeface="+mn-cs"/>
                        </a:rPr>
                        <a:t>Metric</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Value</a:t>
                      </a:r>
                    </a:p>
                  </a:txBody>
                  <a:tcPr anchor="ctr"/>
                </a:tc>
                <a:extLst>
                  <a:ext uri="{0D108BD9-81ED-4DB2-BD59-A6C34878D82A}">
                    <a16:rowId xmlns:a16="http://schemas.microsoft.com/office/drawing/2014/main" val="1815806094"/>
                  </a:ext>
                </a:extLst>
              </a:tr>
              <a:tr h="370840">
                <a:tc>
                  <a:txBody>
                    <a:bodyPr/>
                    <a:lstStyle/>
                    <a:p>
                      <a:pPr marL="0" algn="ctr" defTabSz="457200" rtl="0" eaLnBrk="1" latinLnBrk="0" hangingPunct="1"/>
                      <a:r>
                        <a:rPr lang="en-US" sz="1400" b="0" kern="1200" dirty="0">
                          <a:solidFill>
                            <a:schemeClr val="tx1"/>
                          </a:solidFill>
                          <a:latin typeface="+mn-lt"/>
                          <a:ea typeface="+mn-ea"/>
                          <a:cs typeface="+mn-cs"/>
                        </a:rPr>
                        <a:t>Mean Absolute Error (MAE)</a:t>
                      </a:r>
                    </a:p>
                  </a:txBody>
                  <a:tcPr anchor="ctr"/>
                </a:tc>
                <a:tc>
                  <a:txBody>
                    <a:bodyPr/>
                    <a:lstStyle/>
                    <a:p>
                      <a:pPr marL="0" algn="ctr" defTabSz="457200" rtl="0" eaLnBrk="1" latinLnBrk="0" hangingPunct="1"/>
                      <a:r>
                        <a:rPr lang="en-US" sz="1400" b="0" kern="1200" dirty="0">
                          <a:solidFill>
                            <a:schemeClr val="tx1"/>
                          </a:solidFill>
                          <a:latin typeface="+mn-lt"/>
                          <a:ea typeface="+mn-ea"/>
                          <a:cs typeface="+mn-cs"/>
                        </a:rPr>
                        <a:t>0.0684</a:t>
                      </a:r>
                    </a:p>
                  </a:txBody>
                  <a:tcPr anchor="ctr"/>
                </a:tc>
                <a:extLst>
                  <a:ext uri="{0D108BD9-81ED-4DB2-BD59-A6C34878D82A}">
                    <a16:rowId xmlns:a16="http://schemas.microsoft.com/office/drawing/2014/main" val="411249770"/>
                  </a:ext>
                </a:extLst>
              </a:tr>
              <a:tr h="370840">
                <a:tc>
                  <a:txBody>
                    <a:bodyPr/>
                    <a:lstStyle/>
                    <a:p>
                      <a:pPr marL="0" algn="ctr" defTabSz="457200" rtl="0" eaLnBrk="1" latinLnBrk="0" hangingPunct="1"/>
                      <a:r>
                        <a:rPr lang="en-US" sz="1400" b="0" kern="1200" dirty="0">
                          <a:solidFill>
                            <a:schemeClr val="tx1"/>
                          </a:solidFill>
                          <a:latin typeface="+mn-lt"/>
                          <a:ea typeface="+mn-ea"/>
                          <a:cs typeface="+mn-cs"/>
                        </a:rPr>
                        <a:t>Root Mean Squared Error (RMSE)</a:t>
                      </a:r>
                    </a:p>
                  </a:txBody>
                  <a:tcPr anchor="ctr"/>
                </a:tc>
                <a:tc>
                  <a:txBody>
                    <a:bodyPr/>
                    <a:lstStyle/>
                    <a:p>
                      <a:pPr marL="0" algn="ctr" defTabSz="457200" rtl="0" eaLnBrk="1" latinLnBrk="0" hangingPunct="1"/>
                      <a:r>
                        <a:rPr lang="en-US" sz="1400" b="0" kern="1200" dirty="0">
                          <a:solidFill>
                            <a:schemeClr val="tx1"/>
                          </a:solidFill>
                          <a:latin typeface="+mn-lt"/>
                          <a:ea typeface="+mn-ea"/>
                          <a:cs typeface="+mn-cs"/>
                        </a:rPr>
                        <a:t>0.0946</a:t>
                      </a:r>
                    </a:p>
                  </a:txBody>
                  <a:tcPr anchor="ctr"/>
                </a:tc>
                <a:extLst>
                  <a:ext uri="{0D108BD9-81ED-4DB2-BD59-A6C34878D82A}">
                    <a16:rowId xmlns:a16="http://schemas.microsoft.com/office/drawing/2014/main" val="2031135592"/>
                  </a:ext>
                </a:extLst>
              </a:tr>
              <a:tr h="0">
                <a:tc>
                  <a:txBody>
                    <a:bodyPr/>
                    <a:lstStyle/>
                    <a:p>
                      <a:pPr marL="0" algn="ctr" defTabSz="457200" rtl="0" eaLnBrk="1" latinLnBrk="0" hangingPunct="1"/>
                      <a:r>
                        <a:rPr lang="en-US" sz="1400" b="1" kern="1200" dirty="0">
                          <a:solidFill>
                            <a:schemeClr val="tx1"/>
                          </a:solidFill>
                          <a:latin typeface="+mn-lt"/>
                          <a:ea typeface="+mn-ea"/>
                          <a:cs typeface="+mn-cs"/>
                        </a:rPr>
                        <a:t>R² Score</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0.7926</a:t>
                      </a:r>
                    </a:p>
                  </a:txBody>
                  <a:tcPr anchor="ctr"/>
                </a:tc>
                <a:extLst>
                  <a:ext uri="{0D108BD9-81ED-4DB2-BD59-A6C34878D82A}">
                    <a16:rowId xmlns:a16="http://schemas.microsoft.com/office/drawing/2014/main" val="2303242372"/>
                  </a:ext>
                </a:extLst>
              </a:tr>
            </a:tbl>
          </a:graphicData>
        </a:graphic>
      </p:graphicFrame>
      <p:sp>
        <p:nvSpPr>
          <p:cNvPr id="16" name="TextBox 15">
            <a:extLst>
              <a:ext uri="{FF2B5EF4-FFF2-40B4-BE49-F238E27FC236}">
                <a16:creationId xmlns:a16="http://schemas.microsoft.com/office/drawing/2014/main" id="{8B7E8F4D-4DF4-B8B7-3714-91E8F95AD986}"/>
              </a:ext>
            </a:extLst>
          </p:cNvPr>
          <p:cNvSpPr txBox="1"/>
          <p:nvPr/>
        </p:nvSpPr>
        <p:spPr>
          <a:xfrm>
            <a:off x="1220866" y="5590677"/>
            <a:ext cx="5861537" cy="1169551"/>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Insights</a:t>
            </a:r>
          </a:p>
          <a:p>
            <a:pPr marL="285750" indent="-285750">
              <a:buFont typeface="Arial" panose="020B0604020202020204" pitchFamily="34" charset="0"/>
              <a:buChar char="•"/>
            </a:pPr>
            <a:r>
              <a:rPr lang="en-US" dirty="0"/>
              <a:t>Prediction accuracy improved from </a:t>
            </a:r>
            <a:r>
              <a:rPr lang="en-US" dirty="0">
                <a:solidFill>
                  <a:schemeClr val="accent1"/>
                </a:solidFill>
              </a:rPr>
              <a:t>44% to 79%.</a:t>
            </a:r>
          </a:p>
          <a:p>
            <a:pPr marL="285750" indent="-285750">
              <a:buFont typeface="Arial" panose="020B0604020202020204" pitchFamily="34" charset="0"/>
              <a:buChar char="•"/>
            </a:pPr>
            <a:r>
              <a:rPr lang="en-US" dirty="0">
                <a:solidFill>
                  <a:schemeClr val="accent1"/>
                </a:solidFill>
              </a:rPr>
              <a:t>Restaurant preparation time </a:t>
            </a:r>
            <a:r>
              <a:rPr lang="en-US" dirty="0"/>
              <a:t>has the </a:t>
            </a:r>
            <a:r>
              <a:rPr lang="en-US" dirty="0">
                <a:solidFill>
                  <a:schemeClr val="accent1"/>
                </a:solidFill>
              </a:rPr>
              <a:t>strongest impact </a:t>
            </a:r>
            <a:r>
              <a:rPr lang="en-US" dirty="0"/>
              <a:t>on delivery efficiency score</a:t>
            </a:r>
          </a:p>
          <a:p>
            <a:pPr marL="285750" indent="-285750">
              <a:buFont typeface="Arial" panose="020B0604020202020204" pitchFamily="34" charset="0"/>
              <a:buChar char="•"/>
            </a:pPr>
            <a:r>
              <a:rPr lang="en-US" dirty="0"/>
              <a:t>Combining multiple variables provides a much better predictive model.</a:t>
            </a:r>
          </a:p>
        </p:txBody>
      </p:sp>
      <p:sp>
        <p:nvSpPr>
          <p:cNvPr id="18" name="TextBox 17">
            <a:extLst>
              <a:ext uri="{FF2B5EF4-FFF2-40B4-BE49-F238E27FC236}">
                <a16:creationId xmlns:a16="http://schemas.microsoft.com/office/drawing/2014/main" id="{11633956-FBD0-B807-0E9B-EA79C0BBBD03}"/>
              </a:ext>
            </a:extLst>
          </p:cNvPr>
          <p:cNvSpPr txBox="1"/>
          <p:nvPr/>
        </p:nvSpPr>
        <p:spPr>
          <a:xfrm>
            <a:off x="7419186" y="5806120"/>
            <a:ext cx="4603176" cy="738664"/>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Recommendation</a:t>
            </a:r>
          </a:p>
          <a:p>
            <a:pPr marL="285750" indent="-285750">
              <a:buFont typeface="Arial" panose="020B0604020202020204" pitchFamily="34" charset="0"/>
              <a:buChar char="•"/>
            </a:pPr>
            <a:r>
              <a:rPr lang="en-US" dirty="0"/>
              <a:t>Reduce restaurant preparation time.</a:t>
            </a:r>
          </a:p>
          <a:p>
            <a:pPr marL="285750" indent="-285750">
              <a:buFont typeface="Arial" panose="020B0604020202020204" pitchFamily="34" charset="0"/>
              <a:buChar char="•"/>
            </a:pPr>
            <a:r>
              <a:rPr lang="en-US" dirty="0"/>
              <a:t>Use multiple operational metrics for logistic planning.</a:t>
            </a:r>
          </a:p>
        </p:txBody>
      </p:sp>
      <p:graphicFrame>
        <p:nvGraphicFramePr>
          <p:cNvPr id="5" name="Table 4">
            <a:extLst>
              <a:ext uri="{FF2B5EF4-FFF2-40B4-BE49-F238E27FC236}">
                <a16:creationId xmlns:a16="http://schemas.microsoft.com/office/drawing/2014/main" id="{095A9310-9395-7349-D551-242F4877F78F}"/>
              </a:ext>
            </a:extLst>
          </p:cNvPr>
          <p:cNvGraphicFramePr>
            <a:graphicFrameLocks noGrp="1"/>
          </p:cNvGraphicFramePr>
          <p:nvPr>
            <p:extLst>
              <p:ext uri="{D42A27DB-BD31-4B8C-83A1-F6EECF244321}">
                <p14:modId xmlns:p14="http://schemas.microsoft.com/office/powerpoint/2010/main" val="997244674"/>
              </p:ext>
            </p:extLst>
          </p:nvPr>
        </p:nvGraphicFramePr>
        <p:xfrm>
          <a:off x="1461996" y="1538884"/>
          <a:ext cx="5379279" cy="1722120"/>
        </p:xfrm>
        <a:graphic>
          <a:graphicData uri="http://schemas.openxmlformats.org/drawingml/2006/table">
            <a:tbl>
              <a:tblPr firstRow="1" bandRow="1">
                <a:tableStyleId>{5C22544A-7EE6-4342-B048-85BDC9FD1C3A}</a:tableStyleId>
              </a:tblPr>
              <a:tblGrid>
                <a:gridCol w="1794689">
                  <a:extLst>
                    <a:ext uri="{9D8B030D-6E8A-4147-A177-3AD203B41FA5}">
                      <a16:colId xmlns:a16="http://schemas.microsoft.com/office/drawing/2014/main" val="692437705"/>
                    </a:ext>
                  </a:extLst>
                </a:gridCol>
                <a:gridCol w="1791497">
                  <a:extLst>
                    <a:ext uri="{9D8B030D-6E8A-4147-A177-3AD203B41FA5}">
                      <a16:colId xmlns:a16="http://schemas.microsoft.com/office/drawing/2014/main" val="4162218752"/>
                    </a:ext>
                  </a:extLst>
                </a:gridCol>
                <a:gridCol w="1793093">
                  <a:extLst>
                    <a:ext uri="{9D8B030D-6E8A-4147-A177-3AD203B41FA5}">
                      <a16:colId xmlns:a16="http://schemas.microsoft.com/office/drawing/2014/main" val="1832989683"/>
                    </a:ext>
                  </a:extLst>
                </a:gridCol>
              </a:tblGrid>
              <a:tr h="370840">
                <a:tc>
                  <a:txBody>
                    <a:bodyPr/>
                    <a:lstStyle/>
                    <a:p>
                      <a:pPr marL="0" algn="ctr" defTabSz="457200" rtl="0" eaLnBrk="1" latinLnBrk="0" hangingPunct="1"/>
                      <a:r>
                        <a:rPr lang="en-US" sz="1400" b="1" kern="1200" dirty="0">
                          <a:solidFill>
                            <a:schemeClr val="tx1"/>
                          </a:solidFill>
                          <a:latin typeface="+mn-lt"/>
                          <a:ea typeface="+mn-ea"/>
                          <a:cs typeface="+mn-cs"/>
                        </a:rPr>
                        <a:t>Variable</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Coefficient</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Impact</a:t>
                      </a:r>
                    </a:p>
                  </a:txBody>
                  <a:tcPr anchor="ctr"/>
                </a:tc>
                <a:extLst>
                  <a:ext uri="{0D108BD9-81ED-4DB2-BD59-A6C34878D82A}">
                    <a16:rowId xmlns:a16="http://schemas.microsoft.com/office/drawing/2014/main" val="1815806094"/>
                  </a:ext>
                </a:extLst>
              </a:tr>
              <a:tr h="370840">
                <a:tc>
                  <a:txBody>
                    <a:bodyPr/>
                    <a:lstStyle/>
                    <a:p>
                      <a:pPr marL="0" algn="ctr" defTabSz="457200" rtl="0" eaLnBrk="1" latinLnBrk="0" hangingPunct="1"/>
                      <a:r>
                        <a:rPr lang="en-US" sz="1400" b="0" kern="1200" dirty="0">
                          <a:solidFill>
                            <a:schemeClr val="tx1"/>
                          </a:solidFill>
                          <a:latin typeface="+mn-lt"/>
                          <a:ea typeface="+mn-ea"/>
                          <a:cs typeface="+mn-cs"/>
                        </a:rPr>
                        <a:t>Avg Preparation Time</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-0.016776</a:t>
                      </a:r>
                    </a:p>
                  </a:txBody>
                  <a:tcPr anchor="ctr">
                    <a:solidFill>
                      <a:schemeClr val="accent1">
                        <a:lumMod val="40000"/>
                        <a:lumOff val="60000"/>
                      </a:schemeClr>
                    </a:solidFill>
                  </a:tcPr>
                </a:tc>
                <a:tc>
                  <a:txBody>
                    <a:bodyPr/>
                    <a:lstStyle/>
                    <a:p>
                      <a:pPr marL="0" algn="ctr" defTabSz="457200" rtl="0" eaLnBrk="1" latinLnBrk="0" hangingPunct="1"/>
                      <a:r>
                        <a:rPr lang="en-US" sz="1400" b="1" kern="1200" dirty="0">
                          <a:solidFill>
                            <a:schemeClr val="bg1"/>
                          </a:solidFill>
                          <a:latin typeface="+mn-lt"/>
                          <a:ea typeface="+mn-ea"/>
                          <a:cs typeface="+mn-cs"/>
                        </a:rPr>
                        <a:t>Strong negative</a:t>
                      </a:r>
                    </a:p>
                  </a:txBody>
                  <a:tcPr anchor="ctr">
                    <a:solidFill>
                      <a:srgbClr val="FF0000"/>
                    </a:solidFill>
                  </a:tcPr>
                </a:tc>
                <a:extLst>
                  <a:ext uri="{0D108BD9-81ED-4DB2-BD59-A6C34878D82A}">
                    <a16:rowId xmlns:a16="http://schemas.microsoft.com/office/drawing/2014/main" val="411249770"/>
                  </a:ext>
                </a:extLst>
              </a:tr>
              <a:tr h="370840">
                <a:tc>
                  <a:txBody>
                    <a:bodyPr/>
                    <a:lstStyle/>
                    <a:p>
                      <a:pPr marL="0" algn="ctr" defTabSz="457200" rtl="0" eaLnBrk="1" latinLnBrk="0" hangingPunct="1"/>
                      <a:r>
                        <a:rPr lang="en-US" sz="1400" b="0" kern="1200" dirty="0">
                          <a:solidFill>
                            <a:schemeClr val="tx1"/>
                          </a:solidFill>
                          <a:latin typeface="+mn-lt"/>
                          <a:ea typeface="+mn-ea"/>
                          <a:cs typeface="+mn-cs"/>
                        </a:rPr>
                        <a:t>Avg Delivery Speed</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n-lt"/>
                          <a:ea typeface="+mn-ea"/>
                          <a:cs typeface="+mn-cs"/>
                        </a:rPr>
                        <a:t>+0.011311</a:t>
                      </a:r>
                    </a:p>
                  </a:txBody>
                  <a:tcPr anchor="ctr">
                    <a:solidFill>
                      <a:schemeClr val="accent1">
                        <a:lumMod val="20000"/>
                        <a:lumOff val="80000"/>
                      </a:schemeClr>
                    </a:solidFill>
                  </a:tcPr>
                </a:tc>
                <a:tc>
                  <a:txBody>
                    <a:bodyPr/>
                    <a:lstStyle/>
                    <a:p>
                      <a:pPr marL="0" algn="ctr" defTabSz="457200" rtl="0" eaLnBrk="1" latinLnBrk="0" hangingPunct="1"/>
                      <a:r>
                        <a:rPr lang="en-US" sz="1400" b="1" kern="1200" dirty="0">
                          <a:solidFill>
                            <a:schemeClr val="tx1"/>
                          </a:solidFill>
                          <a:latin typeface="+mn-lt"/>
                          <a:ea typeface="+mn-ea"/>
                          <a:cs typeface="+mn-cs"/>
                        </a:rPr>
                        <a:t>Positive</a:t>
                      </a:r>
                    </a:p>
                  </a:txBody>
                  <a:tcPr anchor="ctr">
                    <a:solidFill>
                      <a:schemeClr val="accent2"/>
                    </a:solidFill>
                  </a:tcPr>
                </a:tc>
                <a:extLst>
                  <a:ext uri="{0D108BD9-81ED-4DB2-BD59-A6C34878D82A}">
                    <a16:rowId xmlns:a16="http://schemas.microsoft.com/office/drawing/2014/main" val="2031135592"/>
                  </a:ext>
                </a:extLst>
              </a:tr>
              <a:tr h="0">
                <a:tc>
                  <a:txBody>
                    <a:bodyPr/>
                    <a:lstStyle/>
                    <a:p>
                      <a:pPr marL="0" algn="ctr" defTabSz="457200" rtl="0" eaLnBrk="1" latinLnBrk="0" hangingPunct="1"/>
                      <a:r>
                        <a:rPr lang="en-US" sz="1400" b="0" kern="1200" dirty="0">
                          <a:solidFill>
                            <a:schemeClr val="tx1"/>
                          </a:solidFill>
                          <a:latin typeface="+mn-lt"/>
                          <a:ea typeface="+mn-ea"/>
                          <a:cs typeface="+mn-cs"/>
                        </a:rPr>
                        <a:t>Order Capacity</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+0.000532</a:t>
                      </a:r>
                    </a:p>
                  </a:txBody>
                  <a:tcPr anchor="ctr">
                    <a:solidFill>
                      <a:schemeClr val="accent1">
                        <a:lumMod val="40000"/>
                        <a:lumOff val="60000"/>
                      </a:schemeClr>
                    </a:solidFill>
                  </a:tcPr>
                </a:tc>
                <a:tc>
                  <a:txBody>
                    <a:bodyPr/>
                    <a:lstStyle/>
                    <a:p>
                      <a:pPr marL="0" algn="ctr" defTabSz="457200" rtl="0" eaLnBrk="1" latinLnBrk="0" hangingPunct="1"/>
                      <a:r>
                        <a:rPr lang="en-US" sz="1400" b="1" kern="1200" dirty="0">
                          <a:solidFill>
                            <a:schemeClr val="tx1"/>
                          </a:solidFill>
                          <a:latin typeface="+mn-lt"/>
                          <a:ea typeface="+mn-ea"/>
                          <a:cs typeface="+mn-cs"/>
                        </a:rPr>
                        <a:t>Slight positive</a:t>
                      </a:r>
                    </a:p>
                  </a:txBody>
                  <a:tcPr anchor="ctr">
                    <a:solidFill>
                      <a:schemeClr val="accent2">
                        <a:lumMod val="60000"/>
                        <a:lumOff val="40000"/>
                      </a:schemeClr>
                    </a:solidFill>
                  </a:tcPr>
                </a:tc>
                <a:extLst>
                  <a:ext uri="{0D108BD9-81ED-4DB2-BD59-A6C34878D82A}">
                    <a16:rowId xmlns:a16="http://schemas.microsoft.com/office/drawing/2014/main" val="2303242372"/>
                  </a:ext>
                </a:extLst>
              </a:tr>
              <a:tr h="0">
                <a:tc>
                  <a:txBody>
                    <a:bodyPr/>
                    <a:lstStyle/>
                    <a:p>
                      <a:pPr marL="0" algn="ctr" defTabSz="457200" rtl="0" eaLnBrk="1" latinLnBrk="0" hangingPunct="1"/>
                      <a:r>
                        <a:rPr lang="en-US" sz="1400" b="0" kern="1200" dirty="0">
                          <a:solidFill>
                            <a:schemeClr val="tx1"/>
                          </a:solidFill>
                          <a:latin typeface="+mn-lt"/>
                          <a:ea typeface="+mn-ea"/>
                          <a:cs typeface="+mn-cs"/>
                        </a:rPr>
                        <a:t>Festival Flag</a:t>
                      </a:r>
                    </a:p>
                  </a:txBody>
                  <a:tcPr anchor="ctr"/>
                </a:tc>
                <a:tc>
                  <a:txBody>
                    <a:bodyPr/>
                    <a:lstStyle/>
                    <a:p>
                      <a:pPr marL="0" algn="ctr" defTabSz="457200" rtl="0" eaLnBrk="1" latinLnBrk="0" hangingPunct="1"/>
                      <a:r>
                        <a:rPr lang="en-US" sz="1400" b="1" kern="1200" dirty="0">
                          <a:solidFill>
                            <a:schemeClr val="tx1"/>
                          </a:solidFill>
                          <a:latin typeface="+mn-lt"/>
                          <a:ea typeface="+mn-ea"/>
                          <a:cs typeface="+mn-cs"/>
                        </a:rPr>
                        <a:t>+0.000350</a:t>
                      </a:r>
                    </a:p>
                  </a:txBody>
                  <a:tcPr anchor="ctr">
                    <a:solidFill>
                      <a:schemeClr val="accent1">
                        <a:lumMod val="20000"/>
                        <a:lumOff val="80000"/>
                      </a:schemeClr>
                    </a:solidFill>
                  </a:tcPr>
                </a:tc>
                <a:tc>
                  <a:txBody>
                    <a:bodyPr/>
                    <a:lstStyle/>
                    <a:p>
                      <a:pPr marL="0" algn="ctr" defTabSz="457200" rtl="0" eaLnBrk="1" latinLnBrk="0" hangingPunct="1"/>
                      <a:r>
                        <a:rPr lang="en-US" sz="1400" b="1" kern="1200" dirty="0">
                          <a:solidFill>
                            <a:schemeClr val="tx1"/>
                          </a:solidFill>
                          <a:latin typeface="+mn-lt"/>
                          <a:ea typeface="+mn-ea"/>
                          <a:cs typeface="+mn-cs"/>
                        </a:rPr>
                        <a:t>Minimal</a:t>
                      </a:r>
                    </a:p>
                  </a:txBody>
                  <a:tcPr anchor="ctr">
                    <a:solidFill>
                      <a:schemeClr val="accent5">
                        <a:lumMod val="60000"/>
                        <a:lumOff val="40000"/>
                      </a:schemeClr>
                    </a:solidFill>
                  </a:tcPr>
                </a:tc>
                <a:extLst>
                  <a:ext uri="{0D108BD9-81ED-4DB2-BD59-A6C34878D82A}">
                    <a16:rowId xmlns:a16="http://schemas.microsoft.com/office/drawing/2014/main" val="869263774"/>
                  </a:ext>
                </a:extLst>
              </a:tr>
            </a:tbl>
          </a:graphicData>
        </a:graphic>
      </p:graphicFrame>
      <p:pic>
        <p:nvPicPr>
          <p:cNvPr id="7" name="Picture 6">
            <a:extLst>
              <a:ext uri="{FF2B5EF4-FFF2-40B4-BE49-F238E27FC236}">
                <a16:creationId xmlns:a16="http://schemas.microsoft.com/office/drawing/2014/main" id="{03BDD82B-52BF-07E7-FD36-1EAB0E2DDC2E}"/>
              </a:ext>
            </a:extLst>
          </p:cNvPr>
          <p:cNvPicPr>
            <a:picLocks noChangeAspect="1"/>
          </p:cNvPicPr>
          <p:nvPr/>
        </p:nvPicPr>
        <p:blipFill>
          <a:blip r:embed="rId2"/>
          <a:stretch>
            <a:fillRect/>
          </a:stretch>
        </p:blipFill>
        <p:spPr>
          <a:xfrm>
            <a:off x="7202658" y="1133432"/>
            <a:ext cx="4989342" cy="4113817"/>
          </a:xfrm>
          <a:prstGeom prst="rect">
            <a:avLst/>
          </a:prstGeom>
        </p:spPr>
      </p:pic>
    </p:spTree>
    <p:extLst>
      <p:ext uri="{BB962C8B-B14F-4D97-AF65-F5344CB8AC3E}">
        <p14:creationId xmlns:p14="http://schemas.microsoft.com/office/powerpoint/2010/main" val="3449003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F1182B-B74A-3E4B-70B7-652E91025932}"/>
              </a:ext>
            </a:extLst>
          </p:cNvPr>
          <p:cNvSpPr txBox="1"/>
          <p:nvPr/>
        </p:nvSpPr>
        <p:spPr>
          <a:xfrm>
            <a:off x="4276357" y="0"/>
            <a:ext cx="5444417" cy="400110"/>
          </a:xfrm>
          <a:prstGeom prst="rect">
            <a:avLst/>
          </a:prstGeom>
          <a:noFill/>
        </p:spPr>
        <p:txBody>
          <a:bodyPr wrap="square">
            <a:spAutoFit/>
          </a:bodyPr>
          <a:lstStyle>
            <a:defPPr>
              <a:defRPr lang="en-US"/>
            </a:defPPr>
            <a:lvl1pPr>
              <a:defRPr sz="2400" b="1">
                <a:solidFill>
                  <a:srgbClr val="1B4F8C"/>
                </a:solidFill>
                <a:latin typeface="+mj-lt"/>
              </a:defRPr>
            </a:lvl1pPr>
          </a:lstStyle>
          <a:p>
            <a:r>
              <a:rPr lang="en-US" sz="2000" dirty="0"/>
              <a:t>Machine Learning – Logistic Regression</a:t>
            </a:r>
          </a:p>
        </p:txBody>
      </p:sp>
      <p:sp>
        <p:nvSpPr>
          <p:cNvPr id="4" name="TextBox 3">
            <a:extLst>
              <a:ext uri="{FF2B5EF4-FFF2-40B4-BE49-F238E27FC236}">
                <a16:creationId xmlns:a16="http://schemas.microsoft.com/office/drawing/2014/main" id="{D3B3FAE4-63EF-03C2-E319-1562222BBF2B}"/>
              </a:ext>
            </a:extLst>
          </p:cNvPr>
          <p:cNvSpPr txBox="1"/>
          <p:nvPr/>
        </p:nvSpPr>
        <p:spPr>
          <a:xfrm>
            <a:off x="1642402" y="400110"/>
            <a:ext cx="9527345" cy="307777"/>
          </a:xfrm>
          <a:prstGeom prst="rect">
            <a:avLst/>
          </a:prstGeom>
          <a:noFill/>
        </p:spPr>
        <p:txBody>
          <a:bodyPr wrap="square">
            <a:spAutoFit/>
          </a:bodyPr>
          <a:lstStyle/>
          <a:p>
            <a:pPr>
              <a:buNone/>
            </a:pPr>
            <a:r>
              <a:rPr lang="en-US" sz="1400" b="1" dirty="0">
                <a:solidFill>
                  <a:srgbClr val="FF0000"/>
                </a:solidFill>
              </a:rPr>
              <a:t>Business Question: </a:t>
            </a:r>
            <a:r>
              <a:rPr lang="en-US" sz="1400" b="1" dirty="0"/>
              <a:t>Can operational factors predict whether a delivery will achieve High Delivery Efficiency?</a:t>
            </a:r>
            <a:endParaRPr lang="en-US" sz="1400" dirty="0"/>
          </a:p>
        </p:txBody>
      </p:sp>
      <p:sp>
        <p:nvSpPr>
          <p:cNvPr id="6" name="TextBox 5">
            <a:extLst>
              <a:ext uri="{FF2B5EF4-FFF2-40B4-BE49-F238E27FC236}">
                <a16:creationId xmlns:a16="http://schemas.microsoft.com/office/drawing/2014/main" id="{BCA0F9C6-5113-A84B-AE5A-F21F85F8E831}"/>
              </a:ext>
            </a:extLst>
          </p:cNvPr>
          <p:cNvSpPr txBox="1"/>
          <p:nvPr/>
        </p:nvSpPr>
        <p:spPr>
          <a:xfrm>
            <a:off x="1642402" y="697418"/>
            <a:ext cx="6488724" cy="307777"/>
          </a:xfrm>
          <a:prstGeom prst="rect">
            <a:avLst/>
          </a:prstGeom>
          <a:noFill/>
        </p:spPr>
        <p:txBody>
          <a:bodyPr wrap="square">
            <a:spAutoFit/>
          </a:bodyPr>
          <a:lstStyle/>
          <a:p>
            <a:pPr>
              <a:buNone/>
            </a:pPr>
            <a:r>
              <a:rPr lang="en-US" sz="1400" b="1" dirty="0">
                <a:solidFill>
                  <a:srgbClr val="FF0000"/>
                </a:solidFill>
              </a:rPr>
              <a:t>Objective</a:t>
            </a:r>
            <a:r>
              <a:rPr lang="en-US" sz="1400" b="1" dirty="0"/>
              <a:t>: Classify deliveries as High Efficiency or Low Efficiency.</a:t>
            </a:r>
          </a:p>
        </p:txBody>
      </p:sp>
      <p:graphicFrame>
        <p:nvGraphicFramePr>
          <p:cNvPr id="7" name="Table 6">
            <a:extLst>
              <a:ext uri="{FF2B5EF4-FFF2-40B4-BE49-F238E27FC236}">
                <a16:creationId xmlns:a16="http://schemas.microsoft.com/office/drawing/2014/main" id="{960BE215-4F1E-BE64-75EB-B5C1F50B8C1E}"/>
              </a:ext>
            </a:extLst>
          </p:cNvPr>
          <p:cNvGraphicFramePr>
            <a:graphicFrameLocks noGrp="1"/>
          </p:cNvGraphicFramePr>
          <p:nvPr>
            <p:extLst>
              <p:ext uri="{D42A27DB-BD31-4B8C-83A1-F6EECF244321}">
                <p14:modId xmlns:p14="http://schemas.microsoft.com/office/powerpoint/2010/main" val="3942182027"/>
              </p:ext>
            </p:extLst>
          </p:nvPr>
        </p:nvGraphicFramePr>
        <p:xfrm>
          <a:off x="1436660" y="1068890"/>
          <a:ext cx="5963530" cy="2296160"/>
        </p:xfrm>
        <a:graphic>
          <a:graphicData uri="http://schemas.openxmlformats.org/drawingml/2006/table">
            <a:tbl>
              <a:tblPr firstRow="1" bandRow="1">
                <a:tableStyleId>{5C22544A-7EE6-4342-B048-85BDC9FD1C3A}</a:tableStyleId>
              </a:tblPr>
              <a:tblGrid>
                <a:gridCol w="1987843">
                  <a:extLst>
                    <a:ext uri="{9D8B030D-6E8A-4147-A177-3AD203B41FA5}">
                      <a16:colId xmlns:a16="http://schemas.microsoft.com/office/drawing/2014/main" val="2354151618"/>
                    </a:ext>
                  </a:extLst>
                </a:gridCol>
                <a:gridCol w="1496498">
                  <a:extLst>
                    <a:ext uri="{9D8B030D-6E8A-4147-A177-3AD203B41FA5}">
                      <a16:colId xmlns:a16="http://schemas.microsoft.com/office/drawing/2014/main" val="3863923964"/>
                    </a:ext>
                  </a:extLst>
                </a:gridCol>
                <a:gridCol w="2479189">
                  <a:extLst>
                    <a:ext uri="{9D8B030D-6E8A-4147-A177-3AD203B41FA5}">
                      <a16:colId xmlns:a16="http://schemas.microsoft.com/office/drawing/2014/main" val="592737789"/>
                    </a:ext>
                  </a:extLst>
                </a:gridCol>
              </a:tblGrid>
              <a:tr h="370840">
                <a:tc>
                  <a:txBody>
                    <a:bodyPr/>
                    <a:lstStyle/>
                    <a:p>
                      <a:pPr algn="ctr"/>
                      <a:r>
                        <a:rPr lang="en-US" sz="1800" dirty="0">
                          <a:solidFill>
                            <a:schemeClr val="tx1"/>
                          </a:solidFill>
                        </a:rPr>
                        <a:t>Feature</a:t>
                      </a:r>
                    </a:p>
                  </a:txBody>
                  <a:tcPr/>
                </a:tc>
                <a:tc>
                  <a:txBody>
                    <a:bodyPr/>
                    <a:lstStyle/>
                    <a:p>
                      <a:pPr algn="ctr"/>
                      <a:r>
                        <a:rPr lang="en-US" sz="1800" dirty="0">
                          <a:solidFill>
                            <a:schemeClr val="tx1"/>
                          </a:solidFill>
                        </a:rPr>
                        <a:t>Coefficient</a:t>
                      </a:r>
                    </a:p>
                  </a:txBody>
                  <a:tcPr/>
                </a:tc>
                <a:tc>
                  <a:txBody>
                    <a:bodyPr/>
                    <a:lstStyle/>
                    <a:p>
                      <a:pPr algn="ctr"/>
                      <a:r>
                        <a:rPr lang="en-US" sz="1800" dirty="0">
                          <a:solidFill>
                            <a:schemeClr val="tx1"/>
                          </a:solidFill>
                        </a:rPr>
                        <a:t>Impact</a:t>
                      </a:r>
                    </a:p>
                  </a:txBody>
                  <a:tcPr/>
                </a:tc>
                <a:extLst>
                  <a:ext uri="{0D108BD9-81ED-4DB2-BD59-A6C34878D82A}">
                    <a16:rowId xmlns:a16="http://schemas.microsoft.com/office/drawing/2014/main" val="3923161841"/>
                  </a:ext>
                </a:extLst>
              </a:tr>
              <a:tr h="370840">
                <a:tc>
                  <a:txBody>
                    <a:bodyPr/>
                    <a:lstStyle/>
                    <a:p>
                      <a:pPr algn="ctr"/>
                      <a:r>
                        <a:rPr lang="en-US" sz="1400" b="1" i="0" kern="1200" dirty="0" err="1">
                          <a:solidFill>
                            <a:schemeClr val="tx1"/>
                          </a:solidFill>
                          <a:effectLst/>
                          <a:latin typeface="+mn-lt"/>
                          <a:ea typeface="+mn-ea"/>
                          <a:cs typeface="+mn-cs"/>
                        </a:rPr>
                        <a:t>Avg_Delivery_Speed_KMPH</a:t>
                      </a:r>
                      <a:endParaRPr lang="en-US" sz="1400" b="1" dirty="0">
                        <a:solidFill>
                          <a:schemeClr val="tx1"/>
                        </a:solidFill>
                      </a:endParaRPr>
                    </a:p>
                  </a:txBody>
                  <a:tcPr anchor="ctr"/>
                </a:tc>
                <a:tc>
                  <a:txBody>
                    <a:bodyPr/>
                    <a:lstStyle/>
                    <a:p>
                      <a:pPr algn="ctr"/>
                      <a:r>
                        <a:rPr lang="en-US" sz="1400" b="1" dirty="0">
                          <a:solidFill>
                            <a:schemeClr val="tx1"/>
                          </a:solidFill>
                        </a:rPr>
                        <a:t>0.152433</a:t>
                      </a:r>
                    </a:p>
                  </a:txBody>
                  <a:tcPr anchor="ctr"/>
                </a:tc>
                <a:tc>
                  <a:txBody>
                    <a:bodyPr/>
                    <a:lstStyle/>
                    <a:p>
                      <a:pPr algn="ctr"/>
                      <a:r>
                        <a:rPr lang="en-US" sz="1400" b="1" dirty="0"/>
                        <a:t>Strong positive</a:t>
                      </a:r>
                    </a:p>
                  </a:txBody>
                  <a:tcPr anchor="ctr">
                    <a:solidFill>
                      <a:schemeClr val="accent2"/>
                    </a:solidFill>
                  </a:tcPr>
                </a:tc>
                <a:extLst>
                  <a:ext uri="{0D108BD9-81ED-4DB2-BD59-A6C34878D82A}">
                    <a16:rowId xmlns:a16="http://schemas.microsoft.com/office/drawing/2014/main" val="604905042"/>
                  </a:ext>
                </a:extLst>
              </a:tr>
              <a:tr h="370840">
                <a:tc>
                  <a:txBody>
                    <a:bodyPr/>
                    <a:lstStyle/>
                    <a:p>
                      <a:pPr algn="ctr"/>
                      <a:r>
                        <a:rPr lang="en-US" sz="1400" b="1" i="0" kern="1200" dirty="0" err="1">
                          <a:solidFill>
                            <a:schemeClr val="tx1"/>
                          </a:solidFill>
                          <a:effectLst/>
                          <a:latin typeface="+mn-lt"/>
                          <a:ea typeface="+mn-ea"/>
                          <a:cs typeface="+mn-cs"/>
                        </a:rPr>
                        <a:t>Avg_Preparation_Time_Minutes</a:t>
                      </a:r>
                      <a:endParaRPr lang="en-US" sz="1400" b="1" dirty="0">
                        <a:solidFill>
                          <a:schemeClr val="tx1"/>
                        </a:solidFill>
                      </a:endParaRPr>
                    </a:p>
                  </a:txBody>
                  <a:tcPr anchor="ctr"/>
                </a:tc>
                <a:tc>
                  <a:txBody>
                    <a:bodyPr/>
                    <a:lstStyle/>
                    <a:p>
                      <a:pPr algn="ctr"/>
                      <a:r>
                        <a:rPr lang="en-US" sz="1400" b="1" dirty="0">
                          <a:solidFill>
                            <a:schemeClr val="tx1"/>
                          </a:solidFill>
                        </a:rPr>
                        <a:t>-0.355569</a:t>
                      </a:r>
                    </a:p>
                  </a:txBody>
                  <a:tcPr anchor="ctr"/>
                </a:tc>
                <a:tc>
                  <a:txBody>
                    <a:bodyPr/>
                    <a:lstStyle/>
                    <a:p>
                      <a:pPr algn="ctr"/>
                      <a:r>
                        <a:rPr lang="en-US" sz="1400" b="1" dirty="0">
                          <a:solidFill>
                            <a:schemeClr val="bg1"/>
                          </a:solidFill>
                        </a:rPr>
                        <a:t>Strong negative</a:t>
                      </a:r>
                    </a:p>
                  </a:txBody>
                  <a:tcPr anchor="ctr">
                    <a:solidFill>
                      <a:srgbClr val="FF0000"/>
                    </a:solidFill>
                  </a:tcPr>
                </a:tc>
                <a:extLst>
                  <a:ext uri="{0D108BD9-81ED-4DB2-BD59-A6C34878D82A}">
                    <a16:rowId xmlns:a16="http://schemas.microsoft.com/office/drawing/2014/main" val="791466962"/>
                  </a:ext>
                </a:extLst>
              </a:tr>
              <a:tr h="370840">
                <a:tc>
                  <a:txBody>
                    <a:bodyPr/>
                    <a:lstStyle/>
                    <a:p>
                      <a:pPr algn="ctr"/>
                      <a:r>
                        <a:rPr lang="en-US" sz="1400" b="1" i="0" kern="1200" dirty="0" err="1">
                          <a:solidFill>
                            <a:schemeClr val="tx1"/>
                          </a:solidFill>
                          <a:effectLst/>
                          <a:latin typeface="+mn-lt"/>
                          <a:ea typeface="+mn-ea"/>
                          <a:cs typeface="+mn-cs"/>
                        </a:rPr>
                        <a:t>Order_Capacity_Per_Day</a:t>
                      </a:r>
                      <a:endParaRPr lang="en-US" sz="1400" b="1" dirty="0">
                        <a:solidFill>
                          <a:schemeClr val="tx1"/>
                        </a:solidFill>
                      </a:endParaRPr>
                    </a:p>
                  </a:txBody>
                  <a:tcPr anchor="ctr"/>
                </a:tc>
                <a:tc>
                  <a:txBody>
                    <a:bodyPr/>
                    <a:lstStyle/>
                    <a:p>
                      <a:pPr algn="ctr"/>
                      <a:r>
                        <a:rPr lang="en-US" sz="1400" b="1" dirty="0">
                          <a:solidFill>
                            <a:schemeClr val="tx1"/>
                          </a:solidFill>
                        </a:rPr>
                        <a:t>0.002928</a:t>
                      </a:r>
                    </a:p>
                  </a:txBody>
                  <a:tcPr anchor="ctr"/>
                </a:tc>
                <a:tc>
                  <a:txBody>
                    <a:bodyPr/>
                    <a:lstStyle/>
                    <a:p>
                      <a:pPr algn="ctr"/>
                      <a:r>
                        <a:rPr lang="en-US" sz="1400" dirty="0"/>
                        <a:t>Low</a:t>
                      </a:r>
                    </a:p>
                  </a:txBody>
                  <a:tcPr anchor="ctr">
                    <a:solidFill>
                      <a:schemeClr val="accent2">
                        <a:lumMod val="60000"/>
                        <a:lumOff val="40000"/>
                      </a:schemeClr>
                    </a:solidFill>
                  </a:tcPr>
                </a:tc>
                <a:extLst>
                  <a:ext uri="{0D108BD9-81ED-4DB2-BD59-A6C34878D82A}">
                    <a16:rowId xmlns:a16="http://schemas.microsoft.com/office/drawing/2014/main" val="1887204073"/>
                  </a:ext>
                </a:extLst>
              </a:tr>
              <a:tr h="370840">
                <a:tc>
                  <a:txBody>
                    <a:bodyPr/>
                    <a:lstStyle/>
                    <a:p>
                      <a:pPr algn="ctr"/>
                      <a:r>
                        <a:rPr lang="en-US" sz="1400" b="1" i="0" kern="1200" dirty="0" err="1">
                          <a:solidFill>
                            <a:schemeClr val="tx1"/>
                          </a:solidFill>
                          <a:effectLst/>
                          <a:latin typeface="+mn-lt"/>
                          <a:ea typeface="+mn-ea"/>
                          <a:cs typeface="+mn-cs"/>
                        </a:rPr>
                        <a:t>Festival_Flag</a:t>
                      </a:r>
                      <a:endParaRPr lang="en-US" sz="1400" b="1" dirty="0">
                        <a:solidFill>
                          <a:schemeClr val="tx1"/>
                        </a:solidFill>
                      </a:endParaRPr>
                    </a:p>
                  </a:txBody>
                  <a:tcPr anchor="ctr"/>
                </a:tc>
                <a:tc>
                  <a:txBody>
                    <a:bodyPr/>
                    <a:lstStyle/>
                    <a:p>
                      <a:pPr algn="ctr"/>
                      <a:r>
                        <a:rPr lang="en-US" sz="1400" b="1" dirty="0">
                          <a:solidFill>
                            <a:schemeClr val="tx1"/>
                          </a:solidFill>
                        </a:rPr>
                        <a:t>0.015455</a:t>
                      </a:r>
                    </a:p>
                  </a:txBody>
                  <a:tcPr anchor="ctr"/>
                </a:tc>
                <a:tc>
                  <a:txBody>
                    <a:bodyPr/>
                    <a:lstStyle/>
                    <a:p>
                      <a:pPr algn="ctr"/>
                      <a:r>
                        <a:rPr lang="en-US" sz="1400" dirty="0"/>
                        <a:t>Minimal</a:t>
                      </a:r>
                    </a:p>
                  </a:txBody>
                  <a:tcPr anchor="ctr">
                    <a:solidFill>
                      <a:schemeClr val="accent5">
                        <a:lumMod val="60000"/>
                        <a:lumOff val="40000"/>
                      </a:schemeClr>
                    </a:solidFill>
                  </a:tcPr>
                </a:tc>
                <a:extLst>
                  <a:ext uri="{0D108BD9-81ED-4DB2-BD59-A6C34878D82A}">
                    <a16:rowId xmlns:a16="http://schemas.microsoft.com/office/drawing/2014/main" val="1009385724"/>
                  </a:ext>
                </a:extLst>
              </a:tr>
            </a:tbl>
          </a:graphicData>
        </a:graphic>
      </p:graphicFrame>
      <p:sp>
        <p:nvSpPr>
          <p:cNvPr id="9" name="TextBox 8">
            <a:extLst>
              <a:ext uri="{FF2B5EF4-FFF2-40B4-BE49-F238E27FC236}">
                <a16:creationId xmlns:a16="http://schemas.microsoft.com/office/drawing/2014/main" id="{1EB1AD68-4417-13CE-4243-8A3AFB95D9B6}"/>
              </a:ext>
            </a:extLst>
          </p:cNvPr>
          <p:cNvSpPr txBox="1"/>
          <p:nvPr/>
        </p:nvSpPr>
        <p:spPr>
          <a:xfrm>
            <a:off x="1318844" y="3508677"/>
            <a:ext cx="2141806" cy="338554"/>
          </a:xfrm>
          <a:prstGeom prst="rect">
            <a:avLst/>
          </a:prstGeom>
          <a:noFill/>
        </p:spPr>
        <p:txBody>
          <a:bodyPr wrap="square">
            <a:spAutoFit/>
          </a:bodyPr>
          <a:lstStyle/>
          <a:p>
            <a:r>
              <a:rPr lang="en-US" sz="1600" b="1" dirty="0">
                <a:solidFill>
                  <a:srgbClr val="FF0000"/>
                </a:solidFill>
              </a:rPr>
              <a:t>Model Performance</a:t>
            </a:r>
          </a:p>
        </p:txBody>
      </p:sp>
      <p:graphicFrame>
        <p:nvGraphicFramePr>
          <p:cNvPr id="10" name="Table 9">
            <a:extLst>
              <a:ext uri="{FF2B5EF4-FFF2-40B4-BE49-F238E27FC236}">
                <a16:creationId xmlns:a16="http://schemas.microsoft.com/office/drawing/2014/main" id="{F8AA70D9-09D0-7B55-77F7-AAC7431A8099}"/>
              </a:ext>
            </a:extLst>
          </p:cNvPr>
          <p:cNvGraphicFramePr>
            <a:graphicFrameLocks noGrp="1"/>
          </p:cNvGraphicFramePr>
          <p:nvPr>
            <p:extLst>
              <p:ext uri="{D42A27DB-BD31-4B8C-83A1-F6EECF244321}">
                <p14:modId xmlns:p14="http://schemas.microsoft.com/office/powerpoint/2010/main" val="1951968093"/>
              </p:ext>
            </p:extLst>
          </p:nvPr>
        </p:nvGraphicFramePr>
        <p:xfrm>
          <a:off x="1436660" y="3892951"/>
          <a:ext cx="3450104" cy="1854200"/>
        </p:xfrm>
        <a:graphic>
          <a:graphicData uri="http://schemas.openxmlformats.org/drawingml/2006/table">
            <a:tbl>
              <a:tblPr firstRow="1" bandRow="1">
                <a:tableStyleId>{5C22544A-7EE6-4342-B048-85BDC9FD1C3A}</a:tableStyleId>
              </a:tblPr>
              <a:tblGrid>
                <a:gridCol w="1725052">
                  <a:extLst>
                    <a:ext uri="{9D8B030D-6E8A-4147-A177-3AD203B41FA5}">
                      <a16:colId xmlns:a16="http://schemas.microsoft.com/office/drawing/2014/main" val="2091002987"/>
                    </a:ext>
                  </a:extLst>
                </a:gridCol>
                <a:gridCol w="1725052">
                  <a:extLst>
                    <a:ext uri="{9D8B030D-6E8A-4147-A177-3AD203B41FA5}">
                      <a16:colId xmlns:a16="http://schemas.microsoft.com/office/drawing/2014/main" val="1468044670"/>
                    </a:ext>
                  </a:extLst>
                </a:gridCol>
              </a:tblGrid>
              <a:tr h="370840">
                <a:tc>
                  <a:txBody>
                    <a:bodyPr/>
                    <a:lstStyle/>
                    <a:p>
                      <a:pPr algn="ctr"/>
                      <a:r>
                        <a:rPr lang="en-US" b="1" dirty="0">
                          <a:solidFill>
                            <a:schemeClr val="tx1"/>
                          </a:solidFill>
                        </a:rPr>
                        <a:t>Metric</a:t>
                      </a:r>
                    </a:p>
                  </a:txBody>
                  <a:tcPr anchor="ctr"/>
                </a:tc>
                <a:tc>
                  <a:txBody>
                    <a:bodyPr/>
                    <a:lstStyle/>
                    <a:p>
                      <a:pPr algn="ctr"/>
                      <a:r>
                        <a:rPr lang="en-US" b="1" dirty="0">
                          <a:solidFill>
                            <a:schemeClr val="tx1"/>
                          </a:solidFill>
                        </a:rPr>
                        <a:t>Value</a:t>
                      </a:r>
                    </a:p>
                  </a:txBody>
                  <a:tcPr anchor="ctr"/>
                </a:tc>
                <a:extLst>
                  <a:ext uri="{0D108BD9-81ED-4DB2-BD59-A6C34878D82A}">
                    <a16:rowId xmlns:a16="http://schemas.microsoft.com/office/drawing/2014/main" val="4017096583"/>
                  </a:ext>
                </a:extLst>
              </a:tr>
              <a:tr h="370840">
                <a:tc>
                  <a:txBody>
                    <a:bodyPr/>
                    <a:lstStyle/>
                    <a:p>
                      <a:pPr algn="ctr"/>
                      <a:r>
                        <a:rPr lang="en-US" sz="1600" b="1" dirty="0">
                          <a:solidFill>
                            <a:schemeClr val="tx1"/>
                          </a:solidFill>
                        </a:rPr>
                        <a:t>Accuracy</a:t>
                      </a:r>
                    </a:p>
                  </a:txBody>
                  <a:tcPr anchor="ctr"/>
                </a:tc>
                <a:tc>
                  <a:txBody>
                    <a:bodyPr/>
                    <a:lstStyle/>
                    <a:p>
                      <a:pPr algn="ctr"/>
                      <a:r>
                        <a:rPr lang="en-US" sz="1600" b="1" dirty="0">
                          <a:solidFill>
                            <a:schemeClr val="tx1"/>
                          </a:solidFill>
                        </a:rPr>
                        <a:t>93.96 %</a:t>
                      </a:r>
                    </a:p>
                  </a:txBody>
                  <a:tcPr anchor="ctr"/>
                </a:tc>
                <a:extLst>
                  <a:ext uri="{0D108BD9-81ED-4DB2-BD59-A6C34878D82A}">
                    <a16:rowId xmlns:a16="http://schemas.microsoft.com/office/drawing/2014/main" val="139782274"/>
                  </a:ext>
                </a:extLst>
              </a:tr>
              <a:tr h="370840">
                <a:tc>
                  <a:txBody>
                    <a:bodyPr/>
                    <a:lstStyle/>
                    <a:p>
                      <a:pPr algn="ctr"/>
                      <a:r>
                        <a:rPr lang="en-US" sz="1600" b="1" dirty="0">
                          <a:solidFill>
                            <a:schemeClr val="tx1"/>
                          </a:solidFill>
                        </a:rPr>
                        <a:t>Precision</a:t>
                      </a:r>
                    </a:p>
                  </a:txBody>
                  <a:tcPr anchor="ctr"/>
                </a:tc>
                <a:tc>
                  <a:txBody>
                    <a:bodyPr/>
                    <a:lstStyle/>
                    <a:p>
                      <a:pPr algn="ctr"/>
                      <a:r>
                        <a:rPr lang="en-US" sz="1600" b="1" dirty="0">
                          <a:solidFill>
                            <a:schemeClr val="tx1"/>
                          </a:solidFill>
                        </a:rPr>
                        <a:t>97 %</a:t>
                      </a:r>
                    </a:p>
                  </a:txBody>
                  <a:tcPr anchor="ctr"/>
                </a:tc>
                <a:extLst>
                  <a:ext uri="{0D108BD9-81ED-4DB2-BD59-A6C34878D82A}">
                    <a16:rowId xmlns:a16="http://schemas.microsoft.com/office/drawing/2014/main" val="1241373109"/>
                  </a:ext>
                </a:extLst>
              </a:tr>
              <a:tr h="370840">
                <a:tc>
                  <a:txBody>
                    <a:bodyPr/>
                    <a:lstStyle/>
                    <a:p>
                      <a:pPr algn="ctr"/>
                      <a:r>
                        <a:rPr lang="en-US" sz="1600" b="1" dirty="0">
                          <a:solidFill>
                            <a:schemeClr val="tx1"/>
                          </a:solidFill>
                        </a:rPr>
                        <a:t>Recall</a:t>
                      </a:r>
                    </a:p>
                  </a:txBody>
                  <a:tcPr anchor="ctr"/>
                </a:tc>
                <a:tc>
                  <a:txBody>
                    <a:bodyPr/>
                    <a:lstStyle/>
                    <a:p>
                      <a:pPr algn="ctr"/>
                      <a:r>
                        <a:rPr lang="en-US" sz="1600" b="1" dirty="0">
                          <a:solidFill>
                            <a:schemeClr val="tx1"/>
                          </a:solidFill>
                        </a:rPr>
                        <a:t>93 %</a:t>
                      </a:r>
                    </a:p>
                  </a:txBody>
                  <a:tcPr anchor="ctr"/>
                </a:tc>
                <a:extLst>
                  <a:ext uri="{0D108BD9-81ED-4DB2-BD59-A6C34878D82A}">
                    <a16:rowId xmlns:a16="http://schemas.microsoft.com/office/drawing/2014/main" val="2023158627"/>
                  </a:ext>
                </a:extLst>
              </a:tr>
              <a:tr h="370840">
                <a:tc>
                  <a:txBody>
                    <a:bodyPr/>
                    <a:lstStyle/>
                    <a:p>
                      <a:pPr algn="ctr"/>
                      <a:r>
                        <a:rPr lang="en-US" sz="1600" b="1" dirty="0">
                          <a:solidFill>
                            <a:schemeClr val="tx1"/>
                          </a:solidFill>
                        </a:rPr>
                        <a:t>F1 Score</a:t>
                      </a:r>
                    </a:p>
                  </a:txBody>
                  <a:tcPr anchor="ctr"/>
                </a:tc>
                <a:tc>
                  <a:txBody>
                    <a:bodyPr/>
                    <a:lstStyle/>
                    <a:p>
                      <a:pPr algn="ctr"/>
                      <a:r>
                        <a:rPr lang="en-US" sz="1600" b="1" dirty="0">
                          <a:solidFill>
                            <a:schemeClr val="tx1"/>
                          </a:solidFill>
                        </a:rPr>
                        <a:t>95 %</a:t>
                      </a:r>
                    </a:p>
                  </a:txBody>
                  <a:tcPr anchor="ctr"/>
                </a:tc>
                <a:extLst>
                  <a:ext uri="{0D108BD9-81ED-4DB2-BD59-A6C34878D82A}">
                    <a16:rowId xmlns:a16="http://schemas.microsoft.com/office/drawing/2014/main" val="293025154"/>
                  </a:ext>
                </a:extLst>
              </a:tr>
            </a:tbl>
          </a:graphicData>
        </a:graphic>
      </p:graphicFrame>
      <p:pic>
        <p:nvPicPr>
          <p:cNvPr id="12" name="Picture 11">
            <a:extLst>
              <a:ext uri="{FF2B5EF4-FFF2-40B4-BE49-F238E27FC236}">
                <a16:creationId xmlns:a16="http://schemas.microsoft.com/office/drawing/2014/main" id="{191B4E73-1A36-0F41-7426-110981AC5DB3}"/>
              </a:ext>
            </a:extLst>
          </p:cNvPr>
          <p:cNvPicPr>
            <a:picLocks noChangeAspect="1"/>
          </p:cNvPicPr>
          <p:nvPr/>
        </p:nvPicPr>
        <p:blipFill>
          <a:blip r:embed="rId2"/>
          <a:stretch>
            <a:fillRect/>
          </a:stretch>
        </p:blipFill>
        <p:spPr>
          <a:xfrm>
            <a:off x="7793503" y="800220"/>
            <a:ext cx="4398498" cy="3518562"/>
          </a:xfrm>
          <a:prstGeom prst="rect">
            <a:avLst/>
          </a:prstGeom>
        </p:spPr>
      </p:pic>
      <p:sp>
        <p:nvSpPr>
          <p:cNvPr id="13" name="TextBox 12">
            <a:extLst>
              <a:ext uri="{FF2B5EF4-FFF2-40B4-BE49-F238E27FC236}">
                <a16:creationId xmlns:a16="http://schemas.microsoft.com/office/drawing/2014/main" id="{09B55C8F-5163-7512-8346-B3D60CFB1F77}"/>
              </a:ext>
            </a:extLst>
          </p:cNvPr>
          <p:cNvSpPr txBox="1"/>
          <p:nvPr/>
        </p:nvSpPr>
        <p:spPr>
          <a:xfrm>
            <a:off x="6096000" y="4535397"/>
            <a:ext cx="5861537" cy="1384995"/>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Insights</a:t>
            </a:r>
          </a:p>
          <a:p>
            <a:pPr marL="285750" indent="-285750">
              <a:buFont typeface="Arial" panose="020B0604020202020204" pitchFamily="34" charset="0"/>
              <a:buChar char="•"/>
            </a:pPr>
            <a:r>
              <a:rPr lang="en-US" dirty="0"/>
              <a:t>The model predicts high delivery efficiency with </a:t>
            </a:r>
            <a:r>
              <a:rPr lang="en-US" dirty="0">
                <a:solidFill>
                  <a:srgbClr val="FF0000"/>
                </a:solidFill>
              </a:rPr>
              <a:t>94 % accuracy.</a:t>
            </a:r>
          </a:p>
          <a:p>
            <a:pPr marL="285750" indent="-285750">
              <a:buFont typeface="Arial" panose="020B0604020202020204" pitchFamily="34" charset="0"/>
              <a:buChar char="•"/>
            </a:pPr>
            <a:r>
              <a:rPr lang="en-US" dirty="0">
                <a:solidFill>
                  <a:srgbClr val="FF0000"/>
                </a:solidFill>
              </a:rPr>
              <a:t>Restaurant preparation time </a:t>
            </a:r>
            <a:r>
              <a:rPr lang="en-US" dirty="0"/>
              <a:t>has the </a:t>
            </a:r>
            <a:r>
              <a:rPr lang="en-US" dirty="0">
                <a:solidFill>
                  <a:srgbClr val="FF0000"/>
                </a:solidFill>
              </a:rPr>
              <a:t>strongest impact </a:t>
            </a:r>
            <a:r>
              <a:rPr lang="en-US" dirty="0"/>
              <a:t>on delivery efficiency score</a:t>
            </a:r>
          </a:p>
          <a:p>
            <a:pPr marL="285750" indent="-285750">
              <a:buFont typeface="Arial" panose="020B0604020202020204" pitchFamily="34" charset="0"/>
              <a:buChar char="•"/>
            </a:pPr>
            <a:r>
              <a:rPr lang="en-US" dirty="0">
                <a:solidFill>
                  <a:srgbClr val="FF0000"/>
                </a:solidFill>
              </a:rPr>
              <a:t>Delivery speed significantly increases </a:t>
            </a:r>
            <a:r>
              <a:rPr lang="en-US" dirty="0"/>
              <a:t>the probability of high delivery efficiency score.</a:t>
            </a:r>
          </a:p>
        </p:txBody>
      </p:sp>
      <p:sp>
        <p:nvSpPr>
          <p:cNvPr id="14" name="TextBox 13">
            <a:extLst>
              <a:ext uri="{FF2B5EF4-FFF2-40B4-BE49-F238E27FC236}">
                <a16:creationId xmlns:a16="http://schemas.microsoft.com/office/drawing/2014/main" id="{AB04E9B4-2F72-F97E-F3D6-288E56DEB4CE}"/>
              </a:ext>
            </a:extLst>
          </p:cNvPr>
          <p:cNvSpPr txBox="1"/>
          <p:nvPr/>
        </p:nvSpPr>
        <p:spPr>
          <a:xfrm>
            <a:off x="6096000" y="5994974"/>
            <a:ext cx="4603176" cy="738664"/>
          </a:xfrm>
          <a:prstGeom prst="rect">
            <a:avLst/>
          </a:prstGeom>
          <a:solidFill>
            <a:schemeClr val="accent3">
              <a:lumMod val="60000"/>
              <a:lumOff val="40000"/>
            </a:schemeClr>
          </a:solidFill>
          <a:ln>
            <a:solidFill>
              <a:schemeClr val="tx1"/>
            </a:solidFill>
          </a:ln>
        </p:spPr>
        <p:txBody>
          <a:bodyPr wrap="square">
            <a:spAutoFit/>
          </a:bodyPr>
          <a:lstStyle>
            <a:defPPr>
              <a:defRPr lang="en-US"/>
            </a:defPPr>
            <a:lvl1pPr>
              <a:buNone/>
              <a:defRPr sz="1400" b="1"/>
            </a:lvl1pPr>
          </a:lstStyle>
          <a:p>
            <a:r>
              <a:rPr lang="en-US" dirty="0"/>
              <a:t>Business Recommendation</a:t>
            </a:r>
          </a:p>
          <a:p>
            <a:pPr marL="285750" indent="-285750">
              <a:buFont typeface="Arial" panose="020B0604020202020204" pitchFamily="34" charset="0"/>
              <a:buChar char="•"/>
            </a:pPr>
            <a:r>
              <a:rPr lang="en-US" dirty="0"/>
              <a:t>Optimize restaurant preparation processes</a:t>
            </a:r>
          </a:p>
          <a:p>
            <a:pPr marL="285750" indent="-285750">
              <a:buFont typeface="Arial" panose="020B0604020202020204" pitchFamily="34" charset="0"/>
              <a:buChar char="•"/>
            </a:pPr>
            <a:r>
              <a:rPr lang="en-US" dirty="0"/>
              <a:t>Improve delivery routing and vehicle allocation.</a:t>
            </a:r>
          </a:p>
        </p:txBody>
      </p:sp>
    </p:spTree>
    <p:extLst>
      <p:ext uri="{BB962C8B-B14F-4D97-AF65-F5344CB8AC3E}">
        <p14:creationId xmlns:p14="http://schemas.microsoft.com/office/powerpoint/2010/main" val="4164474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Key Findings Diagram template for PowerPoint &amp; Google Slides">
            <a:extLst>
              <a:ext uri="{FF2B5EF4-FFF2-40B4-BE49-F238E27FC236}">
                <a16:creationId xmlns:a16="http://schemas.microsoft.com/office/drawing/2014/main" id="{4851AEA5-6CEA-E0E9-5F25-D0CEFBA10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7E7DD15-6C3B-3BFE-09F7-F68D114C3BDA}"/>
              </a:ext>
            </a:extLst>
          </p:cNvPr>
          <p:cNvSpPr/>
          <p:nvPr/>
        </p:nvSpPr>
        <p:spPr>
          <a:xfrm>
            <a:off x="0" y="1392702"/>
            <a:ext cx="8637563" cy="546529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rgbClr val="FF0000"/>
                </a:solidFill>
              </a:rPr>
              <a:t>Customer Insights</a:t>
            </a:r>
          </a:p>
          <a:p>
            <a:pPr marL="285750" indent="-285750">
              <a:buFont typeface="Arial" panose="020B0604020202020204" pitchFamily="34" charset="0"/>
              <a:buChar char="•"/>
            </a:pPr>
            <a:r>
              <a:rPr lang="en-US" sz="1600" b="1" dirty="0">
                <a:solidFill>
                  <a:srgbClr val="FFFF00"/>
                </a:solidFill>
              </a:rPr>
              <a:t>New customers generated the highest number of orders and revenue</a:t>
            </a:r>
            <a:r>
              <a:rPr lang="en-US" sz="1600" b="1" dirty="0">
                <a:solidFill>
                  <a:schemeClr val="bg1"/>
                </a:solidFill>
              </a:rPr>
              <a:t>, indicating strong customer acquisition. </a:t>
            </a:r>
          </a:p>
          <a:p>
            <a:pPr marL="285750" indent="-285750">
              <a:buFont typeface="Arial" panose="020B0604020202020204" pitchFamily="34" charset="0"/>
              <a:buChar char="•"/>
            </a:pPr>
            <a:r>
              <a:rPr lang="en-US" sz="1600" b="1" dirty="0">
                <a:solidFill>
                  <a:schemeClr val="bg1"/>
                </a:solidFill>
              </a:rPr>
              <a:t>Customer satisfaction remained consistent across different customer types, reflecting a reliable delivery experience. </a:t>
            </a:r>
          </a:p>
          <a:p>
            <a:r>
              <a:rPr lang="en-US" b="1" dirty="0">
                <a:solidFill>
                  <a:srgbClr val="FF0000"/>
                </a:solidFill>
              </a:rPr>
              <a:t>Restaurant Performance</a:t>
            </a:r>
          </a:p>
          <a:p>
            <a:pPr marL="285750" indent="-285750">
              <a:buFont typeface="Arial" panose="020B0604020202020204" pitchFamily="34" charset="0"/>
              <a:buChar char="•"/>
            </a:pPr>
            <a:r>
              <a:rPr lang="en-US" sz="1600" b="1" dirty="0">
                <a:solidFill>
                  <a:schemeClr val="bg1"/>
                </a:solidFill>
              </a:rPr>
              <a:t>Restaurant preparation time was identified as the most influential factor affecting delivery efficiency. </a:t>
            </a:r>
          </a:p>
          <a:p>
            <a:pPr marL="285750" indent="-285750">
              <a:buFont typeface="Arial" panose="020B0604020202020204" pitchFamily="34" charset="0"/>
              <a:buChar char="•"/>
            </a:pPr>
            <a:r>
              <a:rPr lang="en-US" sz="1600" b="1" dirty="0">
                <a:solidFill>
                  <a:schemeClr val="bg1"/>
                </a:solidFill>
              </a:rPr>
              <a:t>Highly rated restaurants generally maintained better operational performance and customer satisfaction</a:t>
            </a:r>
            <a:r>
              <a:rPr lang="en-US" sz="1600" b="1" dirty="0">
                <a:solidFill>
                  <a:schemeClr val="tx1"/>
                </a:solidFill>
              </a:rPr>
              <a:t>. </a:t>
            </a:r>
          </a:p>
          <a:p>
            <a:r>
              <a:rPr lang="en-US" b="1" dirty="0">
                <a:solidFill>
                  <a:srgbClr val="FF0000"/>
                </a:solidFill>
              </a:rPr>
              <a:t>Delivery &amp; Logistics</a:t>
            </a:r>
          </a:p>
          <a:p>
            <a:pPr marL="285750" indent="-285750">
              <a:buFont typeface="Arial" panose="020B0604020202020204" pitchFamily="34" charset="0"/>
              <a:buChar char="•"/>
            </a:pPr>
            <a:r>
              <a:rPr lang="en-US" sz="1600" b="1" dirty="0">
                <a:solidFill>
                  <a:schemeClr val="bg1"/>
                </a:solidFill>
              </a:rPr>
              <a:t>Urban and Metropolitan regions showed similar average delivery times, indicating consistent logistics performance. </a:t>
            </a:r>
          </a:p>
          <a:p>
            <a:pPr marL="285750" indent="-285750">
              <a:buFont typeface="Arial" panose="020B0604020202020204" pitchFamily="34" charset="0"/>
              <a:buChar char="•"/>
            </a:pPr>
            <a:r>
              <a:rPr lang="en-US" sz="1600" b="1" dirty="0">
                <a:solidFill>
                  <a:srgbClr val="FFFF00"/>
                </a:solidFill>
              </a:rPr>
              <a:t>Delivery speed positively influenced efficiency</a:t>
            </a:r>
            <a:r>
              <a:rPr lang="en-US" sz="1600" b="1" dirty="0">
                <a:solidFill>
                  <a:schemeClr val="bg1"/>
                </a:solidFill>
              </a:rPr>
              <a:t>, while preparation delays significantly reduced operational performance</a:t>
            </a:r>
          </a:p>
          <a:p>
            <a:r>
              <a:rPr lang="en-US" b="1" dirty="0">
                <a:solidFill>
                  <a:srgbClr val="FF0000"/>
                </a:solidFill>
              </a:rPr>
              <a:t>Operational Analytics</a:t>
            </a:r>
          </a:p>
          <a:p>
            <a:pPr marL="285750" indent="-285750">
              <a:buFont typeface="Arial" panose="020B0604020202020204" pitchFamily="34" charset="0"/>
              <a:buChar char="•"/>
            </a:pPr>
            <a:r>
              <a:rPr lang="en-US" sz="1600" b="1" dirty="0">
                <a:solidFill>
                  <a:srgbClr val="FFFF00"/>
                </a:solidFill>
              </a:rPr>
              <a:t>Restaurant preparation time</a:t>
            </a:r>
            <a:r>
              <a:rPr lang="en-US" sz="1600" b="1" dirty="0">
                <a:solidFill>
                  <a:schemeClr val="tx1"/>
                </a:solidFill>
              </a:rPr>
              <a:t> </a:t>
            </a:r>
            <a:r>
              <a:rPr lang="en-US" sz="1600" b="1" dirty="0">
                <a:solidFill>
                  <a:schemeClr val="bg1"/>
                </a:solidFill>
              </a:rPr>
              <a:t>was identified as the</a:t>
            </a:r>
            <a:r>
              <a:rPr lang="en-US" sz="1600" b="1" dirty="0">
                <a:solidFill>
                  <a:schemeClr val="tx1"/>
                </a:solidFill>
              </a:rPr>
              <a:t> </a:t>
            </a:r>
            <a:r>
              <a:rPr lang="en-US" sz="1600" b="1" dirty="0">
                <a:solidFill>
                  <a:srgbClr val="FFFF00"/>
                </a:solidFill>
              </a:rPr>
              <a:t>strongest factor affecting delivery efficiency</a:t>
            </a:r>
            <a:r>
              <a:rPr lang="en-US" sz="1600" b="1" dirty="0">
                <a:solidFill>
                  <a:schemeClr val="tx1"/>
                </a:solidFill>
              </a:rPr>
              <a:t>. </a:t>
            </a:r>
          </a:p>
          <a:p>
            <a:pPr marL="285750" indent="-285750">
              <a:buFont typeface="Arial" panose="020B0604020202020204" pitchFamily="34" charset="0"/>
              <a:buChar char="•"/>
            </a:pPr>
            <a:r>
              <a:rPr lang="en-US" sz="1600" b="1" dirty="0">
                <a:solidFill>
                  <a:schemeClr val="bg1"/>
                </a:solidFill>
              </a:rPr>
              <a:t>Multiple Linear Regression explained </a:t>
            </a:r>
            <a:r>
              <a:rPr lang="en-US" sz="1600" b="1" dirty="0">
                <a:solidFill>
                  <a:srgbClr val="FFFF00"/>
                </a:solidFill>
              </a:rPr>
              <a:t>79.26%</a:t>
            </a:r>
            <a:r>
              <a:rPr lang="en-US" sz="1600" b="1" dirty="0">
                <a:solidFill>
                  <a:schemeClr val="tx1"/>
                </a:solidFill>
              </a:rPr>
              <a:t> </a:t>
            </a:r>
            <a:r>
              <a:rPr lang="en-US" sz="1600" b="1" dirty="0">
                <a:solidFill>
                  <a:schemeClr val="bg1"/>
                </a:solidFill>
              </a:rPr>
              <a:t>of the variation in delivery efficiency. </a:t>
            </a:r>
          </a:p>
          <a:p>
            <a:pPr marL="285750" indent="-285750">
              <a:buFont typeface="Arial" panose="020B0604020202020204" pitchFamily="34" charset="0"/>
              <a:buChar char="•"/>
            </a:pPr>
            <a:r>
              <a:rPr lang="en-US" sz="1600" b="1" dirty="0">
                <a:solidFill>
                  <a:schemeClr val="bg1"/>
                </a:solidFill>
              </a:rPr>
              <a:t>Logistic Regression predicted high delivery efficiency with </a:t>
            </a:r>
            <a:r>
              <a:rPr lang="en-US" sz="1600" b="1" dirty="0">
                <a:solidFill>
                  <a:srgbClr val="FFFF00"/>
                </a:solidFill>
              </a:rPr>
              <a:t>93.96% </a:t>
            </a:r>
            <a:r>
              <a:rPr lang="en-US" sz="1600" b="1" dirty="0">
                <a:solidFill>
                  <a:schemeClr val="bg1"/>
                </a:solidFill>
              </a:rPr>
              <a:t>accuracy, supporting proactive logistics planning.</a:t>
            </a:r>
          </a:p>
          <a:p>
            <a:endParaRPr lang="en-US" sz="1600" b="1" dirty="0">
              <a:solidFill>
                <a:schemeClr val="tx1"/>
              </a:solidFill>
            </a:endParaRPr>
          </a:p>
        </p:txBody>
      </p:sp>
    </p:spTree>
    <p:extLst>
      <p:ext uri="{BB962C8B-B14F-4D97-AF65-F5344CB8AC3E}">
        <p14:creationId xmlns:p14="http://schemas.microsoft.com/office/powerpoint/2010/main" val="261480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E405F6-5574-5FAB-F437-0C78CB03785C}"/>
              </a:ext>
            </a:extLst>
          </p:cNvPr>
          <p:cNvPicPr>
            <a:picLocks noChangeAspect="1"/>
          </p:cNvPicPr>
          <p:nvPr/>
        </p:nvPicPr>
        <p:blipFill>
          <a:blip r:embed="rId2">
            <a:extLst>
              <a:ext uri="{28A0092B-C50C-407E-A947-70E740481C1C}">
                <a14:useLocalDpi xmlns:a14="http://schemas.microsoft.com/office/drawing/2010/main" val="0"/>
              </a:ext>
            </a:extLst>
          </a:blip>
          <a:srcRect t="1436" b="7282"/>
          <a:stretch>
            <a:fillRect/>
          </a:stretch>
        </p:blipFill>
        <p:spPr>
          <a:xfrm>
            <a:off x="0" y="0"/>
            <a:ext cx="12192000" cy="6858000"/>
          </a:xfrm>
          <a:prstGeom prst="rect">
            <a:avLst/>
          </a:prstGeom>
        </p:spPr>
      </p:pic>
      <p:sp>
        <p:nvSpPr>
          <p:cNvPr id="4" name="Rectangle: Single Corner Snipped 3">
            <a:extLst>
              <a:ext uri="{FF2B5EF4-FFF2-40B4-BE49-F238E27FC236}">
                <a16:creationId xmlns:a16="http://schemas.microsoft.com/office/drawing/2014/main" id="{73BAF62D-A8B4-BFB8-759E-3FB5E51D55BB}"/>
              </a:ext>
            </a:extLst>
          </p:cNvPr>
          <p:cNvSpPr/>
          <p:nvPr/>
        </p:nvSpPr>
        <p:spPr>
          <a:xfrm>
            <a:off x="323557" y="618978"/>
            <a:ext cx="5772443" cy="5584874"/>
          </a:xfrm>
          <a:prstGeom prst="snip1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solidFill>
                  <a:schemeClr val="bg1"/>
                </a:solidFill>
                <a:latin typeface="+mj-lt"/>
              </a:rPr>
              <a:t>Business Recommendations</a:t>
            </a:r>
          </a:p>
        </p:txBody>
      </p:sp>
      <p:sp>
        <p:nvSpPr>
          <p:cNvPr id="5" name="Rectangle 1">
            <a:extLst>
              <a:ext uri="{FF2B5EF4-FFF2-40B4-BE49-F238E27FC236}">
                <a16:creationId xmlns:a16="http://schemas.microsoft.com/office/drawing/2014/main" id="{E0E37E37-1B46-FA68-50AF-BFBDAD9F4988}"/>
              </a:ext>
            </a:extLst>
          </p:cNvPr>
          <p:cNvSpPr>
            <a:spLocks noChangeArrowheads="1"/>
          </p:cNvSpPr>
          <p:nvPr/>
        </p:nvSpPr>
        <p:spPr bwMode="auto">
          <a:xfrm>
            <a:off x="548639" y="1507985"/>
            <a:ext cx="469860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b="1" dirty="0">
                <a:solidFill>
                  <a:schemeClr val="bg1"/>
                </a:solidFill>
              </a:rPr>
              <a:t>⏱  </a:t>
            </a:r>
            <a:r>
              <a:rPr lang="en-US" altLang="en-US" b="1" dirty="0">
                <a:solidFill>
                  <a:srgbClr val="FFFF00"/>
                </a:solidFill>
              </a:rPr>
              <a:t>Reduce restaurant preparation time</a:t>
            </a:r>
            <a:r>
              <a:rPr lang="en-US" altLang="en-US" dirty="0">
                <a:solidFill>
                  <a:srgbClr val="FFFF00"/>
                </a:solidFill>
              </a:rPr>
              <a:t> </a:t>
            </a:r>
            <a:r>
              <a:rPr lang="en-US" altLang="en-US" dirty="0">
                <a:solidFill>
                  <a:schemeClr val="bg1"/>
                </a:solidFill>
              </a:rPr>
              <a:t>through better kitchen planning and order management. </a:t>
            </a:r>
          </a:p>
          <a:p>
            <a:pPr lvl="0" defTabSz="914400" eaLnBrk="0" fontAlgn="base" hangingPunct="0">
              <a:spcBef>
                <a:spcPct val="0"/>
              </a:spcBef>
              <a:spcAft>
                <a:spcPct val="0"/>
              </a:spcAft>
            </a:pPr>
            <a:r>
              <a:rPr lang="en-US" dirty="0"/>
              <a:t>🚚 </a:t>
            </a:r>
            <a:r>
              <a:rPr lang="en-US" altLang="en-US" b="1" dirty="0">
                <a:solidFill>
                  <a:srgbClr val="FFFF00"/>
                </a:solidFill>
              </a:rPr>
              <a:t>Optimize delivery routes and partner allocation</a:t>
            </a:r>
            <a:r>
              <a:rPr lang="en-US" altLang="en-US" dirty="0">
                <a:solidFill>
                  <a:schemeClr val="bg1"/>
                </a:solidFill>
              </a:rPr>
              <a:t> to maintain faster and more efficient deliveries. </a:t>
            </a:r>
          </a:p>
          <a:p>
            <a:pPr lvl="0" defTabSz="914400" eaLnBrk="0" fontAlgn="base" hangingPunct="0">
              <a:spcBef>
                <a:spcPct val="0"/>
              </a:spcBef>
              <a:spcAft>
                <a:spcPct val="0"/>
              </a:spcAft>
            </a:pPr>
            <a:r>
              <a:rPr lang="en-US" dirty="0"/>
              <a:t>📍 </a:t>
            </a:r>
            <a:r>
              <a:rPr lang="en-US" altLang="en-US" b="1" dirty="0">
                <a:solidFill>
                  <a:srgbClr val="FFFF00"/>
                </a:solidFill>
              </a:rPr>
              <a:t>Expand operations in high-demand regions</a:t>
            </a:r>
            <a:r>
              <a:rPr lang="en-US" altLang="en-US" dirty="0">
                <a:solidFill>
                  <a:srgbClr val="FFFF00"/>
                </a:solidFill>
              </a:rPr>
              <a:t> </a:t>
            </a:r>
            <a:r>
              <a:rPr lang="en-US" altLang="en-US" dirty="0">
                <a:solidFill>
                  <a:schemeClr val="bg1"/>
                </a:solidFill>
              </a:rPr>
              <a:t>with strong revenue potential. </a:t>
            </a:r>
          </a:p>
          <a:p>
            <a:pPr lvl="0" defTabSz="914400" eaLnBrk="0" fontAlgn="base" hangingPunct="0">
              <a:spcBef>
                <a:spcPct val="0"/>
              </a:spcBef>
              <a:spcAft>
                <a:spcPct val="0"/>
              </a:spcAft>
            </a:pPr>
            <a:r>
              <a:rPr lang="en-US" dirty="0"/>
              <a:t>❤️ </a:t>
            </a:r>
            <a:r>
              <a:rPr lang="en-US" altLang="en-US" b="1" dirty="0">
                <a:solidFill>
                  <a:srgbClr val="FFFF00"/>
                </a:solidFill>
              </a:rPr>
              <a:t>Strengthen customer retention programs</a:t>
            </a:r>
            <a:r>
              <a:rPr lang="en-US" altLang="en-US" dirty="0">
                <a:solidFill>
                  <a:srgbClr val="FFFF00"/>
                </a:solidFill>
              </a:rPr>
              <a:t> </a:t>
            </a:r>
            <a:r>
              <a:rPr lang="en-US" altLang="en-US" dirty="0">
                <a:solidFill>
                  <a:schemeClr val="bg1"/>
                </a:solidFill>
              </a:rPr>
              <a:t>through personalized offers and loyalty initiatives. </a:t>
            </a:r>
          </a:p>
          <a:p>
            <a:pPr lvl="0" defTabSz="914400" eaLnBrk="0" fontAlgn="base" hangingPunct="0">
              <a:spcBef>
                <a:spcPct val="0"/>
              </a:spcBef>
              <a:spcAft>
                <a:spcPct val="0"/>
              </a:spcAft>
            </a:pPr>
            <a:r>
              <a:rPr lang="en-US" dirty="0"/>
              <a:t>📊 </a:t>
            </a:r>
            <a:r>
              <a:rPr lang="en-US" altLang="en-US" b="1" dirty="0">
                <a:solidFill>
                  <a:srgbClr val="FFFF00"/>
                </a:solidFill>
              </a:rPr>
              <a:t>Monitor operational KPIs</a:t>
            </a:r>
            <a:r>
              <a:rPr lang="en-US" altLang="en-US" dirty="0">
                <a:solidFill>
                  <a:srgbClr val="FFFF00"/>
                </a:solidFill>
              </a:rPr>
              <a:t> </a:t>
            </a:r>
            <a:r>
              <a:rPr lang="en-US" altLang="en-US" dirty="0">
                <a:solidFill>
                  <a:schemeClr val="bg1"/>
                </a:solidFill>
              </a:rPr>
              <a:t>using interactive Excel and Power BI dashboards. </a:t>
            </a:r>
          </a:p>
          <a:p>
            <a:pPr lvl="0" defTabSz="914400" eaLnBrk="0" fontAlgn="base" hangingPunct="0">
              <a:spcBef>
                <a:spcPct val="0"/>
              </a:spcBef>
              <a:spcAft>
                <a:spcPct val="0"/>
              </a:spcAft>
            </a:pPr>
            <a:r>
              <a:rPr lang="en-US" dirty="0"/>
              <a:t>🤖 </a:t>
            </a:r>
            <a:r>
              <a:rPr lang="en-US" altLang="en-US" b="1" dirty="0">
                <a:solidFill>
                  <a:srgbClr val="FFFF00"/>
                </a:solidFill>
              </a:rPr>
              <a:t>Leverage predictive models</a:t>
            </a:r>
            <a:r>
              <a:rPr lang="en-US" altLang="en-US" dirty="0">
                <a:solidFill>
                  <a:srgbClr val="FFFF00"/>
                </a:solidFill>
              </a:rPr>
              <a:t> </a:t>
            </a:r>
            <a:r>
              <a:rPr lang="en-US" altLang="en-US" dirty="0">
                <a:solidFill>
                  <a:schemeClr val="bg1"/>
                </a:solidFill>
              </a:rPr>
              <a:t>to identify potential delivery delays and improve logistics planning. </a:t>
            </a:r>
          </a:p>
        </p:txBody>
      </p:sp>
    </p:spTree>
    <p:extLst>
      <p:ext uri="{BB962C8B-B14F-4D97-AF65-F5344CB8AC3E}">
        <p14:creationId xmlns:p14="http://schemas.microsoft.com/office/powerpoint/2010/main" val="570637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50434-E5CB-5634-AB28-EEB54615A40A}"/>
              </a:ext>
            </a:extLst>
          </p:cNvPr>
          <p:cNvSpPr>
            <a:spLocks noGrp="1"/>
          </p:cNvSpPr>
          <p:nvPr>
            <p:ph type="title"/>
          </p:nvPr>
        </p:nvSpPr>
        <p:spPr>
          <a:xfrm>
            <a:off x="1610922" y="1803337"/>
            <a:ext cx="10018709" cy="1468800"/>
          </a:xfrm>
        </p:spPr>
        <p:txBody>
          <a:bodyPr/>
          <a:lstStyle/>
          <a:p>
            <a:pPr algn="ctr"/>
            <a:r>
              <a:rPr lang="en-US" sz="4000" b="1" dirty="0">
                <a:effectLst>
                  <a:outerShdw blurRad="35000" dist="18000" dir="2700000" rotWithShape="0">
                    <a:srgbClr val="1F3864">
                      <a:alpha val="30000"/>
                    </a:srgbClr>
                  </a:outerShdw>
                </a:effectLst>
              </a:rPr>
              <a:t>Thank You</a:t>
            </a:r>
            <a:endParaRPr lang="en-US" b="1" dirty="0"/>
          </a:p>
        </p:txBody>
      </p:sp>
      <p:pic>
        <p:nvPicPr>
          <p:cNvPr id="7170" name="Picture 2" descr="Thank You Presentation Images | Template Presentation | Sample of PPT  Presentation | Presentation Background Images">
            <a:extLst>
              <a:ext uri="{FF2B5EF4-FFF2-40B4-BE49-F238E27FC236}">
                <a16:creationId xmlns:a16="http://schemas.microsoft.com/office/drawing/2014/main" id="{D5843CD1-150C-E46E-2C62-785FF02CB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13B08F37-AFC3-18AC-C50C-05B6FA993638}"/>
              </a:ext>
            </a:extLst>
          </p:cNvPr>
          <p:cNvSpPr>
            <a:spLocks noGrp="1"/>
          </p:cNvSpPr>
          <p:nvPr>
            <p:ph type="body" idx="1"/>
          </p:nvPr>
        </p:nvSpPr>
        <p:spPr>
          <a:xfrm>
            <a:off x="6620276" y="3429000"/>
            <a:ext cx="5510016" cy="1820922"/>
          </a:xfrm>
        </p:spPr>
        <p:txBody>
          <a:bodyPr>
            <a:noAutofit/>
          </a:bodyPr>
          <a:lstStyle/>
          <a:p>
            <a:r>
              <a:rPr lang="en-US" sz="1800" b="1" i="1" dirty="0">
                <a:solidFill>
                  <a:schemeClr val="accent3"/>
                </a:solidFill>
              </a:rPr>
              <a:t>Analyze Food Delivery Demand Across Regions to Inform Market Expansion &amp; Logistics</a:t>
            </a:r>
          </a:p>
          <a:p>
            <a:r>
              <a:rPr lang="en-US" sz="1800" b="1" i="1" dirty="0">
                <a:solidFill>
                  <a:schemeClr val="accent3"/>
                </a:solidFill>
              </a:rPr>
              <a:t>Prepared by </a:t>
            </a:r>
          </a:p>
          <a:p>
            <a:r>
              <a:rPr lang="en-US" sz="1800" b="1" i="1" dirty="0">
                <a:solidFill>
                  <a:schemeClr val="accent3"/>
                </a:solidFill>
              </a:rPr>
              <a:t>Srikanth S</a:t>
            </a:r>
          </a:p>
        </p:txBody>
      </p:sp>
    </p:spTree>
    <p:extLst>
      <p:ext uri="{BB962C8B-B14F-4D97-AF65-F5344CB8AC3E}">
        <p14:creationId xmlns:p14="http://schemas.microsoft.com/office/powerpoint/2010/main" val="3580959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Ion Boardroom</Template>
  <TotalTime>2268</TotalTime>
  <Words>3978</Words>
  <Application>Microsoft Office PowerPoint</Application>
  <PresentationFormat>Widescreen</PresentationFormat>
  <Paragraphs>517</Paragraphs>
  <Slides>29</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Cambria Math</vt:lpstr>
      <vt:lpstr>Corbel</vt:lpstr>
      <vt:lpstr>Segoe UI</vt:lpstr>
      <vt:lpstr>Segoe UI Light</vt:lpstr>
      <vt:lpstr>Parallax</vt:lpstr>
      <vt:lpstr>  Analyze Food Delivery Demand Across Regions to Inform Market Expansion &amp; Logistics (FoodTech)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S</dc:creator>
  <cp:lastModifiedBy>Srikanth S</cp:lastModifiedBy>
  <cp:revision>82</cp:revision>
  <dcterms:created xsi:type="dcterms:W3CDTF">2026-07-27T08:47:13Z</dcterms:created>
  <dcterms:modified xsi:type="dcterms:W3CDTF">2026-08-02T03:59:30Z</dcterms:modified>
</cp:coreProperties>
</file>